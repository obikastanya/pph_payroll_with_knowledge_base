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paper sekarang versi ringkas: 8 halaman format IEEE, hanya berisi argumen penelitian. Catatan status, keputusan terbuka, dan rincian implementasi dipindah ke berkas penjelasan terpisah. Bagian I sampai VI ditulis lengkap; beberapa parameter, seperti ambang hipotesis dan jumlah kandidat, masih diputuskan sebelum pra-registrasi. Rujukan memakai kriteria lama (terbit 2021 ke atas, ber-peer review, DOI Crossref) dengan tiga pengecualian. Abstrak dan bagian hasil masih menunggu eksperimen;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jujur tentang posisi sekarang: graf, gerbang, korpus, emas, generator ruang uji, dan regulation replay belum dibangun. Yang sudah ada adalah prototipe engine dan KB YAML yang menjadi titik awal migrasi.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Empat pertanyaan di kanan perlu jawaban dosen.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532120"/>
            <a:ext cx="8229600" cy="320040"/>
          </a:xfrm>
          <a:prstGeom prst="rect">
            <a:avLst/>
          </a:prstGeom>
          <a:noFill/>
        </p:spPr>
        <p:txBody>
          <a:bodyPr wrap="square" lIns="0" rIns="0" tIns="0" bIns="0" anchor="t">
            <a:noAutofit/>
          </a:bodyPr>
          <a:lstStyle/>
          <a:p>
            <a:pPr algn="l">
              <a:lnSpc>
                <a:spcPct val="100000"/>
              </a:lnSpc>
              <a:spcAft>
                <a:spcPts val="0"/>
              </a:spcAft>
            </a:pPr>
            <a:r>
              <a:rPr sz="1400" b="1" i="0">
                <a:solidFill>
                  <a:srgbClr val="FFFFFF"/>
                </a:solidFill>
                <a:latin typeface="Calibri"/>
              </a:rPr>
              <a:t>Obi Kastanya</a:t>
            </a:r>
            <a:r>
              <a:rPr sz="1400" b="0" i="0">
                <a:solidFill>
                  <a:srgbClr val="FFFFFF"/>
                </a:solidFill>
                <a:latin typeface="Calibri"/>
              </a:rPr>
              <a:t> (6025252015)    ·    </a:t>
            </a:r>
            <a:r>
              <a:rPr sz="1400" b="1" i="0">
                <a:solidFill>
                  <a:srgbClr val="FFFFFF"/>
                </a:solidFill>
                <a:latin typeface="Calibri"/>
              </a:rPr>
              <a:t>Mahathir Muhammad</a:t>
            </a:r>
            <a:r>
              <a:rPr sz="1400" b="0" i="0">
                <a:solidFill>
                  <a:srgbClr val="FFFFFF"/>
                </a:solidFill>
                <a:latin typeface="Calibri"/>
              </a:rPr>
              <a:t> (6025252008)</a:t>
            </a:r>
          </a:p>
        </p:txBody>
      </p:sp>
      <p:sp>
        <p:nvSpPr>
          <p:cNvPr id="6" name="TextBox 5"/>
          <p:cNvSpPr txBox="1"/>
          <p:nvPr/>
        </p:nvSpPr>
        <p:spPr>
          <a:xfrm>
            <a:off x="731520" y="594360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Teknik Informatika  ·  Institut Teknologi Sepuluh Nopember    ·    27 Oktober 2026</a:t>
            </a:r>
          </a:p>
        </p:txBody>
      </p:sp>
      <p:sp>
        <p:nvSpPr>
          <p:cNvPr id="7" name="Rounded Rectangle 6"/>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8" name="Connector 7"/>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10" name="Rounded Rectangle 9"/>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1" name="TextBox 10"/>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2" name="Connector 11"/>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dan formalisasi IRC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benar-benar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Non-vakuitas: pembaruan harus berefek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8 halaman, fokus ke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 dan pembahasan</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Kesimpulan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3" name="TextBox 22"/>
          <p:cNvSpPr txBox="1"/>
          <p:nvPr/>
        </p:nvSpPr>
        <p:spPr>
          <a:xfrm>
            <a:off x="548640" y="557784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 sudah memuat ancaman terhadap validitas.</a:t>
            </a:r>
          </a:p>
        </p:txBody>
      </p:sp>
      <p:sp>
        <p:nvSpPr>
          <p:cNvPr id="24" name="Rounded Rectangle 23"/>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26" name="TextBox 25"/>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7" name="Rounded Rectangle 26"/>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29" name="TextBox 28"/>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0" name="Rounded Rectangle 29"/>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37</a:t>
            </a:r>
          </a:p>
        </p:txBody>
      </p:sp>
      <p:sp>
        <p:nvSpPr>
          <p:cNvPr id="32" name="TextBox 31"/>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rujukan terfilter, dengan 3 pengecualian</a:t>
            </a:r>
          </a:p>
        </p:txBody>
      </p:sp>
      <p:sp>
        <p:nvSpPr>
          <p:cNvPr id="33" name="Rounded Rectangle 32"/>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35" name="TextBox 34"/>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tabel dan 2 gambar arsitektur</a:t>
            </a:r>
          </a:p>
        </p:txBody>
      </p:sp>
      <p:sp>
        <p:nvSpPr>
          <p:cNvPr id="36" name="Rounded Rectangle 35"/>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38" name="TextBox 37"/>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paper/draft/naskah_draf_v6/</a:t>
            </a:r>
          </a:p>
          <a:p>
            <a:pPr algn="l">
              <a:lnSpc>
                <a:spcPct val="100000"/>
              </a:lnSpc>
              <a:spcAft>
                <a:spcPts val="400"/>
              </a:spcAft>
            </a:pPr>
            <a:r>
              <a:rPr sz="1250" b="0" i="0">
                <a:solidFill>
                  <a:srgbClr val="FFFFFF"/>
                </a:solidFill>
                <a:latin typeface="Calibri"/>
              </a:rPr>
              <a:t>Teks abu-abu di PDF: menunggu hasil eksperimen</a:t>
            </a:r>
          </a:p>
          <a:p>
            <a:pPr algn="l">
              <a:lnSpc>
                <a:spcPct val="100000"/>
              </a:lnSpc>
              <a:spcAft>
                <a:spcPts val="0"/>
              </a:spcAft>
            </a:pPr>
            <a:r>
              <a:rPr sz="1250" b="0" i="0">
                <a:solidFill>
                  <a:srgbClr val="FFFFFF"/>
                </a:solidFill>
                <a:latin typeface="Calibri"/>
              </a:rPr>
              <a:t>Status dan keputusan terbuka: PENJELASAN_DRAFT_PAPER_DAN_PPT.md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(85 wajib, 5 tafsir) dan 32 aturan Perusahaan X</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45 contoh resmi dengan 1.213 nilai harapan: 0 selisih tak terjelaskan</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52 mutan pada KB untuk mengukur ketajaman uji</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Knowledge graph</a:t>
            </a:r>
            <a:r>
              <a:rPr sz="1300" b="0" i="0">
                <a:solidFill>
                  <a:srgbClr val="1F2937"/>
                </a:solidFill>
                <a:latin typeface="Calibri"/>
              </a:rPr>
              <a:t> (RDF/OWL), </a:t>
            </a:r>
            <a:r>
              <a:rPr sz="1300" b="0" i="1">
                <a:solidFill>
                  <a:srgbClr val="1F2937"/>
                </a:solidFill>
                <a:latin typeface="Calibri"/>
              </a:rPr>
              <a:t>shape</a:t>
            </a:r>
            <a:r>
              <a:rPr sz="1300" b="0" i="0">
                <a:solidFill>
                  <a:srgbClr val="1F2937"/>
                </a:solidFill>
                <a:latin typeface="Calibri"/>
              </a:rPr>
              <a:t> SHACL, dan </a:t>
            </a:r>
            <a:r>
              <a:rPr sz="1300" b="0" i="1">
                <a:solidFill>
                  <a:srgbClr val="1F2937"/>
                </a:solidFill>
                <a:latin typeface="Calibri"/>
              </a:rPr>
              <a:t>query</a:t>
            </a:r>
            <a:r>
              <a:rPr sz="1300" b="0" i="0">
                <a:solidFill>
                  <a:srgbClr val="1F2937"/>
                </a:solidFill>
                <a:latin typeface="Calibri"/>
              </a:rPr>
              <a:t> SPARQL</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Gerbang G1–G5, konsensus perilaku, dan </a:t>
            </a:r>
            <a:r>
              <a:rPr sz="1300" b="0" i="1">
                <a:solidFill>
                  <a:srgbClr val="1F2937"/>
                </a:solidFill>
                <a:latin typeface="Calibri"/>
              </a:rPr>
              <a:t>abstain</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peristiwa nyata, pengecoh, kontrafaktual, dan perubahan tak terlihat</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per peristiwa, generator ruang uji, dan eksperimen E0–E5</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Aplikasi web Laravel dan demo Streamlit tetap ada, tetapi tidak lagi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Gogani-Khiabani dkk.,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94560"/>
            <a:ext cx="4526280" cy="3566160"/>
          </a:xfrm>
          <a:prstGeom prst="rect">
            <a:avLst/>
          </a:prstGeom>
          <a:noFill/>
        </p:spPr>
        <p:txBody>
          <a:bodyPr wrap="square" lIns="0" rIns="0" tIns="0" bIns="0" anchor="t">
            <a:noAutofit/>
          </a:bodyPr>
          <a:lstStyle/>
          <a:p>
            <a:pPr algn="l">
              <a:lnSpc>
                <a:spcPct val="100000"/>
              </a:lnSpc>
              <a:spcAft>
                <a:spcPts val="2600"/>
              </a:spcAft>
            </a:pPr>
            <a:r>
              <a:rPr sz="1600" b="0" i="0">
                <a:solidFill>
                  <a:srgbClr val="FFFFFF"/>
                </a:solidFill>
                <a:latin typeface="Calibri"/>
              </a:rPr>
              <a:t>1.  Target publikasi: tugas mata kuliah, jurnal nasional, atau IEEE Access (naskah harus berbahasa Inggris)?</a:t>
            </a:r>
          </a:p>
          <a:p>
            <a:pPr algn="l">
              <a:lnSpc>
                <a:spcPct val="100000"/>
              </a:lnSpc>
              <a:spcAft>
                <a:spcPts val="2600"/>
              </a:spcAft>
            </a:pPr>
            <a:r>
              <a:rPr sz="1600" b="0" i="0">
                <a:solidFill>
                  <a:srgbClr val="FFFFFF"/>
                </a:solidFill>
                <a:latin typeface="Calibri"/>
              </a:rPr>
              <a:t>2.  Setujukah kriteria rujukan (2021+, ber-</a:t>
            </a:r>
            <a:r>
              <a:rPr sz="1600" b="0" i="1">
                <a:solidFill>
                  <a:srgbClr val="FFFFFF"/>
                </a:solidFill>
                <a:latin typeface="Calibri"/>
              </a:rPr>
              <a:t>peer review</a:t>
            </a:r>
            <a:r>
              <a:rPr sz="1600" b="0" i="0">
                <a:solidFill>
                  <a:srgbClr val="FFFFFF"/>
                </a:solidFill>
                <a:latin typeface="Calibri"/>
              </a:rPr>
              <a:t>, DOI Crossref) dengan 3 pengecualian?</a:t>
            </a:r>
          </a:p>
          <a:p>
            <a:pPr algn="l">
              <a:lnSpc>
                <a:spcPct val="100000"/>
              </a:lnSpc>
              <a:spcAft>
                <a:spcPts val="2600"/>
              </a:spcAft>
            </a:pPr>
            <a:r>
              <a:rPr sz="1600" b="0" i="0">
                <a:solidFill>
                  <a:srgbClr val="FFFFFF"/>
                </a:solidFill>
                <a:latin typeface="Calibri"/>
              </a:rPr>
              <a:t>3.  Perlukah pembanding B2, yaitu LLM menghitung PPh 21 langsung dari dokumen?</a:t>
            </a:r>
          </a:p>
          <a:p>
            <a:pPr algn="l">
              <a:lnSpc>
                <a:spcPct val="100000"/>
              </a:lnSpc>
              <a:spcAft>
                <a:spcPts val="2600"/>
              </a:spcAft>
            </a:pPr>
            <a:r>
              <a:rPr sz="1600" b="0" i="0">
                <a:solidFill>
                  <a:srgbClr val="FFFFFF"/>
                </a:solidFill>
                <a:latin typeface="Calibri"/>
              </a:rPr>
              <a:t>4.  Adakah akses ke praktisi pajak atau </a:t>
            </a:r>
            <a:r>
              <a:rPr sz="1600" b="0" i="1">
                <a:solidFill>
                  <a:srgbClr val="FFFFFF"/>
                </a:solidFill>
                <a:latin typeface="Calibri"/>
              </a:rPr>
              <a:t>tax center</a:t>
            </a:r>
            <a:r>
              <a:rPr sz="1600" b="0" i="0">
                <a:solidFill>
                  <a:srgbClr val="FFFFFF"/>
                </a:solidFill>
                <a:latin typeface="Calibri"/>
              </a:rPr>
              <a:t> untuk memeriksa emas peristiwa 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