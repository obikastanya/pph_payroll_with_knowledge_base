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Pembuka. Minggu lalu dosen memberi lima feedback. Presentasi ini menjelaskan perubahan konsep untuk setiap feedback, lalu progres draf paper. Semua perubahan konsep masih rancangan; belum ada eksperimen baru.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Ringkasan seluruh presentasi. Kolom kiri adalah kutipan feedback 27 Oktober, kolom kanan perubahan yang diambil. Rincian setiap baris ada di slide 4 sampai 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Judul lama menonjolkan bentuk KB dan perangkat pendukung. Menurut feedback 2, KB saja tidak cukup. Judul baru menonjolkan kemampuan sistem mengikuti perubahan regulasi. Unsur judul lama tidak hilang, hanya pindah ke bagian yang sesuai.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YAML tidak lagi dipakai sebagai representasi. Pengetahuan struktural masuk graf, sedangkan aritmetika tetap di engine, karena OWL/SWRL tidak punya aritmetika eksak berpembulatan dan iterasi fixed point. Contoh kanan: konflik klasifikasi lembur Perusahaan X menjadi relasi eksplisit di graf, sehingga dapat ditemukan dengan satu query.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Usulan adaptive tax calculation dari dosen diadopsi. Namun pola LLM menyusun aturan lalu engine menghitung sudah dikerjakan untuk pajak negara lain, jadi novelty diletakkan pada pembaruan inkremental mengikuti amandemen nyata, dampak lintas lapis, dan pengujian pada perubahan struktural PER-16 ke TER. Karya terdekat adalah Gogani-Khiabani dkk. (2025), yang mengusulkan LLM memperbarui kode perangkat lunak pajak dari publikasi IRS, tetapi baru berupa kajian tantangan teknis tanpa evaluasi berantai. Karena itu novelty dirumuskan sebagai pembaruan KB yang dapat dieksekusi, dijaga gerbang, dan diuji berantai pada amandemen nyata. Semua karya pembanding baru dibaca dari abstrak; metadatanya sudah diverifikasi.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Alur atas: dokumen baru dinilai relevansinya, LLM menyusun m kandidat pembaruan, lima gerbang menyaring, sistem memilih lewat konsensus perilaku atau abstain, lalu peninjau memeriksa dengan laporan dampak. LLM tidak pernah menghitung pajak. G5 penting: tanpa G5, pembaruan kosong lolos semua gerbang karena tidak menimbulkan regresi. Dari mini demo: G2 kini juga memeriksa bahwa setiap tanggal ada di kutipan, dan G5 menerima konflik yang dilaporkan sebagai efek.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Tarif Pasal 17 sesudah UU HPP punya lima lapisan, termasuk 30% untuk PKP Rp500 juta sampai Rp5 miliar, dan semuanya diuji. Setiap batas lapisan diuji di tiga titik. Kombinasi 2-arah memastikan setiap pasangan nilai dua dimensi muncul minimal sekali. Sampel acak 2.995 kasus tanpa kegagalan memberi batas atas laju kesalahan 0,1% pada keyakinan 95%. Generator ruang uji belum dibangun.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 dan CAR selalu dilaporkan bersama: sistem yang selalu menolak bekerja punya SER nol tetapi tidak berguna. Recall diutamakan di RQ4 karena kebijakan terdampak yang terlewat lebih berbahaya daripada peringatan palsu. Jumlah peristiwa nyata kecil, jadi hasil dilaporkan sebagai estimasi dengan selang kepercayaan eksak, dan ambang dikunci lewat pra-registrasi.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 dimulai dari KB yang hanya mengenal hukum awal 2023. Setiap regulasi berikutnya diberikan dalam bentuk dokumen aslinya, berurutan. Sesudah setiap regulasi diperiksa empat syarat A1 sampai A4. A1 dan A3 omega berlaku karena arsitektur, jadi diperiksa sebagai invarian. Daftar peristiwa masih kandidat dan diverifikasi saat korpus disusun.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Ringkasan perubahan konsep. Kolom kiri adalah rencana lama (research_plan dan slide progres sebelumnya), kolom kanan konsep sesudah revisi yang sekarang ditulis di skeleton dan draf paper.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Draf paper sekarang versi ringkas: 8 halaman format IEEE, hanya berisi argumen penelitian. Catatan status, keputusan terbuka, dan rincian implementasi dipindah ke berkas penjelasan terpisah. Bagian I sampai VI ditulis lengkap; beberapa parameter, seperti ambang hipotesis dan jumlah kandidat, masih diputuskan sebelum pra-registrasi. Rujukan memakai kriteria lama (terbit 2021 ke atas, ber-peer review, DOI Crossref) dengan tiga pengecualian. Abstrak dan bagian hasil masih menunggu eksperimen; tidak ada angka hasil yang dikarang.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Posisi sekarang: selain prototipe engine dan KB YAML, sudah ada mini demo yang menjalankan seluruh alur sekali, dari KB awal sampai E4, dengan knowledge graph RDF, SHACL, SPARQL, gerbang G1-G5, dan konsensus. LLM-nya masih tiruan dengan jawaban yang disiapkan, dan kasus ujinya hanya 75, jadi angkanya bukan hasil penelitian. Yang belum: LLM sungguhan, korpus dan pembaruan emas lengkap, ruang uji penuh, dan eksperimen pada data sebenarnya.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 demo (folder mini_demo, dibuat Obi) menjalankan seluruh alur sekali: KB awal 9 aturan, 3 peristiwa nyata, 1 pengecoh, 1 kontrafaktual, 1 perubahan tak terlihat, dengan LLM tiruan berjawaban siap. Nilainya bukan angka, tetapi kelemahan rancangan yang ketahuan. Lima temuan di kiri, perubahannya di kanan; empat yang pertama sudah masuk draf paper v8. Bisa didemokan: streamlit run mini_demo/app/main.py.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Urutan mengikuti PANDUAN_PENELITIAN. Titik periksa dosen disarankan sesudah Tahap 4, sebelum membangun graf dan alur LLM, karena mengubah definisi sesudah itu jauh lebih mahal. Lima pertanyaan di kanan perlu jawaban dosen; yang kelima berasal dari temuan mini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itle 1"/>
          <p:cNvSpPr>
            <a:spLocks noGrp="1"/>
          </p:cNvSpPr>
          <p:nvPr>
            <p:ph type="title"/>
          </p:nvPr>
        </p:nvSpPr>
        <p:spPr>
          <a:xfrm>
            <a:off x="731520" y="1188720"/>
            <a:ext cx="8138160" cy="2743200"/>
          </a:xfrm>
        </p:spPr>
        <p:txBody>
          <a:bodyPr wrap="square" lIns="0" rIns="0" tIns="0" bIns="0" anchor="t">
            <a:noAutofit/>
          </a:bodyPr>
          <a:lstStyle/>
          <a:p>
            <a:pPr algn="l"/>
            <a:r>
              <a:rPr sz="3200" b="1" i="1">
                <a:solidFill>
                  <a:srgbClr val="FFFFFF"/>
                </a:solidFill>
                <a:latin typeface="Cambria"/>
              </a:rPr>
              <a:t>Knowledge-Based System</a:t>
            </a:r>
            <a:r>
              <a:rPr sz="3200" b="1" i="0">
                <a:solidFill>
                  <a:srgbClr val="FFFFFF"/>
                </a:solidFill>
                <a:latin typeface="Cambria"/>
              </a:rPr>
              <a:t> Adaptif untuk Perhitungan PPh 21 dengan Akuisisi Pengetahuan Berbantuan LLM dari Regulasi dan Kebijakan Perusahaan</a:t>
            </a:r>
          </a:p>
        </p:txBody>
      </p:sp>
      <p:sp>
        <p:nvSpPr>
          <p:cNvPr id="3" name="Kicker"/>
          <p:cNvSpPr txBox="1"/>
          <p:nvPr/>
        </p:nvSpPr>
        <p:spPr>
          <a:xfrm>
            <a:off x="731520" y="777240"/>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F2A15A"/>
                </a:solidFill>
                <a:latin typeface="Calibri"/>
              </a:rPr>
              <a:t>PROGRES MINGGUAN  ·  REVISI KONSEP DAN DRAF PAPER</a:t>
            </a:r>
          </a:p>
        </p:txBody>
      </p:sp>
      <p:sp>
        <p:nvSpPr>
          <p:cNvPr id="4" name="TextBox 3"/>
          <p:cNvSpPr txBox="1"/>
          <p:nvPr/>
        </p:nvSpPr>
        <p:spPr>
          <a:xfrm>
            <a:off x="731520" y="3840480"/>
            <a:ext cx="7863840" cy="822960"/>
          </a:xfrm>
          <a:prstGeom prst="rect">
            <a:avLst/>
          </a:prstGeom>
          <a:noFill/>
        </p:spPr>
        <p:txBody>
          <a:bodyPr wrap="square" lIns="0" rIns="0" tIns="0" bIns="0" anchor="t">
            <a:noAutofit/>
          </a:bodyPr>
          <a:lstStyle/>
          <a:p>
            <a:pPr algn="l">
              <a:lnSpc>
                <a:spcPct val="100000"/>
              </a:lnSpc>
              <a:spcAft>
                <a:spcPts val="0"/>
              </a:spcAft>
            </a:pPr>
            <a:r>
              <a:rPr sz="1700" b="0" i="0">
                <a:solidFill>
                  <a:srgbClr val="C9D3E6"/>
                </a:solidFill>
                <a:latin typeface="Calibri"/>
              </a:rPr>
              <a:t>Perubahan konsep berdasarkan feedback dosen 27 Oktober 2026, dan progres draf paper (Bagian I–VI)</a:t>
            </a:r>
          </a:p>
        </p:txBody>
      </p:sp>
      <p:sp>
        <p:nvSpPr>
          <p:cNvPr id="5" name="TextBox 4"/>
          <p:cNvSpPr txBox="1"/>
          <p:nvPr/>
        </p:nvSpPr>
        <p:spPr>
          <a:xfrm>
            <a:off x="731520" y="5532120"/>
            <a:ext cx="8229600" cy="320040"/>
          </a:xfrm>
          <a:prstGeom prst="rect">
            <a:avLst/>
          </a:prstGeom>
          <a:noFill/>
        </p:spPr>
        <p:txBody>
          <a:bodyPr wrap="square" lIns="0" rIns="0" tIns="0" bIns="0" anchor="t">
            <a:noAutofit/>
          </a:bodyPr>
          <a:lstStyle/>
          <a:p>
            <a:pPr algn="l">
              <a:lnSpc>
                <a:spcPct val="100000"/>
              </a:lnSpc>
              <a:spcAft>
                <a:spcPts val="0"/>
              </a:spcAft>
            </a:pPr>
            <a:r>
              <a:rPr sz="1400" b="1" i="0">
                <a:solidFill>
                  <a:srgbClr val="FFFFFF"/>
                </a:solidFill>
                <a:latin typeface="Calibri"/>
              </a:rPr>
              <a:t>Obi Kastanya</a:t>
            </a:r>
            <a:r>
              <a:rPr sz="1400" b="0" i="0">
                <a:solidFill>
                  <a:srgbClr val="FFFFFF"/>
                </a:solidFill>
                <a:latin typeface="Calibri"/>
              </a:rPr>
              <a:t> (6025252015)    ·    </a:t>
            </a:r>
            <a:r>
              <a:rPr sz="1400" b="1" i="0">
                <a:solidFill>
                  <a:srgbClr val="FFFFFF"/>
                </a:solidFill>
                <a:latin typeface="Calibri"/>
              </a:rPr>
              <a:t>Mahathir Muhammad</a:t>
            </a:r>
            <a:r>
              <a:rPr sz="1400" b="0" i="0">
                <a:solidFill>
                  <a:srgbClr val="FFFFFF"/>
                </a:solidFill>
                <a:latin typeface="Calibri"/>
              </a:rPr>
              <a:t> (6025252008)</a:t>
            </a:r>
          </a:p>
        </p:txBody>
      </p:sp>
      <p:sp>
        <p:nvSpPr>
          <p:cNvPr id="6" name="TextBox 5"/>
          <p:cNvSpPr txBox="1"/>
          <p:nvPr/>
        </p:nvSpPr>
        <p:spPr>
          <a:xfrm>
            <a:off x="731520" y="5943600"/>
            <a:ext cx="8229600" cy="320040"/>
          </a:xfrm>
          <a:prstGeom prst="rect">
            <a:avLst/>
          </a:prstGeom>
          <a:noFill/>
        </p:spPr>
        <p:txBody>
          <a:bodyPr wrap="square" lIns="0" rIns="0" tIns="0" bIns="0" anchor="t">
            <a:noAutofit/>
          </a:bodyPr>
          <a:lstStyle/>
          <a:p>
            <a:pPr algn="l">
              <a:lnSpc>
                <a:spcPct val="100000"/>
              </a:lnSpc>
              <a:spcAft>
                <a:spcPts val="0"/>
              </a:spcAft>
            </a:pPr>
            <a:r>
              <a:rPr sz="1200" b="0" i="0">
                <a:solidFill>
                  <a:srgbClr val="C9D3E6"/>
                </a:solidFill>
                <a:latin typeface="Calibri"/>
              </a:rPr>
              <a:t>Teknik Informatika  ·  Institut Teknologi Sepuluh Nopember    ·    27 Oktober 2026</a:t>
            </a:r>
          </a:p>
        </p:txBody>
      </p:sp>
      <p:sp>
        <p:nvSpPr>
          <p:cNvPr id="7" name="Rounded Rectangle 6"/>
          <p:cNvSpPr/>
          <p:nvPr/>
        </p:nvSpPr>
        <p:spPr>
          <a:xfrm>
            <a:off x="9189720" y="1097280"/>
            <a:ext cx="2423160" cy="502920"/>
          </a:xfrm>
          <a:prstGeom prst="roundRect">
            <a:avLst>
              <a:gd name="adj" fmla="val 6000"/>
            </a:avLst>
          </a:prstGeom>
          <a:solidFill>
            <a:srgbClr val="26324F"/>
          </a:solidFill>
          <a:ln w="9525">
            <a:solidFill>
              <a:srgbClr val="3A476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C9D3E6"/>
                </a:solidFill>
                <a:latin typeface="Calibri"/>
              </a:rPr>
              <a:t>Usulan pembaruan Δ (LLM)</a:t>
            </a:r>
          </a:p>
        </p:txBody>
      </p:sp>
      <p:cxnSp>
        <p:nvCxnSpPr>
          <p:cNvPr id="8" name="Connector 7"/>
          <p:cNvCxnSpPr/>
          <p:nvPr/>
        </p:nvCxnSpPr>
        <p:spPr>
          <a:xfrm>
            <a:off x="10401300" y="1618488"/>
            <a:ext cx="0" cy="301752"/>
          </a:xfrm>
          <a:prstGeom prst="line">
            <a:avLst/>
          </a:prstGeom>
          <a:ln w="15875">
            <a:solidFill>
              <a:srgbClr val="C9D3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89720" y="1965960"/>
            <a:ext cx="2423160" cy="502920"/>
          </a:xfrm>
          <a:prstGeom prst="roundRect">
            <a:avLst>
              <a:gd name="adj" fmla="val 6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300" b="1" i="0">
                <a:solidFill>
                  <a:srgbClr val="14213D"/>
                </a:solidFill>
                <a:latin typeface="Calibri"/>
              </a:rPr>
              <a:t>Lapisan perusahaan</a:t>
            </a:r>
          </a:p>
        </p:txBody>
      </p:sp>
      <p:sp>
        <p:nvSpPr>
          <p:cNvPr id="10" name="Rounded Rectangle 9"/>
          <p:cNvSpPr/>
          <p:nvPr/>
        </p:nvSpPr>
        <p:spPr>
          <a:xfrm>
            <a:off x="9189720" y="2560320"/>
            <a:ext cx="2423160" cy="502920"/>
          </a:xfrm>
          <a:prstGeom prst="roundRect">
            <a:avLst>
              <a:gd name="adj" fmla="val 6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300" b="1" i="0">
                <a:solidFill>
                  <a:srgbClr val="FFFFFF"/>
                </a:solidFill>
                <a:latin typeface="Calibri"/>
              </a:rPr>
              <a:t>Lapisan regulasi</a:t>
            </a:r>
          </a:p>
        </p:txBody>
      </p:sp>
      <p:sp>
        <p:nvSpPr>
          <p:cNvPr id="11" name="TextBox 10"/>
          <p:cNvSpPr txBox="1"/>
          <p:nvPr/>
        </p:nvSpPr>
        <p:spPr>
          <a:xfrm>
            <a:off x="9189720" y="3108960"/>
            <a:ext cx="2423160" cy="274320"/>
          </a:xfrm>
          <a:prstGeom prst="rect">
            <a:avLst/>
          </a:prstGeom>
          <a:noFill/>
        </p:spPr>
        <p:txBody>
          <a:bodyPr wrap="square" lIns="0" rIns="0" tIns="0" bIns="0" anchor="t">
            <a:noAutofit/>
          </a:bodyPr>
          <a:lstStyle/>
          <a:p>
            <a:pPr algn="ctr">
              <a:lnSpc>
                <a:spcPct val="100000"/>
              </a:lnSpc>
              <a:spcAft>
                <a:spcPts val="0"/>
              </a:spcAft>
            </a:pPr>
            <a:r>
              <a:rPr sz="1100" b="0" i="1">
                <a:solidFill>
                  <a:srgbClr val="C9D3E6"/>
                </a:solidFill>
                <a:latin typeface="Calibri"/>
              </a:rPr>
              <a:t>knowledge graph</a:t>
            </a:r>
            <a:r>
              <a:rPr sz="1100" b="0" i="0">
                <a:solidFill>
                  <a:srgbClr val="C9D3E6"/>
                </a:solidFill>
                <a:latin typeface="Calibri"/>
              </a:rPr>
              <a:t> temporal</a:t>
            </a:r>
          </a:p>
        </p:txBody>
      </p:sp>
      <p:cxnSp>
        <p:nvCxnSpPr>
          <p:cNvPr id="12" name="Connector 11"/>
          <p:cNvCxnSpPr/>
          <p:nvPr/>
        </p:nvCxnSpPr>
        <p:spPr>
          <a:xfrm>
            <a:off x="10401300" y="3401568"/>
            <a:ext cx="0" cy="301752"/>
          </a:xfrm>
          <a:prstGeom prst="line">
            <a:avLst/>
          </a:prstGeom>
          <a:ln w="15875">
            <a:solidFill>
              <a:srgbClr val="C9D3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89720" y="3749039"/>
            <a:ext cx="2423160" cy="502920"/>
          </a:xfrm>
          <a:prstGeom prst="roundRect">
            <a:avLst>
              <a:gd name="adj" fmla="val 6000"/>
            </a:avLst>
          </a:prstGeom>
          <a:solidFill>
            <a:srgbClr val="26324F"/>
          </a:solidFill>
          <a:ln w="9525">
            <a:solidFill>
              <a:srgbClr val="3A476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1">
                <a:solidFill>
                  <a:srgbClr val="FFFFFF"/>
                </a:solidFill>
                <a:latin typeface="Calibri"/>
              </a:rPr>
              <a:t>Inference engine</a:t>
            </a:r>
            <a:r>
              <a:rPr sz="1200" b="0" i="0">
                <a:solidFill>
                  <a:srgbClr val="FFFFFF"/>
                </a:solidFill>
                <a:latin typeface="Calibri"/>
              </a:rPr>
              <a:t>  →  PPh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Lima feedback dosen, lima perubahan konsep</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RINGKASAN</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2</a:t>
            </a:r>
          </a:p>
        </p:txBody>
      </p:sp>
      <p:sp>
        <p:nvSpPr>
          <p:cNvPr id="5" name="TextBox 4"/>
          <p:cNvSpPr txBox="1"/>
          <p:nvPr/>
        </p:nvSpPr>
        <p:spPr>
          <a:xfrm>
            <a:off x="1325880" y="1481328"/>
            <a:ext cx="429768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FEEDBACK 27 OKTOBER</a:t>
            </a:r>
          </a:p>
        </p:txBody>
      </p:sp>
      <p:sp>
        <p:nvSpPr>
          <p:cNvPr id="6" name="TextBox 5"/>
          <p:cNvSpPr txBox="1"/>
          <p:nvPr/>
        </p:nvSpPr>
        <p:spPr>
          <a:xfrm>
            <a:off x="6172200" y="1481328"/>
            <a:ext cx="5303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PERUBAHAN</a:t>
            </a:r>
          </a:p>
        </p:txBody>
      </p:sp>
      <p:sp>
        <p:nvSpPr>
          <p:cNvPr id="7" name="Rounded Rectangle 6"/>
          <p:cNvSpPr/>
          <p:nvPr/>
        </p:nvSpPr>
        <p:spPr>
          <a:xfrm>
            <a:off x="548640" y="1801368"/>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31520" y="1975104"/>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1</a:t>
            </a:r>
          </a:p>
        </p:txBody>
      </p:sp>
      <p:sp>
        <p:nvSpPr>
          <p:cNvPr id="9" name="TextBox 8"/>
          <p:cNvSpPr txBox="1"/>
          <p:nvPr/>
        </p:nvSpPr>
        <p:spPr>
          <a:xfrm>
            <a:off x="1325880" y="1892807"/>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“Perlu diperjelas representasi final </a:t>
            </a:r>
            <a:r>
              <a:rPr sz="1300" b="0" i="0">
                <a:solidFill>
                  <a:srgbClr val="5B6472"/>
                </a:solidFill>
                <a:latin typeface="Calibri"/>
              </a:rPr>
              <a:t>knowledge base</a:t>
            </a:r>
            <a:r>
              <a:rPr sz="1300" b="0" i="1">
                <a:solidFill>
                  <a:srgbClr val="5B6472"/>
                </a:solidFill>
                <a:latin typeface="Calibri"/>
              </a:rPr>
              <a:t>-nya apa; YAML terlalu sederhana.”</a:t>
            </a:r>
          </a:p>
        </p:txBody>
      </p:sp>
      <p:cxnSp>
        <p:nvCxnSpPr>
          <p:cNvPr id="10" name="Connector 9"/>
          <p:cNvCxnSpPr/>
          <p:nvPr/>
        </p:nvCxnSpPr>
        <p:spPr>
          <a:xfrm>
            <a:off x="5715000" y="2185416"/>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172200" y="1892807"/>
            <a:ext cx="5303520" cy="603504"/>
          </a:xfrm>
          <a:prstGeom prst="rect">
            <a:avLst/>
          </a:prstGeom>
          <a:noFill/>
        </p:spPr>
        <p:txBody>
          <a:bodyPr wrap="square" lIns="0" rIns="0" tIns="0" bIns="0" anchor="ctr">
            <a:noAutofit/>
          </a:bodyPr>
          <a:lstStyle/>
          <a:p>
            <a:pPr algn="l">
              <a:lnSpc>
                <a:spcPct val="100000"/>
              </a:lnSpc>
              <a:spcAft>
                <a:spcPts val="0"/>
              </a:spcAft>
            </a:pPr>
            <a:r>
              <a:rPr sz="1400" b="1" i="1">
                <a:solidFill>
                  <a:srgbClr val="14213D"/>
                </a:solidFill>
                <a:latin typeface="Calibri"/>
              </a:rPr>
              <a:t>Legal knowledge graph</a:t>
            </a:r>
            <a:r>
              <a:rPr sz="1400" b="0" i="0">
                <a:solidFill>
                  <a:srgbClr val="14213D"/>
                </a:solidFill>
                <a:latin typeface="Calibri"/>
              </a:rPr>
              <a:t> </a:t>
            </a:r>
            <a:r>
              <a:rPr sz="1400" b="1" i="0">
                <a:solidFill>
                  <a:srgbClr val="14213D"/>
                </a:solidFill>
                <a:latin typeface="Calibri"/>
              </a:rPr>
              <a:t>(RDF/OWL, SHACL, SPARQL)</a:t>
            </a:r>
            <a:r>
              <a:rPr sz="1400" b="0" i="0">
                <a:solidFill>
                  <a:srgbClr val="14213D"/>
                </a:solidFill>
                <a:latin typeface="Calibri"/>
              </a:rPr>
              <a:t>; </a:t>
            </a:r>
            <a:r>
              <a:rPr sz="1400" b="0" i="1">
                <a:solidFill>
                  <a:srgbClr val="14213D"/>
                </a:solidFill>
                <a:latin typeface="Calibri"/>
              </a:rPr>
              <a:t>engine</a:t>
            </a:r>
            <a:r>
              <a:rPr sz="1400" b="0" i="0">
                <a:solidFill>
                  <a:srgbClr val="14213D"/>
                </a:solidFill>
                <a:latin typeface="Calibri"/>
              </a:rPr>
              <a:t> deterministik tetap menghitung</a:t>
            </a:r>
          </a:p>
        </p:txBody>
      </p:sp>
      <p:sp>
        <p:nvSpPr>
          <p:cNvPr id="12" name="Rounded Rectangle 11"/>
          <p:cNvSpPr/>
          <p:nvPr/>
        </p:nvSpPr>
        <p:spPr>
          <a:xfrm>
            <a:off x="548640" y="2679191"/>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31520" y="2852927"/>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2</a:t>
            </a:r>
          </a:p>
        </p:txBody>
      </p:sp>
      <p:sp>
        <p:nvSpPr>
          <p:cNvPr id="14" name="TextBox 13"/>
          <p:cNvSpPr txBox="1"/>
          <p:nvPr/>
        </p:nvSpPr>
        <p:spPr>
          <a:xfrm>
            <a:off x="1325880" y="2770632"/>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“Kontribusi perlu diperkuat. </a:t>
            </a:r>
            <a:r>
              <a:rPr sz="1300" b="0" i="0">
                <a:solidFill>
                  <a:srgbClr val="5B6472"/>
                </a:solidFill>
                <a:latin typeface="Calibri"/>
              </a:rPr>
              <a:t>Knowledge base</a:t>
            </a:r>
            <a:r>
              <a:rPr sz="1300" b="0" i="1">
                <a:solidFill>
                  <a:srgbClr val="5B6472"/>
                </a:solidFill>
                <a:latin typeface="Calibri"/>
              </a:rPr>
              <a:t> saja tidak cukup. </a:t>
            </a:r>
            <a:r>
              <a:rPr sz="1300" b="0" i="0">
                <a:solidFill>
                  <a:srgbClr val="5B6472"/>
                </a:solidFill>
                <a:latin typeface="Calibri"/>
              </a:rPr>
              <a:t>Adaptive tax calculation</a:t>
            </a:r>
            <a:r>
              <a:rPr sz="1300" b="0" i="1">
                <a:solidFill>
                  <a:srgbClr val="5B6472"/>
                </a:solidFill>
                <a:latin typeface="Calibri"/>
              </a:rPr>
              <a:t>? LLM untuk konversi aturan.”</a:t>
            </a:r>
          </a:p>
        </p:txBody>
      </p:sp>
      <p:cxnSp>
        <p:nvCxnSpPr>
          <p:cNvPr id="15" name="Connector 14"/>
          <p:cNvCxnSpPr/>
          <p:nvPr/>
        </p:nvCxnSpPr>
        <p:spPr>
          <a:xfrm>
            <a:off x="5715000" y="3063239"/>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72200" y="2770632"/>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Judul dan </a:t>
            </a:r>
            <a:r>
              <a:rPr sz="1400" b="1" i="1">
                <a:solidFill>
                  <a:srgbClr val="14213D"/>
                </a:solidFill>
                <a:latin typeface="Calibri"/>
              </a:rPr>
              <a:t>novelty</a:t>
            </a:r>
            <a:r>
              <a:rPr sz="1400" b="1" i="0">
                <a:solidFill>
                  <a:srgbClr val="14213D"/>
                </a:solidFill>
                <a:latin typeface="Calibri"/>
              </a:rPr>
              <a:t> baru:</a:t>
            </a:r>
            <a:r>
              <a:rPr sz="1400" b="0" i="0">
                <a:solidFill>
                  <a:srgbClr val="14213D"/>
                </a:solidFill>
                <a:latin typeface="Calibri"/>
              </a:rPr>
              <a:t> LLM memperbarui KB yang sudah berjalan mengikuti perubahan regulasi nyata</a:t>
            </a:r>
          </a:p>
        </p:txBody>
      </p:sp>
      <p:sp>
        <p:nvSpPr>
          <p:cNvPr id="17" name="Rounded Rectangle 16"/>
          <p:cNvSpPr/>
          <p:nvPr/>
        </p:nvSpPr>
        <p:spPr>
          <a:xfrm>
            <a:off x="548640" y="3557015"/>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31520" y="3730752"/>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3</a:t>
            </a:r>
          </a:p>
        </p:txBody>
      </p:sp>
      <p:sp>
        <p:nvSpPr>
          <p:cNvPr id="19" name="TextBox 18"/>
          <p:cNvSpPr txBox="1"/>
          <p:nvPr/>
        </p:nvSpPr>
        <p:spPr>
          <a:xfrm>
            <a:off x="1325880" y="3648456"/>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a:t>
            </a:r>
            <a:r>
              <a:rPr sz="1300" b="0" i="0">
                <a:solidFill>
                  <a:srgbClr val="5B6472"/>
                </a:solidFill>
                <a:latin typeface="Calibri"/>
              </a:rPr>
              <a:t>Ground truth</a:t>
            </a:r>
            <a:r>
              <a:rPr sz="1300" b="0" i="1">
                <a:solidFill>
                  <a:srgbClr val="5B6472"/>
                </a:solidFill>
                <a:latin typeface="Calibri"/>
              </a:rPr>
              <a:t> harus mencakup semua level pajak; ada berapa skema yang diuji (5%, 15%, 25%, 35%, dst)?”</a:t>
            </a:r>
          </a:p>
        </p:txBody>
      </p:sp>
      <p:cxnSp>
        <p:nvCxnSpPr>
          <p:cNvPr id="20" name="Connector 19"/>
          <p:cNvCxnSpPr/>
          <p:nvPr/>
        </p:nvCxnSpPr>
        <p:spPr>
          <a:xfrm>
            <a:off x="5715000" y="3941063"/>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172200" y="3648456"/>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Ruang uji semua lapisan:</a:t>
            </a:r>
            <a:r>
              <a:rPr sz="1400" b="0" i="0">
                <a:solidFill>
                  <a:srgbClr val="14213D"/>
                </a:solidFill>
                <a:latin typeface="Calibri"/>
              </a:rPr>
              <a:t> 5 lapisan Pasal 17, 125 lapisan TER, uji batas, kombinasi 2-arah, ±3.000 kasus acak</a:t>
            </a:r>
          </a:p>
        </p:txBody>
      </p:sp>
      <p:sp>
        <p:nvSpPr>
          <p:cNvPr id="22" name="Rounded Rectangle 21"/>
          <p:cNvSpPr/>
          <p:nvPr/>
        </p:nvSpPr>
        <p:spPr>
          <a:xfrm>
            <a:off x="548640" y="4434840"/>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31520" y="4608576"/>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4</a:t>
            </a:r>
          </a:p>
        </p:txBody>
      </p:sp>
      <p:sp>
        <p:nvSpPr>
          <p:cNvPr id="24" name="TextBox 23"/>
          <p:cNvSpPr txBox="1"/>
          <p:nvPr/>
        </p:nvSpPr>
        <p:spPr>
          <a:xfrm>
            <a:off x="1325880" y="4526279"/>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“Matriks evaluasi apa yang digunakan?”</a:t>
            </a:r>
          </a:p>
        </p:txBody>
      </p:sp>
      <p:cxnSp>
        <p:nvCxnSpPr>
          <p:cNvPr id="25" name="Connector 24"/>
          <p:cNvCxnSpPr/>
          <p:nvPr/>
        </p:nvCxnSpPr>
        <p:spPr>
          <a:xfrm>
            <a:off x="5715000" y="4818888"/>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172200" y="4526279"/>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Satu metrik utama per RQ:</a:t>
            </a:r>
            <a:r>
              <a:rPr sz="1400" b="0" i="0">
                <a:solidFill>
                  <a:srgbClr val="14213D"/>
                </a:solidFill>
                <a:latin typeface="Calibri"/>
              </a:rPr>
              <a:t> RA, SER dan CAR, OAR dan kesalahan terpicu, </a:t>
            </a:r>
            <a:r>
              <a:rPr sz="1400" b="0" i="1">
                <a:solidFill>
                  <a:srgbClr val="14213D"/>
                </a:solidFill>
                <a:latin typeface="Calibri"/>
              </a:rPr>
              <a:t>recall</a:t>
            </a:r>
            <a:r>
              <a:rPr sz="1400" b="0" i="0">
                <a:solidFill>
                  <a:srgbClr val="14213D"/>
                </a:solidFill>
                <a:latin typeface="Calibri"/>
              </a:rPr>
              <a:t> dan F2</a:t>
            </a:r>
          </a:p>
        </p:txBody>
      </p:sp>
      <p:sp>
        <p:nvSpPr>
          <p:cNvPr id="27" name="Rounded Rectangle 26"/>
          <p:cNvSpPr/>
          <p:nvPr/>
        </p:nvSpPr>
        <p:spPr>
          <a:xfrm>
            <a:off x="548640" y="5312664"/>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31520" y="5486400"/>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5</a:t>
            </a:r>
          </a:p>
        </p:txBody>
      </p:sp>
      <p:sp>
        <p:nvSpPr>
          <p:cNvPr id="29" name="TextBox 28"/>
          <p:cNvSpPr txBox="1"/>
          <p:nvPr/>
        </p:nvSpPr>
        <p:spPr>
          <a:xfrm>
            <a:off x="1325880" y="5404103"/>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“Perlu pembuktian bahwa perubahan regulasi bisa langsung diterapkan ke sistem.”</a:t>
            </a:r>
          </a:p>
        </p:txBody>
      </p:sp>
      <p:cxnSp>
        <p:nvCxnSpPr>
          <p:cNvPr id="30" name="Connector 29"/>
          <p:cNvCxnSpPr/>
          <p:nvPr/>
        </p:nvCxnSpPr>
        <p:spPr>
          <a:xfrm>
            <a:off x="5715000" y="5696712"/>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72200" y="5404103"/>
            <a:ext cx="5303520" cy="603504"/>
          </a:xfrm>
          <a:prstGeom prst="rect">
            <a:avLst/>
          </a:prstGeom>
          <a:noFill/>
        </p:spPr>
        <p:txBody>
          <a:bodyPr wrap="square" lIns="0" rIns="0" tIns="0" bIns="0" anchor="ctr">
            <a:noAutofit/>
          </a:bodyPr>
          <a:lstStyle/>
          <a:p>
            <a:pPr algn="l">
              <a:lnSpc>
                <a:spcPct val="100000"/>
              </a:lnSpc>
              <a:spcAft>
                <a:spcPts val="0"/>
              </a:spcAft>
            </a:pPr>
            <a:r>
              <a:rPr sz="1400" b="1" i="1">
                <a:solidFill>
                  <a:srgbClr val="14213D"/>
                </a:solidFill>
                <a:latin typeface="Calibri"/>
              </a:rPr>
              <a:t>Regulation replay</a:t>
            </a:r>
            <a:r>
              <a:rPr sz="1400" b="0" i="0">
                <a:solidFill>
                  <a:srgbClr val="14213D"/>
                </a:solidFill>
                <a:latin typeface="Calibri"/>
              </a:rPr>
              <a:t> </a:t>
            </a:r>
            <a:r>
              <a:rPr sz="1400" b="1" i="0">
                <a:solidFill>
                  <a:srgbClr val="14213D"/>
                </a:solidFill>
                <a:latin typeface="Calibri"/>
              </a:rPr>
              <a:t>2023–2026</a:t>
            </a:r>
            <a:r>
              <a:rPr sz="1400" b="0" i="0">
                <a:solidFill>
                  <a:srgbClr val="14213D"/>
                </a:solidFill>
                <a:latin typeface="Calibri"/>
              </a:rPr>
              <a:t> dengan empat syarat A1–A4 yang diperiksa otomatis</a:t>
            </a:r>
          </a:p>
        </p:txBody>
      </p:sp>
      <p:sp>
        <p:nvSpPr>
          <p:cNvPr id="32" name="TextBox 31"/>
          <p:cNvSpPr txBox="1"/>
          <p:nvPr/>
        </p:nvSpPr>
        <p:spPr>
          <a:xfrm>
            <a:off x="548640" y="6263640"/>
            <a:ext cx="10332720" cy="27432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Semua perubahan masih rancangan. Buktinya menunggu eksperimen E0–E4.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Fokus judul pindah ke kemampuan beradaptasi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PERGANTIAN JUDUL</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3</a:t>
            </a:r>
          </a:p>
        </p:txBody>
      </p:sp>
      <p:sp>
        <p:nvSpPr>
          <p:cNvPr id="5" name="TextBox 4"/>
          <p:cNvSpPr txBox="1"/>
          <p:nvPr/>
        </p:nvSpPr>
        <p:spPr>
          <a:xfrm>
            <a:off x="548640" y="1481328"/>
            <a:ext cx="2743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JUDUL LAMA</a:t>
            </a:r>
          </a:p>
        </p:txBody>
      </p:sp>
      <p:sp>
        <p:nvSpPr>
          <p:cNvPr id="6" name="TextBox 5"/>
          <p:cNvSpPr txBox="1"/>
          <p:nvPr/>
        </p:nvSpPr>
        <p:spPr>
          <a:xfrm>
            <a:off x="548640" y="1755648"/>
            <a:ext cx="11064240" cy="566928"/>
          </a:xfrm>
          <a:prstGeom prst="rect">
            <a:avLst/>
          </a:prstGeom>
          <a:noFill/>
        </p:spPr>
        <p:txBody>
          <a:bodyPr wrap="square" lIns="0" rIns="0" tIns="0" bIns="0" anchor="t">
            <a:noAutofit/>
          </a:bodyPr>
          <a:lstStyle/>
          <a:p>
            <a:pPr algn="l">
              <a:lnSpc>
                <a:spcPct val="100000"/>
              </a:lnSpc>
              <a:spcAft>
                <a:spcPts val="0"/>
              </a:spcAft>
            </a:pPr>
            <a:r>
              <a:rPr sz="1500" b="0" i="0" strike="sngStrike">
                <a:solidFill>
                  <a:srgbClr val="5B6472"/>
                </a:solidFill>
                <a:latin typeface="Calibri"/>
              </a:rPr>
              <a:t>Knowledge Base Dua Lapis Berversi Waktu untuk Perhitungan PPh Pasal 21: Rancangan Sistem, Aplikasi Web, dan Metodologi Validasi tanpa Domain Expert</a:t>
            </a:r>
          </a:p>
        </p:txBody>
      </p:sp>
      <p:sp>
        <p:nvSpPr>
          <p:cNvPr id="7" name="TextBox 6"/>
          <p:cNvSpPr txBox="1"/>
          <p:nvPr/>
        </p:nvSpPr>
        <p:spPr>
          <a:xfrm>
            <a:off x="548640" y="2395728"/>
            <a:ext cx="2743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JUDUL BARU</a:t>
            </a:r>
          </a:p>
        </p:txBody>
      </p:sp>
      <p:sp>
        <p:nvSpPr>
          <p:cNvPr id="8" name="TextBox 7"/>
          <p:cNvSpPr txBox="1"/>
          <p:nvPr/>
        </p:nvSpPr>
        <p:spPr>
          <a:xfrm>
            <a:off x="548640" y="2670048"/>
            <a:ext cx="11064240" cy="822960"/>
          </a:xfrm>
          <a:prstGeom prst="rect">
            <a:avLst/>
          </a:prstGeom>
          <a:noFill/>
        </p:spPr>
        <p:txBody>
          <a:bodyPr wrap="square" lIns="0" rIns="0" tIns="0" bIns="0" anchor="t">
            <a:noAutofit/>
          </a:bodyPr>
          <a:lstStyle/>
          <a:p>
            <a:pPr algn="l">
              <a:lnSpc>
                <a:spcPct val="100000"/>
              </a:lnSpc>
              <a:spcAft>
                <a:spcPts val="0"/>
              </a:spcAft>
            </a:pPr>
            <a:r>
              <a:rPr sz="2100" b="1" i="1">
                <a:solidFill>
                  <a:srgbClr val="14213D"/>
                </a:solidFill>
                <a:latin typeface="Cambria"/>
              </a:rPr>
              <a:t>Knowledge-Based System</a:t>
            </a:r>
            <a:r>
              <a:rPr sz="2100" b="1" i="0">
                <a:solidFill>
                  <a:srgbClr val="14213D"/>
                </a:solidFill>
                <a:latin typeface="Cambria"/>
              </a:rPr>
              <a:t> Adaptif untuk Perhitungan PPh 21 dengan Akuisisi Pengetahuan Berbantuan LLM dari Regulasi dan Kebijakan Perusahaan</a:t>
            </a:r>
          </a:p>
        </p:txBody>
      </p:sp>
      <p:sp>
        <p:nvSpPr>
          <p:cNvPr id="9" name="Rounded Rectangle 8"/>
          <p:cNvSpPr/>
          <p:nvPr/>
        </p:nvSpPr>
        <p:spPr>
          <a:xfrm>
            <a:off x="548640"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3886200"/>
            <a:ext cx="2249424" cy="548640"/>
          </a:xfrm>
          <a:prstGeom prst="rect">
            <a:avLst/>
          </a:prstGeom>
          <a:noFill/>
        </p:spPr>
        <p:txBody>
          <a:bodyPr wrap="square" lIns="0" rIns="0" tIns="0" bIns="0" anchor="t">
            <a:noAutofit/>
          </a:bodyPr>
          <a:lstStyle/>
          <a:p>
            <a:pPr algn="l">
              <a:lnSpc>
                <a:spcPct val="100000"/>
              </a:lnSpc>
              <a:spcAft>
                <a:spcPts val="0"/>
              </a:spcAft>
            </a:pPr>
            <a:r>
              <a:rPr sz="1600" b="1" i="1">
                <a:solidFill>
                  <a:srgbClr val="14213D"/>
                </a:solidFill>
                <a:latin typeface="Cambria"/>
              </a:rPr>
              <a:t>Knowledge-Based System</a:t>
            </a:r>
          </a:p>
        </p:txBody>
      </p:sp>
      <p:sp>
        <p:nvSpPr>
          <p:cNvPr id="11" name="TextBox 10"/>
          <p:cNvSpPr txBox="1"/>
          <p:nvPr/>
        </p:nvSpPr>
        <p:spPr>
          <a:xfrm>
            <a:off x="731520"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Perangkat lunak KBS: </a:t>
            </a:r>
            <a:r>
              <a:rPr sz="1300" b="0" i="1">
                <a:solidFill>
                  <a:srgbClr val="1F2937"/>
                </a:solidFill>
                <a:latin typeface="Calibri"/>
              </a:rPr>
              <a:t>knowledge base</a:t>
            </a:r>
            <a:r>
              <a:rPr sz="1300" b="0" i="0">
                <a:solidFill>
                  <a:srgbClr val="1F2937"/>
                </a:solidFill>
                <a:latin typeface="Calibri"/>
              </a:rPr>
              <a:t> dan </a:t>
            </a:r>
            <a:r>
              <a:rPr sz="1300" b="0" i="1">
                <a:solidFill>
                  <a:srgbClr val="1F2937"/>
                </a:solidFill>
                <a:latin typeface="Calibri"/>
              </a:rPr>
              <a:t>inference engine</a:t>
            </a:r>
            <a:r>
              <a:rPr sz="1300" b="0" i="0">
                <a:solidFill>
                  <a:srgbClr val="1F2937"/>
                </a:solidFill>
                <a:latin typeface="Calibri"/>
              </a:rPr>
              <a:t>, bukan rumus </a:t>
            </a:r>
            <a:r>
              <a:rPr sz="1300" b="0" i="1">
                <a:solidFill>
                  <a:srgbClr val="1F2937"/>
                </a:solidFill>
                <a:latin typeface="Calibri"/>
              </a:rPr>
              <a:t>spreadsheet</a:t>
            </a:r>
          </a:p>
        </p:txBody>
      </p:sp>
      <p:sp>
        <p:nvSpPr>
          <p:cNvPr id="12" name="Rounded Rectangle 11"/>
          <p:cNvSpPr/>
          <p:nvPr/>
        </p:nvSpPr>
        <p:spPr>
          <a:xfrm>
            <a:off x="731520" y="5376672"/>
            <a:ext cx="1463040" cy="274320"/>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2B4FA8"/>
                </a:solidFill>
                <a:latin typeface="Calibri"/>
              </a:rPr>
              <a:t>Feedback 1</a:t>
            </a:r>
          </a:p>
        </p:txBody>
      </p:sp>
      <p:sp>
        <p:nvSpPr>
          <p:cNvPr id="13" name="Rounded Rectangle 12"/>
          <p:cNvSpPr/>
          <p:nvPr/>
        </p:nvSpPr>
        <p:spPr>
          <a:xfrm>
            <a:off x="3374136"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57016"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Adaptif</a:t>
            </a:r>
          </a:p>
        </p:txBody>
      </p:sp>
      <p:sp>
        <p:nvSpPr>
          <p:cNvPr id="15" name="TextBox 14"/>
          <p:cNvSpPr txBox="1"/>
          <p:nvPr/>
        </p:nvSpPr>
        <p:spPr>
          <a:xfrm>
            <a:off x="3557016"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Perubahan regulasi diterapkan lewat pembaruan KB, tanpa mengubah kode </a:t>
            </a:r>
            <a:r>
              <a:rPr sz="1300" b="0" i="1">
                <a:solidFill>
                  <a:srgbClr val="1F2937"/>
                </a:solidFill>
                <a:latin typeface="Calibri"/>
              </a:rPr>
              <a:t>engine</a:t>
            </a:r>
          </a:p>
        </p:txBody>
      </p:sp>
      <p:sp>
        <p:nvSpPr>
          <p:cNvPr id="16" name="Rounded Rectangle 15"/>
          <p:cNvSpPr/>
          <p:nvPr/>
        </p:nvSpPr>
        <p:spPr>
          <a:xfrm>
            <a:off x="3557016" y="5376672"/>
            <a:ext cx="1463040" cy="274320"/>
          </a:xfrm>
          <a:prstGeom prst="roundRect">
            <a:avLst>
              <a:gd name="adj" fmla="val 50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B45309"/>
                </a:solidFill>
                <a:latin typeface="Calibri"/>
              </a:rPr>
              <a:t>Feedback 2 dan 5</a:t>
            </a:r>
          </a:p>
        </p:txBody>
      </p:sp>
      <p:sp>
        <p:nvSpPr>
          <p:cNvPr id="17" name="Rounded Rectangle 16"/>
          <p:cNvSpPr/>
          <p:nvPr/>
        </p:nvSpPr>
        <p:spPr>
          <a:xfrm>
            <a:off x="6199631"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82512"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Akuisisi berbantuan LLM</a:t>
            </a:r>
          </a:p>
        </p:txBody>
      </p:sp>
      <p:sp>
        <p:nvSpPr>
          <p:cNvPr id="19" name="TextBox 18"/>
          <p:cNvSpPr txBox="1"/>
          <p:nvPr/>
        </p:nvSpPr>
        <p:spPr>
          <a:xfrm>
            <a:off x="6382512"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LLM mengubah teks peraturan menjadi rancangan aturan; </a:t>
            </a:r>
            <a:r>
              <a:rPr sz="1300" b="0" i="1">
                <a:solidFill>
                  <a:srgbClr val="1F2937"/>
                </a:solidFill>
                <a:latin typeface="Calibri"/>
              </a:rPr>
              <a:t>engine</a:t>
            </a:r>
            <a:r>
              <a:rPr sz="1300" b="0" i="0">
                <a:solidFill>
                  <a:srgbClr val="1F2937"/>
                </a:solidFill>
                <a:latin typeface="Calibri"/>
              </a:rPr>
              <a:t> deterministik yang menghitung</a:t>
            </a:r>
          </a:p>
        </p:txBody>
      </p:sp>
      <p:sp>
        <p:nvSpPr>
          <p:cNvPr id="20" name="Rounded Rectangle 19"/>
          <p:cNvSpPr/>
          <p:nvPr/>
        </p:nvSpPr>
        <p:spPr>
          <a:xfrm>
            <a:off x="6382512" y="5376672"/>
            <a:ext cx="1463040" cy="274320"/>
          </a:xfrm>
          <a:prstGeom prst="roundRect">
            <a:avLst>
              <a:gd name="adj" fmla="val 50000"/>
            </a:avLst>
          </a:prstGeom>
          <a:solidFill>
            <a:srgbClr val="EEE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5B3F99"/>
                </a:solidFill>
                <a:latin typeface="Calibri"/>
              </a:rPr>
              <a:t>Feedback 2</a:t>
            </a:r>
          </a:p>
        </p:txBody>
      </p:sp>
      <p:sp>
        <p:nvSpPr>
          <p:cNvPr id="21" name="Rounded Rectangle 20"/>
          <p:cNvSpPr/>
          <p:nvPr/>
        </p:nvSpPr>
        <p:spPr>
          <a:xfrm>
            <a:off x="9025128"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208007"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Regulasi dan kebijakan perusahaan</a:t>
            </a:r>
          </a:p>
        </p:txBody>
      </p:sp>
      <p:sp>
        <p:nvSpPr>
          <p:cNvPr id="23" name="TextBox 22"/>
          <p:cNvSpPr txBox="1"/>
          <p:nvPr/>
        </p:nvSpPr>
        <p:spPr>
          <a:xfrm>
            <a:off x="9208007"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Dua lapis pengetahuan, beserta deteksi konflik antarlapis</a:t>
            </a:r>
          </a:p>
        </p:txBody>
      </p:sp>
      <p:sp>
        <p:nvSpPr>
          <p:cNvPr id="24" name="Rounded Rectangle 23"/>
          <p:cNvSpPr/>
          <p:nvPr/>
        </p:nvSpPr>
        <p:spPr>
          <a:xfrm>
            <a:off x="9208007" y="5376672"/>
            <a:ext cx="1463040" cy="274320"/>
          </a:xfrm>
          <a:prstGeom prst="roundRect">
            <a:avLst>
              <a:gd name="adj" fmla="val 50000"/>
            </a:avLst>
          </a:prstGeom>
          <a:solidFill>
            <a:srgbClr val="E2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1D6B63"/>
                </a:solidFill>
                <a:latin typeface="Calibri"/>
              </a:rPr>
              <a:t>Feedback 2</a:t>
            </a:r>
          </a:p>
        </p:txBody>
      </p:sp>
      <p:sp>
        <p:nvSpPr>
          <p:cNvPr id="25" name="TextBox 24"/>
          <p:cNvSpPr txBox="1"/>
          <p:nvPr/>
        </p:nvSpPr>
        <p:spPr>
          <a:xfrm>
            <a:off x="548640" y="5989320"/>
            <a:ext cx="11064240" cy="457200"/>
          </a:xfrm>
          <a:prstGeom prst="rect">
            <a:avLst/>
          </a:prstGeom>
          <a:noFill/>
        </p:spPr>
        <p:txBody>
          <a:bodyPr wrap="square" lIns="0" rIns="0" tIns="0" bIns="0" anchor="t">
            <a:noAutofit/>
          </a:bodyPr>
          <a:lstStyle/>
          <a:p>
            <a:pPr algn="l">
              <a:lnSpc>
                <a:spcPct val="100000"/>
              </a:lnSpc>
              <a:spcAft>
                <a:spcPts val="0"/>
              </a:spcAft>
            </a:pPr>
            <a:r>
              <a:rPr sz="1200" b="0" i="0">
                <a:solidFill>
                  <a:srgbClr val="5B6472"/>
                </a:solidFill>
                <a:latin typeface="Calibri"/>
              </a:rPr>
              <a:t>Dipindahkan dari judul: dua lapis dan versi waktu ke bagian representasi; aplikasi web ke implementasi (bukan kontribusi); validasi tanpa </a:t>
            </a:r>
            <a:r>
              <a:rPr sz="1200" b="0" i="1">
                <a:solidFill>
                  <a:srgbClr val="5B6472"/>
                </a:solidFill>
                <a:latin typeface="Calibri"/>
              </a:rPr>
              <a:t>domain expert</a:t>
            </a:r>
            <a:r>
              <a:rPr sz="1200" b="0" i="0">
                <a:solidFill>
                  <a:srgbClr val="5B6472"/>
                </a:solidFill>
                <a:latin typeface="Calibri"/>
              </a:rPr>
              <a:t> ke bagian evaluasi.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Representasi final: </a:t>
            </a:r>
            <a:r>
              <a:rPr sz="2800" b="1" i="1">
                <a:solidFill>
                  <a:srgbClr val="14213D"/>
                </a:solidFill>
                <a:latin typeface="Cambria"/>
              </a:rPr>
              <a:t>legal knowledge graph</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1  ·  REPRESENTASI FINAL</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4</a:t>
            </a:r>
          </a:p>
        </p:txBody>
      </p:sp>
      <p:sp>
        <p:nvSpPr>
          <p:cNvPr id="5" name="Rounded Rectangle 4"/>
          <p:cNvSpPr/>
          <p:nvPr/>
        </p:nvSpPr>
        <p:spPr>
          <a:xfrm>
            <a:off x="548640" y="1554480"/>
            <a:ext cx="5257800" cy="15544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691640"/>
            <a:ext cx="3017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2B4FA8"/>
                </a:solidFill>
                <a:latin typeface="Calibri"/>
              </a:rPr>
              <a:t>PENGETAHUAN STRUKTURAL</a:t>
            </a:r>
          </a:p>
        </p:txBody>
      </p:sp>
      <p:sp>
        <p:nvSpPr>
          <p:cNvPr id="7" name="Rounded Rectangle 6"/>
          <p:cNvSpPr/>
          <p:nvPr/>
        </p:nvSpPr>
        <p:spPr>
          <a:xfrm>
            <a:off x="3657600" y="1673352"/>
            <a:ext cx="1965960" cy="310896"/>
          </a:xfrm>
          <a:prstGeom prst="roundRect">
            <a:avLst>
              <a:gd name="adj" fmla="val 50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200" b="1" i="1">
                <a:solidFill>
                  <a:srgbClr val="FFFFFF"/>
                </a:solidFill>
                <a:latin typeface="Calibri"/>
              </a:rPr>
              <a:t>Knowledge graph</a:t>
            </a:r>
          </a:p>
        </p:txBody>
      </p:sp>
      <p:sp>
        <p:nvSpPr>
          <p:cNvPr id="8" name="TextBox 7"/>
          <p:cNvSpPr txBox="1"/>
          <p:nvPr/>
        </p:nvSpPr>
        <p:spPr>
          <a:xfrm>
            <a:off x="777240" y="2075688"/>
            <a:ext cx="4846320" cy="9601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Regulasi memuat pasal; aturan bersumber dari pasal; PMK baru mengubah atau mencabut PMK lama; lembur digolongkan penghasilan teratur; kebijakan berkonflik dengan aturan wajib</a:t>
            </a:r>
          </a:p>
        </p:txBody>
      </p:sp>
      <p:sp>
        <p:nvSpPr>
          <p:cNvPr id="9" name="Rounded Rectangle 8"/>
          <p:cNvSpPr/>
          <p:nvPr/>
        </p:nvSpPr>
        <p:spPr>
          <a:xfrm>
            <a:off x="548640" y="3246120"/>
            <a:ext cx="5257800" cy="13258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3383280"/>
            <a:ext cx="3017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4213D"/>
                </a:solidFill>
                <a:latin typeface="Calibri"/>
              </a:rPr>
              <a:t>PENGETAHUAN KOMPUTASIONAL</a:t>
            </a:r>
          </a:p>
        </p:txBody>
      </p:sp>
      <p:sp>
        <p:nvSpPr>
          <p:cNvPr id="11" name="Rounded Rectangle 10"/>
          <p:cNvSpPr/>
          <p:nvPr/>
        </p:nvSpPr>
        <p:spPr>
          <a:xfrm>
            <a:off x="3657600" y="3364992"/>
            <a:ext cx="196596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200" b="1" i="1">
                <a:solidFill>
                  <a:srgbClr val="FFFFFF"/>
                </a:solidFill>
                <a:latin typeface="Calibri"/>
              </a:rPr>
              <a:t>Inference engine</a:t>
            </a:r>
          </a:p>
        </p:txBody>
      </p:sp>
      <p:sp>
        <p:nvSpPr>
          <p:cNvPr id="12" name="TextBox 11"/>
          <p:cNvSpPr txBox="1"/>
          <p:nvPr/>
        </p:nvSpPr>
        <p:spPr>
          <a:xfrm>
            <a:off x="777240" y="3785615"/>
            <a:ext cx="48463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TER × bruto, pembulatan per pasal, </a:t>
            </a:r>
            <a:r>
              <a:rPr sz="1350" b="0" i="1">
                <a:solidFill>
                  <a:srgbClr val="1F2937"/>
                </a:solidFill>
                <a:latin typeface="Calibri"/>
              </a:rPr>
              <a:t>gross-up</a:t>
            </a:r>
            <a:r>
              <a:rPr sz="1350" b="0" i="0">
                <a:solidFill>
                  <a:srgbClr val="1F2937"/>
                </a:solidFill>
                <a:latin typeface="Calibri"/>
              </a:rPr>
              <a:t> sebagai </a:t>
            </a:r>
            <a:r>
              <a:rPr sz="1350" b="0" i="1">
                <a:solidFill>
                  <a:srgbClr val="1F2937"/>
                </a:solidFill>
                <a:latin typeface="Calibri"/>
              </a:rPr>
              <a:t>fixed point</a:t>
            </a:r>
            <a:r>
              <a:rPr sz="1350" b="0" i="0">
                <a:solidFill>
                  <a:srgbClr val="1F2937"/>
                </a:solidFill>
                <a:latin typeface="Calibri"/>
              </a:rPr>
              <a:t>, perhitungan ulang di masa pajak terakhir</a:t>
            </a:r>
          </a:p>
        </p:txBody>
      </p:sp>
      <p:sp>
        <p:nvSpPr>
          <p:cNvPr id="13" name="TextBox 12"/>
          <p:cNvSpPr txBox="1"/>
          <p:nvPr/>
        </p:nvSpPr>
        <p:spPr>
          <a:xfrm>
            <a:off x="548640" y="4727448"/>
            <a:ext cx="5257800" cy="22860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KOMPONEN REPRESENTASI</a:t>
            </a:r>
          </a:p>
        </p:txBody>
      </p:sp>
      <p:sp>
        <p:nvSpPr>
          <p:cNvPr id="14" name="Rounded Rectangle 13"/>
          <p:cNvSpPr/>
          <p:nvPr/>
        </p:nvSpPr>
        <p:spPr>
          <a:xfrm>
            <a:off x="54864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Ontologi</a:t>
            </a:r>
          </a:p>
          <a:p>
            <a:pPr algn="ctr">
              <a:lnSpc>
                <a:spcPct val="100000"/>
              </a:lnSpc>
              <a:spcAft>
                <a:spcPts val="0"/>
              </a:spcAft>
            </a:pPr>
            <a:r>
              <a:rPr sz="1100" b="0" i="0">
                <a:solidFill>
                  <a:srgbClr val="1F2937"/>
                </a:solidFill>
                <a:latin typeface="Calibri"/>
              </a:rPr>
              <a:t>ELI, OWL-Time, PROV-O</a:t>
            </a:r>
          </a:p>
        </p:txBody>
      </p:sp>
      <p:sp>
        <p:nvSpPr>
          <p:cNvPr id="15" name="Rounded Rectangle 14"/>
          <p:cNvSpPr/>
          <p:nvPr/>
        </p:nvSpPr>
        <p:spPr>
          <a:xfrm>
            <a:off x="233172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SHACL</a:t>
            </a:r>
          </a:p>
          <a:p>
            <a:pPr algn="ctr">
              <a:lnSpc>
                <a:spcPct val="100000"/>
              </a:lnSpc>
              <a:spcAft>
                <a:spcPts val="0"/>
              </a:spcAft>
            </a:pPr>
            <a:r>
              <a:rPr sz="1100" b="0" i="0">
                <a:solidFill>
                  <a:srgbClr val="1F2937"/>
                </a:solidFill>
                <a:latin typeface="Calibri"/>
              </a:rPr>
              <a:t>gerbang validasi</a:t>
            </a:r>
          </a:p>
        </p:txBody>
      </p:sp>
      <p:sp>
        <p:nvSpPr>
          <p:cNvPr id="16" name="Rounded Rectangle 15"/>
          <p:cNvSpPr/>
          <p:nvPr/>
        </p:nvSpPr>
        <p:spPr>
          <a:xfrm>
            <a:off x="411480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SPARQL</a:t>
            </a:r>
          </a:p>
          <a:p>
            <a:pPr algn="ctr">
              <a:lnSpc>
                <a:spcPct val="100000"/>
              </a:lnSpc>
              <a:spcAft>
                <a:spcPts val="0"/>
              </a:spcAft>
            </a:pPr>
            <a:r>
              <a:rPr sz="1100" b="0" i="0">
                <a:solidFill>
                  <a:srgbClr val="1F2937"/>
                </a:solidFill>
                <a:latin typeface="Calibri"/>
              </a:rPr>
              <a:t>analisis dampak</a:t>
            </a:r>
          </a:p>
        </p:txBody>
      </p:sp>
      <p:sp>
        <p:nvSpPr>
          <p:cNvPr id="17" name="TextBox 16"/>
          <p:cNvSpPr txBox="1"/>
          <p:nvPr/>
        </p:nvSpPr>
        <p:spPr>
          <a:xfrm>
            <a:off x="548640" y="5806440"/>
            <a:ext cx="5257800" cy="566928"/>
          </a:xfrm>
          <a:prstGeom prst="rect">
            <a:avLst/>
          </a:prstGeom>
          <a:noFill/>
        </p:spPr>
        <p:txBody>
          <a:bodyPr wrap="square" lIns="0" rIns="0" tIns="0" bIns="0" anchor="t">
            <a:noAutofit/>
          </a:bodyPr>
          <a:lstStyle/>
          <a:p>
            <a:pPr algn="l">
              <a:lnSpc>
                <a:spcPct val="100000"/>
              </a:lnSpc>
              <a:spcAft>
                <a:spcPts val="0"/>
              </a:spcAft>
            </a:pPr>
            <a:r>
              <a:rPr sz="1100" b="0" i="0">
                <a:solidFill>
                  <a:srgbClr val="5B6472"/>
                </a:solidFill>
                <a:latin typeface="Calibri"/>
              </a:rPr>
              <a:t>Aritmetika tidak dipindah ke graf: OWL/SWRL tidak punya aritmetika eksak berpembulatan dan iterasi </a:t>
            </a:r>
            <a:r>
              <a:rPr sz="1100" b="0" i="1">
                <a:solidFill>
                  <a:srgbClr val="5B6472"/>
                </a:solidFill>
                <a:latin typeface="Calibri"/>
              </a:rPr>
              <a:t>fixed point</a:t>
            </a:r>
            <a:r>
              <a:rPr sz="1100" b="0" i="0">
                <a:solidFill>
                  <a:srgbClr val="5B6472"/>
                </a:solidFill>
                <a:latin typeface="Calibri"/>
              </a:rPr>
              <a:t>. Prototipe </a:t>
            </a:r>
            <a:r>
              <a:rPr sz="1100" b="0" i="1">
                <a:solidFill>
                  <a:srgbClr val="5B6472"/>
                </a:solidFill>
                <a:latin typeface="Calibri"/>
              </a:rPr>
              <a:t>engine</a:t>
            </a:r>
            <a:r>
              <a:rPr sz="1100" b="0" i="0">
                <a:solidFill>
                  <a:srgbClr val="5B6472"/>
                </a:solidFill>
                <a:latin typeface="Calibri"/>
              </a:rPr>
              <a:t> sudah 0 selisih tak terjelaskan pada 1.213 nilai contoh resmi.</a:t>
            </a:r>
          </a:p>
        </p:txBody>
      </p:sp>
      <p:sp>
        <p:nvSpPr>
          <p:cNvPr id="18" name="TextBox 17"/>
          <p:cNvSpPr txBox="1"/>
          <p:nvPr/>
        </p:nvSpPr>
        <p:spPr>
          <a:xfrm>
            <a:off x="6217920" y="1554480"/>
            <a:ext cx="53949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CONTOH: KONFLIK KLASIFIKASI LEMBUR DI GRAF</a:t>
            </a:r>
          </a:p>
        </p:txBody>
      </p:sp>
      <p:sp>
        <p:nvSpPr>
          <p:cNvPr id="19" name="Rounded Rectangle 18"/>
          <p:cNvSpPr/>
          <p:nvPr/>
        </p:nvSpPr>
        <p:spPr>
          <a:xfrm>
            <a:off x="6217920" y="1920240"/>
            <a:ext cx="137160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Perusahaan X</a:t>
            </a:r>
          </a:p>
        </p:txBody>
      </p:sp>
      <p:sp>
        <p:nvSpPr>
          <p:cNvPr id="20" name="Rounded Rectangle 19"/>
          <p:cNvSpPr/>
          <p:nvPr/>
        </p:nvSpPr>
        <p:spPr>
          <a:xfrm>
            <a:off x="8046720" y="1920240"/>
            <a:ext cx="169164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Peraturan Perusahaan</a:t>
            </a:r>
          </a:p>
        </p:txBody>
      </p:sp>
      <p:sp>
        <p:nvSpPr>
          <p:cNvPr id="21" name="Rounded Rectangle 20"/>
          <p:cNvSpPr/>
          <p:nvPr/>
        </p:nvSpPr>
        <p:spPr>
          <a:xfrm>
            <a:off x="10195559" y="1920240"/>
            <a:ext cx="141732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Pasal 12</a:t>
            </a:r>
          </a:p>
        </p:txBody>
      </p:sp>
      <p:cxnSp>
        <p:nvCxnSpPr>
          <p:cNvPr id="22" name="Connector 21"/>
          <p:cNvCxnSpPr/>
          <p:nvPr/>
        </p:nvCxnSpPr>
        <p:spPr>
          <a:xfrm>
            <a:off x="7607808" y="2171700"/>
            <a:ext cx="420623" cy="0"/>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56648" y="2171700"/>
            <a:ext cx="420624" cy="0"/>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06640" y="2450592"/>
            <a:ext cx="868680" cy="201168"/>
          </a:xfrm>
          <a:prstGeom prst="rect">
            <a:avLst/>
          </a:prstGeom>
          <a:noFill/>
        </p:spPr>
        <p:txBody>
          <a:bodyPr wrap="square" lIns="0" rIns="0" tIns="0" bIns="0" anchor="t">
            <a:noAutofit/>
          </a:bodyPr>
          <a:lstStyle/>
          <a:p>
            <a:pPr algn="ctr">
              <a:lnSpc>
                <a:spcPct val="100000"/>
              </a:lnSpc>
              <a:spcAft>
                <a:spcPts val="0"/>
              </a:spcAft>
            </a:pPr>
            <a:r>
              <a:rPr sz="1000" b="0" i="0">
                <a:solidFill>
                  <a:srgbClr val="5B6472"/>
                </a:solidFill>
                <a:latin typeface="Calibri"/>
              </a:rPr>
              <a:t>menerbitkan</a:t>
            </a:r>
          </a:p>
        </p:txBody>
      </p:sp>
      <p:sp>
        <p:nvSpPr>
          <p:cNvPr id="25" name="TextBox 24"/>
          <p:cNvSpPr txBox="1"/>
          <p:nvPr/>
        </p:nvSpPr>
        <p:spPr>
          <a:xfrm>
            <a:off x="9555480" y="2450592"/>
            <a:ext cx="822960" cy="201168"/>
          </a:xfrm>
          <a:prstGeom prst="rect">
            <a:avLst/>
          </a:prstGeom>
          <a:noFill/>
        </p:spPr>
        <p:txBody>
          <a:bodyPr wrap="square" lIns="0" rIns="0" tIns="0" bIns="0" anchor="t">
            <a:noAutofit/>
          </a:bodyPr>
          <a:lstStyle/>
          <a:p>
            <a:pPr algn="ctr">
              <a:lnSpc>
                <a:spcPct val="100000"/>
              </a:lnSpc>
              <a:spcAft>
                <a:spcPts val="0"/>
              </a:spcAft>
            </a:pPr>
            <a:r>
              <a:rPr sz="1000" b="0" i="0">
                <a:solidFill>
                  <a:srgbClr val="5B6472"/>
                </a:solidFill>
                <a:latin typeface="Calibri"/>
              </a:rPr>
              <a:t>memuat</a:t>
            </a:r>
          </a:p>
        </p:txBody>
      </p:sp>
      <p:sp>
        <p:nvSpPr>
          <p:cNvPr id="26" name="Rounded Rectangle 25"/>
          <p:cNvSpPr/>
          <p:nvPr/>
        </p:nvSpPr>
        <p:spPr>
          <a:xfrm>
            <a:off x="8046720" y="2971800"/>
            <a:ext cx="3566160" cy="54864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F2937"/>
                </a:solidFill>
                <a:latin typeface="Calibri"/>
              </a:rPr>
              <a:t>PX-LEMBUR</a:t>
            </a:r>
            <a:r>
              <a:rPr sz="1250" b="0" i="0">
                <a:solidFill>
                  <a:srgbClr val="1F2937"/>
                </a:solidFill>
                <a:latin typeface="Calibri"/>
              </a:rPr>
              <a:t>  ·  lembur → tidak teratur</a:t>
            </a:r>
          </a:p>
        </p:txBody>
      </p:sp>
      <p:cxnSp>
        <p:nvCxnSpPr>
          <p:cNvPr id="27" name="Connector 26"/>
          <p:cNvCxnSpPr/>
          <p:nvPr/>
        </p:nvCxnSpPr>
        <p:spPr>
          <a:xfrm flipV="1">
            <a:off x="10881359" y="2441448"/>
            <a:ext cx="0" cy="512064"/>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966959" y="2596896"/>
            <a:ext cx="841248" cy="201168"/>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bersumber</a:t>
            </a:r>
          </a:p>
        </p:txBody>
      </p:sp>
      <p:sp>
        <p:nvSpPr>
          <p:cNvPr id="29" name="Rounded Rectangle 28"/>
          <p:cNvSpPr/>
          <p:nvPr/>
        </p:nvSpPr>
        <p:spPr>
          <a:xfrm>
            <a:off x="8046720" y="4069080"/>
            <a:ext cx="3566160" cy="548640"/>
          </a:xfrm>
          <a:prstGeom prst="roundRect">
            <a:avLst>
              <a:gd name="adj" fmla="val 6000"/>
            </a:avLst>
          </a:prstGeom>
          <a:solidFill>
            <a:srgbClr val="E7EEFC"/>
          </a:solidFill>
          <a:ln w="9525">
            <a:solidFill>
              <a:srgbClr val="5B8DE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F2937"/>
                </a:solidFill>
                <a:latin typeface="Calibri"/>
              </a:rPr>
              <a:t>Aturan wajib</a:t>
            </a:r>
            <a:r>
              <a:rPr sz="1250" b="0" i="0">
                <a:solidFill>
                  <a:srgbClr val="1F2937"/>
                </a:solidFill>
                <a:latin typeface="Calibri"/>
              </a:rPr>
              <a:t>  ·  lembur → teratur</a:t>
            </a:r>
          </a:p>
        </p:txBody>
      </p:sp>
      <p:cxnSp>
        <p:nvCxnSpPr>
          <p:cNvPr id="30" name="Connector 29"/>
          <p:cNvCxnSpPr/>
          <p:nvPr/>
        </p:nvCxnSpPr>
        <p:spPr>
          <a:xfrm>
            <a:off x="9829800" y="3538728"/>
            <a:ext cx="0" cy="512063"/>
          </a:xfrm>
          <a:prstGeom prst="line">
            <a:avLst/>
          </a:prstGeom>
          <a:ln w="22225">
            <a:solidFill>
              <a:srgbClr val="C2410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921240" y="3657600"/>
            <a:ext cx="1645920" cy="228600"/>
          </a:xfrm>
          <a:prstGeom prst="rect">
            <a:avLst/>
          </a:prstGeom>
          <a:noFill/>
        </p:spPr>
        <p:txBody>
          <a:bodyPr wrap="square" lIns="0" rIns="0" tIns="0" bIns="0" anchor="t">
            <a:noAutofit/>
          </a:bodyPr>
          <a:lstStyle/>
          <a:p>
            <a:pPr algn="l">
              <a:lnSpc>
                <a:spcPct val="100000"/>
              </a:lnSpc>
              <a:spcAft>
                <a:spcPts val="0"/>
              </a:spcAft>
            </a:pPr>
            <a:r>
              <a:rPr sz="1100" b="1" i="0">
                <a:solidFill>
                  <a:srgbClr val="C2410C"/>
                </a:solidFill>
                <a:latin typeface="Calibri"/>
              </a:rPr>
              <a:t>berkonflik dengan</a:t>
            </a:r>
          </a:p>
        </p:txBody>
      </p:sp>
      <p:sp>
        <p:nvSpPr>
          <p:cNvPr id="32" name="Rounded Rectangle 31"/>
          <p:cNvSpPr/>
          <p:nvPr/>
        </p:nvSpPr>
        <p:spPr>
          <a:xfrm>
            <a:off x="8046720" y="5120640"/>
            <a:ext cx="3566160" cy="548640"/>
          </a:xfrm>
          <a:prstGeom prst="roundRect">
            <a:avLst>
              <a:gd name="adj" fmla="val 6000"/>
            </a:avLst>
          </a:prstGeom>
          <a:solidFill>
            <a:srgbClr val="FFFFFF"/>
          </a:solidFill>
          <a:ln w="9525">
            <a:solidFill>
              <a:srgbClr val="5B8DE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150" b="0" i="0">
                <a:solidFill>
                  <a:srgbClr val="1F2937"/>
                </a:solidFill>
                <a:latin typeface="Calibri"/>
              </a:rPr>
              <a:t>PER-16 Ps. 1 angka 15  ·  PMK 168/2023 Ps. 5(3)a</a:t>
            </a:r>
          </a:p>
        </p:txBody>
      </p:sp>
      <p:cxnSp>
        <p:nvCxnSpPr>
          <p:cNvPr id="33" name="Connector 32"/>
          <p:cNvCxnSpPr/>
          <p:nvPr/>
        </p:nvCxnSpPr>
        <p:spPr>
          <a:xfrm>
            <a:off x="9829800" y="4636008"/>
            <a:ext cx="0" cy="466344"/>
          </a:xfrm>
          <a:prstGeom prst="line">
            <a:avLst/>
          </a:prstGeom>
          <a:ln w="15875">
            <a:solidFill>
              <a:srgbClr val="2B4F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921240" y="4754880"/>
            <a:ext cx="914400" cy="201168"/>
          </a:xfrm>
          <a:prstGeom prst="rect">
            <a:avLst/>
          </a:prstGeom>
          <a:noFill/>
        </p:spPr>
        <p:txBody>
          <a:bodyPr wrap="square" lIns="0" rIns="0" tIns="0" bIns="0" anchor="t">
            <a:noAutofit/>
          </a:bodyPr>
          <a:lstStyle/>
          <a:p>
            <a:pPr algn="l">
              <a:lnSpc>
                <a:spcPct val="100000"/>
              </a:lnSpc>
              <a:spcAft>
                <a:spcPts val="0"/>
              </a:spcAft>
            </a:pPr>
            <a:r>
              <a:rPr sz="1000" b="0" i="0">
                <a:solidFill>
                  <a:srgbClr val="5B6472"/>
                </a:solidFill>
                <a:latin typeface="Calibri"/>
              </a:rPr>
              <a:t>bersumber</a:t>
            </a:r>
          </a:p>
        </p:txBody>
      </p:sp>
      <p:sp>
        <p:nvSpPr>
          <p:cNvPr id="35" name="TextBox 34"/>
          <p:cNvSpPr txBox="1"/>
          <p:nvPr/>
        </p:nvSpPr>
        <p:spPr>
          <a:xfrm>
            <a:off x="6217920" y="3072384"/>
            <a:ext cx="1691640" cy="36576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Lapisan perusahaan</a:t>
            </a:r>
          </a:p>
        </p:txBody>
      </p:sp>
      <p:sp>
        <p:nvSpPr>
          <p:cNvPr id="36" name="TextBox 35"/>
          <p:cNvSpPr txBox="1"/>
          <p:nvPr/>
        </p:nvSpPr>
        <p:spPr>
          <a:xfrm>
            <a:off x="6217920" y="4169663"/>
            <a:ext cx="1691640" cy="365760"/>
          </a:xfrm>
          <a:prstGeom prst="rect">
            <a:avLst/>
          </a:prstGeom>
          <a:noFill/>
        </p:spPr>
        <p:txBody>
          <a:bodyPr wrap="square" lIns="0" rIns="0" tIns="0" bIns="0" anchor="t">
            <a:noAutofit/>
          </a:bodyPr>
          <a:lstStyle/>
          <a:p>
            <a:pPr algn="l">
              <a:lnSpc>
                <a:spcPct val="100000"/>
              </a:lnSpc>
              <a:spcAft>
                <a:spcPts val="0"/>
              </a:spcAft>
            </a:pPr>
            <a:r>
              <a:rPr sz="1200" b="1" i="0">
                <a:solidFill>
                  <a:srgbClr val="2B4FA8"/>
                </a:solidFill>
                <a:latin typeface="Calibri"/>
              </a:rPr>
              <a:t>Lapisan regulasi</a:t>
            </a:r>
          </a:p>
        </p:txBody>
      </p:sp>
      <p:sp>
        <p:nvSpPr>
          <p:cNvPr id="37" name="TextBox 36"/>
          <p:cNvSpPr txBox="1"/>
          <p:nvPr/>
        </p:nvSpPr>
        <p:spPr>
          <a:xfrm>
            <a:off x="6217920" y="5806440"/>
            <a:ext cx="5394960" cy="548640"/>
          </a:xfrm>
          <a:prstGeom prst="rect">
            <a:avLst/>
          </a:prstGeom>
          <a:noFill/>
        </p:spPr>
        <p:txBody>
          <a:bodyPr wrap="square" lIns="0" rIns="0" tIns="0" bIns="0" anchor="t">
            <a:noAutofit/>
          </a:bodyPr>
          <a:lstStyle/>
          <a:p>
            <a:pPr algn="l">
              <a:lnSpc>
                <a:spcPct val="100000"/>
              </a:lnSpc>
              <a:spcAft>
                <a:spcPts val="0"/>
              </a:spcAft>
            </a:pPr>
            <a:r>
              <a:rPr sz="1200" b="0" i="1">
                <a:solidFill>
                  <a:srgbClr val="1F2937"/>
                </a:solidFill>
                <a:latin typeface="Calibri"/>
              </a:rPr>
              <a:t>Engine</a:t>
            </a:r>
            <a:r>
              <a:rPr sz="1200" b="0" i="0">
                <a:solidFill>
                  <a:srgbClr val="1F2937"/>
                </a:solidFill>
                <a:latin typeface="Calibri"/>
              </a:rPr>
              <a:t> memakai aturan wajib (</a:t>
            </a:r>
            <a:r>
              <a:rPr sz="1200" b="0" i="1">
                <a:solidFill>
                  <a:srgbClr val="1F2937"/>
                </a:solidFill>
                <a:latin typeface="Calibri"/>
              </a:rPr>
              <a:t>lex superior</a:t>
            </a:r>
            <a:r>
              <a:rPr sz="1200" b="0" i="0">
                <a:solidFill>
                  <a:srgbClr val="1F2937"/>
                </a:solidFill>
                <a:latin typeface="Calibri"/>
              </a:rPr>
              <a:t>) dan mencatat konflik di jejak sampai pasal. SHACL menandai konflik ini sebagai peringatan.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1">
                <a:solidFill>
                  <a:srgbClr val="14213D"/>
                </a:solidFill>
                <a:latin typeface="Cambria"/>
              </a:rPr>
              <a:t>Novelty</a:t>
            </a:r>
            <a:r>
              <a:rPr sz="2800" b="1" i="0">
                <a:solidFill>
                  <a:srgbClr val="14213D"/>
                </a:solidFill>
                <a:latin typeface="Cambria"/>
              </a:rPr>
              <a:t>: memperbarui KB yang sudah berjalan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2  ·  NOVELTY</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5</a:t>
            </a:r>
          </a:p>
        </p:txBody>
      </p:sp>
      <p:sp>
        <p:nvSpPr>
          <p:cNvPr id="5" name="Rounded Rectangle 4"/>
          <p:cNvSpPr/>
          <p:nvPr/>
        </p:nvSpPr>
        <p:spPr>
          <a:xfrm>
            <a:off x="548640" y="1554480"/>
            <a:ext cx="4846320" cy="40233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19072"/>
            <a:ext cx="44805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SUDAH DIKERJAKAN PENELITIAN LAIN</a:t>
            </a:r>
          </a:p>
        </p:txBody>
      </p:sp>
      <p:sp>
        <p:nvSpPr>
          <p:cNvPr id="7" name="Oval 6"/>
          <p:cNvSpPr/>
          <p:nvPr/>
        </p:nvSpPr>
        <p:spPr>
          <a:xfrm>
            <a:off x="777240" y="2066544"/>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8" name="TextBox 7"/>
          <p:cNvSpPr txBox="1"/>
          <p:nvPr/>
        </p:nvSpPr>
        <p:spPr>
          <a:xfrm>
            <a:off x="1188720" y="2029968"/>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LLM menyusun aturan, </a:t>
            </a:r>
            <a:r>
              <a:rPr sz="1350" b="0" i="1">
                <a:solidFill>
                  <a:srgbClr val="1F2937"/>
                </a:solidFill>
                <a:latin typeface="Calibri"/>
              </a:rPr>
              <a:t>engine</a:t>
            </a:r>
            <a:r>
              <a:rPr sz="1350" b="0" i="0">
                <a:solidFill>
                  <a:srgbClr val="1F2937"/>
                </a:solidFill>
                <a:latin typeface="Calibri"/>
              </a:rPr>
              <a:t> deterministik menghitung</a:t>
            </a:r>
          </a:p>
          <a:p>
            <a:pPr algn="l">
              <a:lnSpc>
                <a:spcPct val="100000"/>
              </a:lnSpc>
              <a:spcAft>
                <a:spcPts val="0"/>
              </a:spcAft>
            </a:pPr>
            <a:r>
              <a:rPr sz="1100" b="0" i="0">
                <a:solidFill>
                  <a:srgbClr val="5B6472"/>
                </a:solidFill>
                <a:latin typeface="Calibri"/>
              </a:rPr>
              <a:t>NTOL dan formalisasi IRC (2026); LLM ke Catala (2025)</a:t>
            </a:r>
          </a:p>
        </p:txBody>
      </p:sp>
      <p:sp>
        <p:nvSpPr>
          <p:cNvPr id="9" name="Oval 8"/>
          <p:cNvSpPr/>
          <p:nvPr/>
        </p:nvSpPr>
        <p:spPr>
          <a:xfrm>
            <a:off x="777240" y="2697480"/>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0" name="TextBox 9"/>
          <p:cNvSpPr txBox="1"/>
          <p:nvPr/>
        </p:nvSpPr>
        <p:spPr>
          <a:xfrm>
            <a:off x="1188720" y="2660904"/>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Gagasan LLM memperbarui kode pajak versi lama</a:t>
            </a:r>
          </a:p>
          <a:p>
            <a:pPr algn="l">
              <a:lnSpc>
                <a:spcPct val="100000"/>
              </a:lnSpc>
              <a:spcAft>
                <a:spcPts val="0"/>
              </a:spcAft>
            </a:pPr>
            <a:r>
              <a:rPr sz="1100" b="0" i="0">
                <a:solidFill>
                  <a:srgbClr val="5B6472"/>
                </a:solidFill>
                <a:latin typeface="Calibri"/>
              </a:rPr>
              <a:t>Gogani-Khiabani dkk. (2025): kajian tantangan, tanpa uji berantai</a:t>
            </a:r>
          </a:p>
        </p:txBody>
      </p:sp>
      <p:sp>
        <p:nvSpPr>
          <p:cNvPr id="11" name="Oval 10"/>
          <p:cNvSpPr/>
          <p:nvPr/>
        </p:nvSpPr>
        <p:spPr>
          <a:xfrm>
            <a:off x="777240" y="3328416"/>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2" name="TextBox 11"/>
          <p:cNvSpPr txBox="1"/>
          <p:nvPr/>
        </p:nvSpPr>
        <p:spPr>
          <a:xfrm>
            <a:off x="1188720" y="3291840"/>
            <a:ext cx="4069080" cy="603504"/>
          </a:xfrm>
          <a:prstGeom prst="rect">
            <a:avLst/>
          </a:prstGeom>
          <a:noFill/>
        </p:spPr>
        <p:txBody>
          <a:bodyPr wrap="square" lIns="0" rIns="0" tIns="0" bIns="0" anchor="t">
            <a:noAutofit/>
          </a:bodyPr>
          <a:lstStyle/>
          <a:p>
            <a:pPr algn="l">
              <a:lnSpc>
                <a:spcPct val="100000"/>
              </a:lnSpc>
              <a:spcAft>
                <a:spcPts val="0"/>
              </a:spcAft>
            </a:pPr>
            <a:r>
              <a:rPr sz="1350" b="0" i="1">
                <a:solidFill>
                  <a:srgbClr val="1F2937"/>
                </a:solidFill>
                <a:latin typeface="Calibri"/>
              </a:rPr>
              <a:t>Knowledge graph</a:t>
            </a:r>
            <a:r>
              <a:rPr sz="1350" b="0" i="0">
                <a:solidFill>
                  <a:srgbClr val="1F2937"/>
                </a:solidFill>
                <a:latin typeface="Calibri"/>
              </a:rPr>
              <a:t> untuk hukum pajak</a:t>
            </a:r>
          </a:p>
          <a:p>
            <a:pPr algn="l">
              <a:lnSpc>
                <a:spcPct val="100000"/>
              </a:lnSpc>
              <a:spcAft>
                <a:spcPts val="0"/>
              </a:spcAft>
            </a:pPr>
            <a:r>
              <a:rPr sz="1100" b="0" i="0">
                <a:solidFill>
                  <a:srgbClr val="5B6472"/>
                </a:solidFill>
                <a:latin typeface="Calibri"/>
              </a:rPr>
              <a:t>NTOL (2026), De Martim (2025)</a:t>
            </a:r>
          </a:p>
        </p:txBody>
      </p:sp>
      <p:sp>
        <p:nvSpPr>
          <p:cNvPr id="13" name="Oval 12"/>
          <p:cNvSpPr/>
          <p:nvPr/>
        </p:nvSpPr>
        <p:spPr>
          <a:xfrm>
            <a:off x="777240" y="3959352"/>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4" name="TextBox 13"/>
          <p:cNvSpPr txBox="1"/>
          <p:nvPr/>
        </p:nvSpPr>
        <p:spPr>
          <a:xfrm>
            <a:off x="1188720" y="3922776"/>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Versi waktu peraturan</a:t>
            </a:r>
          </a:p>
          <a:p>
            <a:pPr algn="l">
              <a:lnSpc>
                <a:spcPct val="100000"/>
              </a:lnSpc>
              <a:spcAft>
                <a:spcPts val="0"/>
              </a:spcAft>
            </a:pPr>
            <a:r>
              <a:rPr sz="1100" b="0" i="0">
                <a:solidFill>
                  <a:srgbClr val="5B6472"/>
                </a:solidFill>
                <a:latin typeface="Calibri"/>
              </a:rPr>
              <a:t>De Martim (2025), Moguillansky dkk. (2024)</a:t>
            </a:r>
          </a:p>
        </p:txBody>
      </p:sp>
      <p:sp>
        <p:nvSpPr>
          <p:cNvPr id="15" name="Oval 14"/>
          <p:cNvSpPr/>
          <p:nvPr/>
        </p:nvSpPr>
        <p:spPr>
          <a:xfrm>
            <a:off x="777240" y="4590288"/>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6" name="TextBox 15"/>
          <p:cNvSpPr txBox="1"/>
          <p:nvPr/>
        </p:nvSpPr>
        <p:spPr>
          <a:xfrm>
            <a:off x="1188720" y="4553712"/>
            <a:ext cx="4069080" cy="603504"/>
          </a:xfrm>
          <a:prstGeom prst="rect">
            <a:avLst/>
          </a:prstGeom>
          <a:noFill/>
        </p:spPr>
        <p:txBody>
          <a:bodyPr wrap="square" lIns="0" rIns="0" tIns="0" bIns="0" anchor="t">
            <a:noAutofit/>
          </a:bodyPr>
          <a:lstStyle/>
          <a:p>
            <a:pPr algn="l">
              <a:lnSpc>
                <a:spcPct val="100000"/>
              </a:lnSpc>
              <a:spcAft>
                <a:spcPts val="0"/>
              </a:spcAft>
            </a:pPr>
            <a:r>
              <a:rPr sz="1350" b="0" i="1">
                <a:solidFill>
                  <a:srgbClr val="1F2937"/>
                </a:solidFill>
                <a:latin typeface="Calibri"/>
              </a:rPr>
              <a:t>Knowledge base</a:t>
            </a:r>
            <a:r>
              <a:rPr sz="1350" b="0" i="0">
                <a:solidFill>
                  <a:srgbClr val="1F2937"/>
                </a:solidFill>
                <a:latin typeface="Calibri"/>
              </a:rPr>
              <a:t> untuk PPh 21</a:t>
            </a:r>
          </a:p>
          <a:p>
            <a:pPr algn="l">
              <a:lnSpc>
                <a:spcPct val="100000"/>
              </a:lnSpc>
              <a:spcAft>
                <a:spcPts val="0"/>
              </a:spcAft>
            </a:pPr>
            <a:r>
              <a:rPr sz="1100" b="0" i="0">
                <a:solidFill>
                  <a:srgbClr val="5B6472"/>
                </a:solidFill>
                <a:latin typeface="Calibri"/>
              </a:rPr>
              <a:t>kebaruan domain saja, bukan </a:t>
            </a:r>
            <a:r>
              <a:rPr sz="1100" b="0" i="1">
                <a:solidFill>
                  <a:srgbClr val="5B6472"/>
                </a:solidFill>
                <a:latin typeface="Calibri"/>
              </a:rPr>
              <a:t>novelty</a:t>
            </a:r>
            <a:r>
              <a:rPr sz="1100" b="0" i="0">
                <a:solidFill>
                  <a:srgbClr val="5B6472"/>
                </a:solidFill>
                <a:latin typeface="Calibri"/>
              </a:rPr>
              <a:t> utama</a:t>
            </a:r>
          </a:p>
        </p:txBody>
      </p:sp>
      <p:sp>
        <p:nvSpPr>
          <p:cNvPr id="17" name="TextBox 16"/>
          <p:cNvSpPr txBox="1"/>
          <p:nvPr/>
        </p:nvSpPr>
        <p:spPr>
          <a:xfrm>
            <a:off x="777240" y="5230368"/>
            <a:ext cx="4480560" cy="27432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Dibaca dari abstrak; metadata sudah diverifikasi.</a:t>
            </a:r>
          </a:p>
        </p:txBody>
      </p:sp>
      <p:sp>
        <p:nvSpPr>
          <p:cNvPr id="18" name="Rounded Rectangle 17"/>
          <p:cNvSpPr/>
          <p:nvPr/>
        </p:nvSpPr>
        <p:spPr>
          <a:xfrm>
            <a:off x="5669280" y="1554480"/>
            <a:ext cx="5971032" cy="141732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897880" y="1700784"/>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INTI</a:t>
            </a:r>
          </a:p>
        </p:txBody>
      </p:sp>
      <p:sp>
        <p:nvSpPr>
          <p:cNvPr id="20" name="TextBox 19"/>
          <p:cNvSpPr txBox="1"/>
          <p:nvPr/>
        </p:nvSpPr>
        <p:spPr>
          <a:xfrm>
            <a:off x="5897880" y="1965960"/>
            <a:ext cx="5532120" cy="914400"/>
          </a:xfrm>
          <a:prstGeom prst="rect">
            <a:avLst/>
          </a:prstGeom>
          <a:noFill/>
        </p:spPr>
        <p:txBody>
          <a:bodyPr wrap="square" lIns="0" rIns="0" tIns="0" bIns="0" anchor="t">
            <a:noAutofit/>
          </a:bodyPr>
          <a:lstStyle/>
          <a:p>
            <a:pPr algn="l">
              <a:lnSpc>
                <a:spcPct val="100000"/>
              </a:lnSpc>
              <a:spcAft>
                <a:spcPts val="0"/>
              </a:spcAft>
            </a:pPr>
            <a:r>
              <a:rPr sz="1450" b="0" i="0">
                <a:solidFill>
                  <a:srgbClr val="FFFFFF"/>
                </a:solidFill>
                <a:latin typeface="Calibri"/>
              </a:rPr>
              <a:t>LLM </a:t>
            </a:r>
            <a:r>
              <a:rPr sz="1450" b="1" i="0">
                <a:solidFill>
                  <a:srgbClr val="FFFFFF"/>
                </a:solidFill>
                <a:latin typeface="Calibri"/>
              </a:rPr>
              <a:t>memperbarui</a:t>
            </a:r>
            <a:r>
              <a:rPr sz="1450" b="0" i="0">
                <a:solidFill>
                  <a:srgbClr val="FFFFFF"/>
                </a:solidFill>
                <a:latin typeface="Calibri"/>
              </a:rPr>
              <a:t> </a:t>
            </a:r>
            <a:r>
              <a:rPr sz="1450" b="0" i="1">
                <a:solidFill>
                  <a:srgbClr val="FFFFFF"/>
                </a:solidFill>
                <a:latin typeface="Calibri"/>
              </a:rPr>
              <a:t>knowledge base</a:t>
            </a:r>
            <a:r>
              <a:rPr sz="1450" b="0" i="0">
                <a:solidFill>
                  <a:srgbClr val="FFFFFF"/>
                </a:solidFill>
                <a:latin typeface="Calibri"/>
              </a:rPr>
              <a:t> yang sudah berjalan mengikuti rangkaian amandemen nyata, dengan gerbang verifikasi, tanpa merusak hasil periode lama</a:t>
            </a:r>
          </a:p>
        </p:txBody>
      </p:sp>
      <p:sp>
        <p:nvSpPr>
          <p:cNvPr id="21" name="Rounded Rectangle 20"/>
          <p:cNvSpPr/>
          <p:nvPr/>
        </p:nvSpPr>
        <p:spPr>
          <a:xfrm>
            <a:off x="5669280" y="3108960"/>
            <a:ext cx="5971032" cy="1161288"/>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897880" y="3255264"/>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PENGUAT 1</a:t>
            </a:r>
          </a:p>
        </p:txBody>
      </p:sp>
      <p:sp>
        <p:nvSpPr>
          <p:cNvPr id="23" name="TextBox 22"/>
          <p:cNvSpPr txBox="1"/>
          <p:nvPr/>
        </p:nvSpPr>
        <p:spPr>
          <a:xfrm>
            <a:off x="5897880" y="3520440"/>
            <a:ext cx="5532120" cy="658368"/>
          </a:xfrm>
          <a:prstGeom prst="rect">
            <a:avLst/>
          </a:prstGeom>
          <a:noFill/>
        </p:spPr>
        <p:txBody>
          <a:bodyPr wrap="square" lIns="0" rIns="0" tIns="0" bIns="0" anchor="t">
            <a:noAutofit/>
          </a:bodyPr>
          <a:lstStyle/>
          <a:p>
            <a:pPr algn="l">
              <a:lnSpc>
                <a:spcPct val="100000"/>
              </a:lnSpc>
              <a:spcAft>
                <a:spcPts val="0"/>
              </a:spcAft>
            </a:pPr>
            <a:r>
              <a:rPr sz="1400" b="1" i="0">
                <a:solidFill>
                  <a:srgbClr val="1F2937"/>
                </a:solidFill>
                <a:latin typeface="Calibri"/>
              </a:rPr>
              <a:t>Dampak lintas lapis:</a:t>
            </a:r>
            <a:r>
              <a:rPr sz="1400" b="0" i="0">
                <a:solidFill>
                  <a:srgbClr val="1F2937"/>
                </a:solidFill>
                <a:latin typeface="Calibri"/>
              </a:rPr>
              <a:t> kebijakan perusahaan yang menjadi melanggar setelah regulasi berubah terdeteksi otomatis</a:t>
            </a:r>
          </a:p>
        </p:txBody>
      </p:sp>
      <p:sp>
        <p:nvSpPr>
          <p:cNvPr id="24" name="Rounded Rectangle 23"/>
          <p:cNvSpPr/>
          <p:nvPr/>
        </p:nvSpPr>
        <p:spPr>
          <a:xfrm>
            <a:off x="5669280" y="4407408"/>
            <a:ext cx="5971032" cy="1161288"/>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897880" y="4553712"/>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2B4FA8"/>
                </a:solidFill>
                <a:latin typeface="Calibri"/>
              </a:rPr>
              <a:t>PENGUAT 2</a:t>
            </a:r>
          </a:p>
        </p:txBody>
      </p:sp>
      <p:sp>
        <p:nvSpPr>
          <p:cNvPr id="26" name="TextBox 25"/>
          <p:cNvSpPr txBox="1"/>
          <p:nvPr/>
        </p:nvSpPr>
        <p:spPr>
          <a:xfrm>
            <a:off x="5897880" y="4818888"/>
            <a:ext cx="5532120" cy="658368"/>
          </a:xfrm>
          <a:prstGeom prst="rect">
            <a:avLst/>
          </a:prstGeom>
          <a:noFill/>
        </p:spPr>
        <p:txBody>
          <a:bodyPr wrap="square" lIns="0" rIns="0" tIns="0" bIns="0" anchor="t">
            <a:noAutofit/>
          </a:bodyPr>
          <a:lstStyle/>
          <a:p>
            <a:pPr algn="l">
              <a:lnSpc>
                <a:spcPct val="100000"/>
              </a:lnSpc>
              <a:spcAft>
                <a:spcPts val="0"/>
              </a:spcAft>
            </a:pPr>
            <a:r>
              <a:rPr sz="1400" b="1" i="0">
                <a:solidFill>
                  <a:srgbClr val="1F2937"/>
                </a:solidFill>
                <a:latin typeface="Calibri"/>
              </a:rPr>
              <a:t>Diuji pada perubahan struktural nyata:</a:t>
            </a:r>
            <a:r>
              <a:rPr sz="1400" b="0" i="0">
                <a:solidFill>
                  <a:srgbClr val="1F2937"/>
                </a:solidFill>
                <a:latin typeface="Calibri"/>
              </a:rPr>
              <a:t> metode disetahunkan PER-16 diganti TER, bukan sekadar perubahan parameter</a:t>
            </a:r>
          </a:p>
        </p:txBody>
      </p:sp>
      <p:sp>
        <p:nvSpPr>
          <p:cNvPr id="27" name="TextBox 26"/>
          <p:cNvSpPr txBox="1"/>
          <p:nvPr/>
        </p:nvSpPr>
        <p:spPr>
          <a:xfrm>
            <a:off x="548640" y="5760720"/>
            <a:ext cx="11091672" cy="594360"/>
          </a:xfrm>
          <a:prstGeom prst="rect">
            <a:avLst/>
          </a:prstGeom>
          <a:noFill/>
        </p:spPr>
        <p:txBody>
          <a:bodyPr wrap="square" lIns="0" rIns="0" tIns="0" bIns="0" anchor="t">
            <a:noAutofit/>
          </a:bodyPr>
          <a:lstStyle/>
          <a:p>
            <a:pPr algn="l">
              <a:lnSpc>
                <a:spcPct val="100000"/>
              </a:lnSpc>
              <a:spcAft>
                <a:spcPts val="0"/>
              </a:spcAft>
            </a:pPr>
            <a:r>
              <a:rPr sz="1300" b="0" i="1">
                <a:solidFill>
                  <a:srgbClr val="14213D"/>
                </a:solidFill>
                <a:latin typeface="Cambria"/>
              </a:rPr>
              <a:t>Pertanyaan yang belum dijawab:</a:t>
            </a:r>
            <a:r>
              <a:rPr sz="1300" b="0" i="0">
                <a:solidFill>
                  <a:srgbClr val="14213D"/>
                </a:solidFill>
                <a:latin typeface="Cambria"/>
              </a:rPr>
              <a:t> dapatkah </a:t>
            </a:r>
            <a:r>
              <a:rPr sz="1300" b="0" i="1">
                <a:solidFill>
                  <a:srgbClr val="14213D"/>
                </a:solidFill>
                <a:latin typeface="Cambria"/>
              </a:rPr>
              <a:t>knowledge base</a:t>
            </a:r>
            <a:r>
              <a:rPr sz="1300" b="0" i="0">
                <a:solidFill>
                  <a:srgbClr val="14213D"/>
                </a:solidFill>
                <a:latin typeface="Cambria"/>
              </a:rPr>
              <a:t> pajak terus dimutakhirkan dengan bantuan LLM mengikuti perubahan hukum nyata, tanpa merusak hasil periode lama dan tanpa melanggar batas aturan negara dan kebijakan perusahaan?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LLM mengusulkan, gerbang menyaring, </a:t>
            </a:r>
            <a:r>
              <a:rPr sz="2800" b="1" i="1">
                <a:solidFill>
                  <a:srgbClr val="14213D"/>
                </a:solidFill>
                <a:latin typeface="Cambria"/>
              </a:rPr>
              <a:t>engine</a:t>
            </a:r>
            <a:r>
              <a:rPr sz="2800" b="1" i="0">
                <a:solidFill>
                  <a:srgbClr val="14213D"/>
                </a:solidFill>
                <a:latin typeface="Cambria"/>
              </a:rPr>
              <a:t> menghitung</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ARSITEKTUR BARU</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6</a:t>
            </a:r>
          </a:p>
        </p:txBody>
      </p:sp>
      <p:sp>
        <p:nvSpPr>
          <p:cNvPr id="5" name="Rounded Rectangle 4"/>
          <p:cNvSpPr/>
          <p:nvPr/>
        </p:nvSpPr>
        <p:spPr>
          <a:xfrm>
            <a:off x="548640" y="1691640"/>
            <a:ext cx="1627632" cy="8229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Dokumen regulasi atau kebijakan baru</a:t>
            </a:r>
          </a:p>
        </p:txBody>
      </p:sp>
      <p:sp>
        <p:nvSpPr>
          <p:cNvPr id="6" name="Rounded Rectangle 5"/>
          <p:cNvSpPr/>
          <p:nvPr/>
        </p:nvSpPr>
        <p:spPr>
          <a:xfrm>
            <a:off x="2441448" y="1691640"/>
            <a:ext cx="1627632" cy="822960"/>
          </a:xfrm>
          <a:prstGeom prst="roundRect">
            <a:avLst>
              <a:gd name="adj" fmla="val 6000"/>
            </a:avLst>
          </a:prstGeom>
          <a:solidFill>
            <a:srgbClr val="EEE9F7"/>
          </a:solidFill>
          <a:ln w="9525">
            <a:solidFill>
              <a:srgbClr val="EEE9F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Penilaian relevansi berkutipan (LLM)</a:t>
            </a:r>
          </a:p>
        </p:txBody>
      </p:sp>
      <p:cxnSp>
        <p:nvCxnSpPr>
          <p:cNvPr id="7" name="Connector 6"/>
          <p:cNvCxnSpPr/>
          <p:nvPr/>
        </p:nvCxnSpPr>
        <p:spPr>
          <a:xfrm>
            <a:off x="2194560"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334255" y="1691640"/>
            <a:ext cx="1627632" cy="822960"/>
          </a:xfrm>
          <a:prstGeom prst="roundRect">
            <a:avLst>
              <a:gd name="adj" fmla="val 6000"/>
            </a:avLst>
          </a:prstGeom>
          <a:solidFill>
            <a:srgbClr val="EEE9F7"/>
          </a:solidFill>
          <a:ln w="9525">
            <a:solidFill>
              <a:srgbClr val="EEE9F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1">
                <a:solidFill>
                  <a:srgbClr val="1F2937"/>
                </a:solidFill>
                <a:latin typeface="Calibri"/>
              </a:rPr>
              <a:t>m</a:t>
            </a:r>
            <a:r>
              <a:rPr sz="1250" b="0" i="0">
                <a:solidFill>
                  <a:srgbClr val="1F2937"/>
                </a:solidFill>
                <a:latin typeface="Calibri"/>
              </a:rPr>
              <a:t> kandidat pembaruan Δ (LLM)</a:t>
            </a:r>
          </a:p>
        </p:txBody>
      </p:sp>
      <p:cxnSp>
        <p:nvCxnSpPr>
          <p:cNvPr id="9" name="Connector 8"/>
          <p:cNvCxnSpPr/>
          <p:nvPr/>
        </p:nvCxnSpPr>
        <p:spPr>
          <a:xfrm>
            <a:off x="4087367" y="2103120"/>
            <a:ext cx="228601"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27063" y="1691640"/>
            <a:ext cx="1627632" cy="822960"/>
          </a:xfrm>
          <a:prstGeom prst="roundRect">
            <a:avLst>
              <a:gd name="adj" fmla="val 6000"/>
            </a:avLst>
          </a:prstGeom>
          <a:solidFill>
            <a:srgbClr val="E2F1EE"/>
          </a:solidFill>
          <a:ln w="9525">
            <a:solidFill>
              <a:srgbClr val="E2F1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Gerbang G1–G5</a:t>
            </a:r>
          </a:p>
        </p:txBody>
      </p:sp>
      <p:cxnSp>
        <p:nvCxnSpPr>
          <p:cNvPr id="11" name="Connector 10"/>
          <p:cNvCxnSpPr/>
          <p:nvPr/>
        </p:nvCxnSpPr>
        <p:spPr>
          <a:xfrm>
            <a:off x="5980175"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19871" y="1691640"/>
            <a:ext cx="1627632" cy="822960"/>
          </a:xfrm>
          <a:prstGeom prst="roundRect">
            <a:avLst>
              <a:gd name="adj" fmla="val 6000"/>
            </a:avLst>
          </a:prstGeom>
          <a:solidFill>
            <a:srgbClr val="E2F1EE"/>
          </a:solidFill>
          <a:ln w="9525">
            <a:solidFill>
              <a:srgbClr val="E2F1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Konsensus perilaku atau </a:t>
            </a:r>
            <a:r>
              <a:rPr sz="1250" b="0" i="1">
                <a:solidFill>
                  <a:srgbClr val="1F2937"/>
                </a:solidFill>
                <a:latin typeface="Calibri"/>
              </a:rPr>
              <a:t>abstain</a:t>
            </a:r>
          </a:p>
        </p:txBody>
      </p:sp>
      <p:cxnSp>
        <p:nvCxnSpPr>
          <p:cNvPr id="13" name="Connector 12"/>
          <p:cNvCxnSpPr/>
          <p:nvPr/>
        </p:nvCxnSpPr>
        <p:spPr>
          <a:xfrm>
            <a:off x="7872983"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012680" y="1691640"/>
            <a:ext cx="1627632" cy="8229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Peninjau dan laporan dampak</a:t>
            </a:r>
          </a:p>
        </p:txBody>
      </p:sp>
      <p:cxnSp>
        <p:nvCxnSpPr>
          <p:cNvPr id="15" name="Connector 14"/>
          <p:cNvCxnSpPr/>
          <p:nvPr/>
        </p:nvCxnSpPr>
        <p:spPr>
          <a:xfrm>
            <a:off x="9765792"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288536" y="3154680"/>
            <a:ext cx="3200400" cy="1417320"/>
          </a:xfrm>
          <a:prstGeom prst="roundRect">
            <a:avLst>
              <a:gd name="adj" fmla="val 6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471416" y="3337560"/>
            <a:ext cx="2834640" cy="384048"/>
          </a:xfrm>
          <a:prstGeom prst="roundRect">
            <a:avLst>
              <a:gd name="adj" fmla="val 6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FFFFFF"/>
                </a:solidFill>
                <a:latin typeface="Calibri"/>
              </a:rPr>
              <a:t>Lapisan regulasi</a:t>
            </a:r>
          </a:p>
        </p:txBody>
      </p:sp>
      <p:sp>
        <p:nvSpPr>
          <p:cNvPr id="18" name="Rounded Rectangle 17"/>
          <p:cNvSpPr/>
          <p:nvPr/>
        </p:nvSpPr>
        <p:spPr>
          <a:xfrm>
            <a:off x="4471416" y="3794760"/>
            <a:ext cx="2834640" cy="384048"/>
          </a:xfrm>
          <a:prstGeom prst="roundRect">
            <a:avLst>
              <a:gd name="adj" fmla="val 6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4213D"/>
                </a:solidFill>
                <a:latin typeface="Calibri"/>
              </a:rPr>
              <a:t>Lapisan perusahaan</a:t>
            </a:r>
          </a:p>
        </p:txBody>
      </p:sp>
      <p:sp>
        <p:nvSpPr>
          <p:cNvPr id="19" name="TextBox 18"/>
          <p:cNvSpPr txBox="1"/>
          <p:nvPr/>
        </p:nvSpPr>
        <p:spPr>
          <a:xfrm>
            <a:off x="4288536" y="4224528"/>
            <a:ext cx="3200400" cy="274320"/>
          </a:xfrm>
          <a:prstGeom prst="rect">
            <a:avLst/>
          </a:prstGeom>
          <a:noFill/>
        </p:spPr>
        <p:txBody>
          <a:bodyPr wrap="square" lIns="0" rIns="0" tIns="0" bIns="0" anchor="t">
            <a:noAutofit/>
          </a:bodyPr>
          <a:lstStyle/>
          <a:p>
            <a:pPr algn="ctr">
              <a:lnSpc>
                <a:spcPct val="100000"/>
              </a:lnSpc>
              <a:spcAft>
                <a:spcPts val="0"/>
              </a:spcAft>
            </a:pPr>
            <a:r>
              <a:rPr sz="1100" b="0" i="1">
                <a:solidFill>
                  <a:srgbClr val="5B6472"/>
                </a:solidFill>
                <a:latin typeface="Calibri"/>
              </a:rPr>
              <a:t>knowledge graph</a:t>
            </a:r>
            <a:r>
              <a:rPr sz="1100" b="0" i="0">
                <a:solidFill>
                  <a:srgbClr val="5B6472"/>
                </a:solidFill>
                <a:latin typeface="Calibri"/>
              </a:rPr>
              <a:t> temporal</a:t>
            </a:r>
          </a:p>
        </p:txBody>
      </p:sp>
      <p:sp>
        <p:nvSpPr>
          <p:cNvPr id="20" name="Rounded Rectangle 19"/>
          <p:cNvSpPr/>
          <p:nvPr/>
        </p:nvSpPr>
        <p:spPr>
          <a:xfrm>
            <a:off x="8119871" y="3429000"/>
            <a:ext cx="1627632" cy="86868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1">
                <a:solidFill>
                  <a:srgbClr val="FFFFFF"/>
                </a:solidFill>
                <a:latin typeface="Calibri"/>
              </a:rPr>
              <a:t>Inference engine</a:t>
            </a:r>
            <a:r>
              <a:rPr sz="1250" b="0" i="0">
                <a:solidFill>
                  <a:srgbClr val="FFFFFF"/>
                </a:solidFill>
                <a:latin typeface="Calibri"/>
              </a:rPr>
              <a:t> </a:t>
            </a:r>
            <a:r>
              <a:rPr sz="1250" b="1" i="0">
                <a:solidFill>
                  <a:srgbClr val="FFFFFF"/>
                </a:solidFill>
                <a:latin typeface="Calibri"/>
              </a:rPr>
              <a:t>deterministik</a:t>
            </a:r>
          </a:p>
        </p:txBody>
      </p:sp>
      <p:sp>
        <p:nvSpPr>
          <p:cNvPr id="21" name="Rounded Rectangle 20"/>
          <p:cNvSpPr/>
          <p:nvPr/>
        </p:nvSpPr>
        <p:spPr>
          <a:xfrm>
            <a:off x="10012680" y="3429000"/>
            <a:ext cx="1627632" cy="8686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PPh 21 per masa dan jejak sampai pasal</a:t>
            </a:r>
          </a:p>
        </p:txBody>
      </p:sp>
      <p:cxnSp>
        <p:nvCxnSpPr>
          <p:cNvPr id="22" name="Connector 21"/>
          <p:cNvCxnSpPr/>
          <p:nvPr/>
        </p:nvCxnSpPr>
        <p:spPr>
          <a:xfrm>
            <a:off x="7507223" y="3863340"/>
            <a:ext cx="59436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65791" y="3863340"/>
            <a:ext cx="228601"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826496" y="2532888"/>
            <a:ext cx="0" cy="283464"/>
          </a:xfrm>
          <a:prstGeom prst="line">
            <a:avLst/>
          </a:prstGeom>
          <a:ln w="15875">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7031736" y="2816352"/>
            <a:ext cx="3794760" cy="0"/>
          </a:xfrm>
          <a:prstGeom prst="line">
            <a:avLst/>
          </a:prstGeom>
          <a:ln w="15875">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031736" y="2816352"/>
            <a:ext cx="0" cy="32004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123175" y="2578608"/>
            <a:ext cx="2377440" cy="219456"/>
          </a:xfrm>
          <a:prstGeom prst="rect">
            <a:avLst/>
          </a:prstGeom>
          <a:noFill/>
        </p:spPr>
        <p:txBody>
          <a:bodyPr wrap="square" lIns="0" rIns="0" tIns="0" bIns="0" anchor="t">
            <a:noAutofit/>
          </a:bodyPr>
          <a:lstStyle/>
          <a:p>
            <a:pPr algn="l">
              <a:lnSpc>
                <a:spcPct val="100000"/>
              </a:lnSpc>
              <a:spcAft>
                <a:spcPts val="0"/>
              </a:spcAft>
            </a:pPr>
            <a:r>
              <a:rPr sz="1050" b="0" i="0">
                <a:solidFill>
                  <a:srgbClr val="5B6472"/>
                </a:solidFill>
                <a:latin typeface="Calibri"/>
              </a:rPr>
              <a:t>pembaruan = versi baru KB</a:t>
            </a:r>
          </a:p>
        </p:txBody>
      </p:sp>
      <p:cxnSp>
        <p:nvCxnSpPr>
          <p:cNvPr id="28" name="Connector 27"/>
          <p:cNvCxnSpPr/>
          <p:nvPr/>
        </p:nvCxnSpPr>
        <p:spPr>
          <a:xfrm flipV="1">
            <a:off x="5148071" y="2532888"/>
            <a:ext cx="0" cy="603504"/>
          </a:xfrm>
          <a:prstGeom prst="line">
            <a:avLst/>
          </a:prstGeom>
          <a:ln w="15875">
            <a:solidFill>
              <a:srgbClr val="5B3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221223" y="2743200"/>
            <a:ext cx="731520" cy="219456"/>
          </a:xfrm>
          <a:prstGeom prst="rect">
            <a:avLst/>
          </a:prstGeom>
          <a:noFill/>
        </p:spPr>
        <p:txBody>
          <a:bodyPr wrap="square" lIns="0" rIns="0" tIns="0" bIns="0" anchor="t">
            <a:noAutofit/>
          </a:bodyPr>
          <a:lstStyle/>
          <a:p>
            <a:pPr algn="l">
              <a:lnSpc>
                <a:spcPct val="100000"/>
              </a:lnSpc>
              <a:spcAft>
                <a:spcPts val="0"/>
              </a:spcAft>
            </a:pPr>
            <a:r>
              <a:rPr sz="1050" b="0" i="0">
                <a:solidFill>
                  <a:srgbClr val="5B3F99"/>
                </a:solidFill>
                <a:latin typeface="Calibri"/>
              </a:rPr>
              <a:t>konteks</a:t>
            </a:r>
          </a:p>
        </p:txBody>
      </p:sp>
      <p:cxnSp>
        <p:nvCxnSpPr>
          <p:cNvPr id="30" name="Connector 29"/>
          <p:cNvCxnSpPr/>
          <p:nvPr/>
        </p:nvCxnSpPr>
        <p:spPr>
          <a:xfrm>
            <a:off x="3255264" y="2532888"/>
            <a:ext cx="0" cy="1330452"/>
          </a:xfrm>
          <a:prstGeom prst="line">
            <a:avLst/>
          </a:prstGeom>
          <a:ln w="15875">
            <a:solidFill>
              <a:srgbClr val="5B6472"/>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255264" y="3863340"/>
            <a:ext cx="1014984" cy="0"/>
          </a:xfrm>
          <a:prstGeom prst="line">
            <a:avLst/>
          </a:prstGeom>
          <a:ln w="15875">
            <a:solidFill>
              <a:srgbClr val="5B647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48640" y="3995928"/>
            <a:ext cx="2377440" cy="457200"/>
          </a:xfrm>
          <a:prstGeom prst="rect">
            <a:avLst/>
          </a:prstGeom>
          <a:noFill/>
        </p:spPr>
        <p:txBody>
          <a:bodyPr wrap="square" lIns="0" rIns="0" tIns="0" bIns="0" anchor="t">
            <a:noAutofit/>
          </a:bodyPr>
          <a:lstStyle/>
          <a:p>
            <a:pPr algn="r">
              <a:lnSpc>
                <a:spcPct val="100000"/>
              </a:lnSpc>
              <a:spcAft>
                <a:spcPts val="0"/>
              </a:spcAft>
            </a:pPr>
            <a:r>
              <a:rPr sz="1050" b="0" i="0">
                <a:solidFill>
                  <a:srgbClr val="5B6472"/>
                </a:solidFill>
                <a:latin typeface="Calibri"/>
              </a:rPr>
              <a:t>tidak relevan:</a:t>
            </a:r>
          </a:p>
          <a:p>
            <a:pPr algn="r">
              <a:lnSpc>
                <a:spcPct val="100000"/>
              </a:lnSpc>
              <a:spcAft>
                <a:spcPts val="0"/>
              </a:spcAft>
            </a:pPr>
            <a:r>
              <a:rPr sz="1050" b="0" i="0">
                <a:solidFill>
                  <a:srgbClr val="5B6472"/>
                </a:solidFill>
                <a:latin typeface="Calibri"/>
              </a:rPr>
              <a:t>pembaruan kosong</a:t>
            </a:r>
          </a:p>
        </p:txBody>
      </p:sp>
      <p:sp>
        <p:nvSpPr>
          <p:cNvPr id="33" name="TextBox 32"/>
          <p:cNvSpPr txBox="1"/>
          <p:nvPr/>
        </p:nvSpPr>
        <p:spPr>
          <a:xfrm>
            <a:off x="548640" y="4846320"/>
            <a:ext cx="54864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D6B63"/>
                </a:solidFill>
                <a:latin typeface="Calibri"/>
              </a:rPr>
              <a:t>LIMA GERBANG VERIFIKASI</a:t>
            </a:r>
          </a:p>
        </p:txBody>
      </p:sp>
      <p:sp>
        <p:nvSpPr>
          <p:cNvPr id="34" name="Rounded Rectangle 33"/>
          <p:cNvSpPr/>
          <p:nvPr/>
        </p:nvSpPr>
        <p:spPr>
          <a:xfrm>
            <a:off x="548640"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85800"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G1</a:t>
            </a:r>
          </a:p>
        </p:txBody>
      </p:sp>
      <p:sp>
        <p:nvSpPr>
          <p:cNvPr id="36" name="TextBox 35"/>
          <p:cNvSpPr txBox="1"/>
          <p:nvPr/>
        </p:nvSpPr>
        <p:spPr>
          <a:xfrm>
            <a:off x="1207007"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Struktur graf sah (</a:t>
            </a:r>
            <a:r>
              <a:rPr sz="1250" b="0" i="1">
                <a:solidFill>
                  <a:srgbClr val="1F2937"/>
                </a:solidFill>
                <a:latin typeface="Calibri"/>
              </a:rPr>
              <a:t>shape</a:t>
            </a:r>
            <a:r>
              <a:rPr sz="1250" b="0" i="0">
                <a:solidFill>
                  <a:srgbClr val="1F2937"/>
                </a:solidFill>
                <a:latin typeface="Calibri"/>
              </a:rPr>
              <a:t> SHACL)</a:t>
            </a:r>
          </a:p>
        </p:txBody>
      </p:sp>
      <p:sp>
        <p:nvSpPr>
          <p:cNvPr id="37" name="Rounded Rectangle 36"/>
          <p:cNvSpPr/>
          <p:nvPr/>
        </p:nvSpPr>
        <p:spPr>
          <a:xfrm>
            <a:off x="2795778"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2932938"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G2</a:t>
            </a:r>
          </a:p>
        </p:txBody>
      </p:sp>
      <p:sp>
        <p:nvSpPr>
          <p:cNvPr id="39" name="TextBox 38"/>
          <p:cNvSpPr txBox="1"/>
          <p:nvPr/>
        </p:nvSpPr>
        <p:spPr>
          <a:xfrm>
            <a:off x="3454146"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Kutipan dan tanggal ada di dokumen</a:t>
            </a:r>
          </a:p>
        </p:txBody>
      </p:sp>
      <p:sp>
        <p:nvSpPr>
          <p:cNvPr id="40" name="Rounded Rectangle 39"/>
          <p:cNvSpPr/>
          <p:nvPr/>
        </p:nvSpPr>
        <p:spPr>
          <a:xfrm>
            <a:off x="5042916"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5180076"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G3</a:t>
            </a:r>
          </a:p>
        </p:txBody>
      </p:sp>
      <p:sp>
        <p:nvSpPr>
          <p:cNvPr id="42" name="TextBox 41"/>
          <p:cNvSpPr txBox="1"/>
          <p:nvPr/>
        </p:nvSpPr>
        <p:spPr>
          <a:xfrm>
            <a:off x="5701283"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Konsistensi statis, konflik, anomali</a:t>
            </a:r>
          </a:p>
        </p:txBody>
      </p:sp>
      <p:sp>
        <p:nvSpPr>
          <p:cNvPr id="43" name="Rounded Rectangle 42"/>
          <p:cNvSpPr/>
          <p:nvPr/>
        </p:nvSpPr>
        <p:spPr>
          <a:xfrm>
            <a:off x="7290054"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7427214"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G4</a:t>
            </a:r>
          </a:p>
        </p:txBody>
      </p:sp>
      <p:sp>
        <p:nvSpPr>
          <p:cNvPr id="45" name="TextBox 44"/>
          <p:cNvSpPr txBox="1"/>
          <p:nvPr/>
        </p:nvSpPr>
        <p:spPr>
          <a:xfrm>
            <a:off x="7948422"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Regresi: hasil masa lama tetap</a:t>
            </a:r>
          </a:p>
        </p:txBody>
      </p:sp>
      <p:sp>
        <p:nvSpPr>
          <p:cNvPr id="46" name="Rounded Rectangle 45"/>
          <p:cNvSpPr/>
          <p:nvPr/>
        </p:nvSpPr>
        <p:spPr>
          <a:xfrm>
            <a:off x="9537192"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9674352"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G5</a:t>
            </a:r>
          </a:p>
        </p:txBody>
      </p:sp>
      <p:sp>
        <p:nvSpPr>
          <p:cNvPr id="48" name="TextBox 47"/>
          <p:cNvSpPr txBox="1"/>
          <p:nvPr/>
        </p:nvSpPr>
        <p:spPr>
          <a:xfrm>
            <a:off x="10195560"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Berefek, atau konflik dilaporkan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Ruang uji mencakup semua lapisan tarif</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3  ·  GROUND TRUTH</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7</a:t>
            </a:r>
          </a:p>
        </p:txBody>
      </p:sp>
      <p:sp>
        <p:nvSpPr>
          <p:cNvPr id="5" name="Rounded Rectangle 4"/>
          <p:cNvSpPr/>
          <p:nvPr/>
        </p:nvSpPr>
        <p:spPr>
          <a:xfrm>
            <a:off x="548640" y="1554480"/>
            <a:ext cx="5349240" cy="40690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00784"/>
            <a:ext cx="36576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DIMENSI YANG DIUJI</a:t>
            </a:r>
          </a:p>
        </p:txBody>
      </p:sp>
      <p:sp>
        <p:nvSpPr>
          <p:cNvPr id="7" name="TextBox 6"/>
          <p:cNvSpPr txBox="1"/>
          <p:nvPr/>
        </p:nvSpPr>
        <p:spPr>
          <a:xfrm>
            <a:off x="777240" y="20116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Rezim</a:t>
            </a:r>
          </a:p>
        </p:txBody>
      </p:sp>
      <p:sp>
        <p:nvSpPr>
          <p:cNvPr id="8" name="TextBox 7"/>
          <p:cNvSpPr txBox="1"/>
          <p:nvPr/>
        </p:nvSpPr>
        <p:spPr>
          <a:xfrm>
            <a:off x="2103120" y="20116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disetahunkan (s.d. 2023) · TER · TER + DTP</a:t>
            </a:r>
          </a:p>
        </p:txBody>
      </p:sp>
      <p:sp>
        <p:nvSpPr>
          <p:cNvPr id="9" name="TextBox 8"/>
          <p:cNvSpPr txBox="1"/>
          <p:nvPr/>
        </p:nvSpPr>
        <p:spPr>
          <a:xfrm>
            <a:off x="777240" y="24688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Pasal 17</a:t>
            </a:r>
          </a:p>
        </p:txBody>
      </p:sp>
      <p:sp>
        <p:nvSpPr>
          <p:cNvPr id="10" name="Rounded Rectangle 9"/>
          <p:cNvSpPr/>
          <p:nvPr/>
        </p:nvSpPr>
        <p:spPr>
          <a:xfrm>
            <a:off x="2103120"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5%</a:t>
            </a:r>
          </a:p>
        </p:txBody>
      </p:sp>
      <p:sp>
        <p:nvSpPr>
          <p:cNvPr id="11" name="Rounded Rectangle 10"/>
          <p:cNvSpPr/>
          <p:nvPr/>
        </p:nvSpPr>
        <p:spPr>
          <a:xfrm>
            <a:off x="2816352"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15%</a:t>
            </a:r>
          </a:p>
        </p:txBody>
      </p:sp>
      <p:sp>
        <p:nvSpPr>
          <p:cNvPr id="12" name="Rounded Rectangle 11"/>
          <p:cNvSpPr/>
          <p:nvPr/>
        </p:nvSpPr>
        <p:spPr>
          <a:xfrm>
            <a:off x="3529584"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25%</a:t>
            </a:r>
          </a:p>
        </p:txBody>
      </p:sp>
      <p:sp>
        <p:nvSpPr>
          <p:cNvPr id="13" name="Rounded Rectangle 12"/>
          <p:cNvSpPr/>
          <p:nvPr/>
        </p:nvSpPr>
        <p:spPr>
          <a:xfrm>
            <a:off x="4242816" y="2523744"/>
            <a:ext cx="621792" cy="310896"/>
          </a:xfrm>
          <a:prstGeom prst="roundRect">
            <a:avLst>
              <a:gd name="adj" fmla="val 30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14213D"/>
                </a:solidFill>
                <a:latin typeface="Calibri"/>
              </a:rPr>
              <a:t>30%</a:t>
            </a:r>
          </a:p>
        </p:txBody>
      </p:sp>
      <p:sp>
        <p:nvSpPr>
          <p:cNvPr id="14" name="Rounded Rectangle 13"/>
          <p:cNvSpPr/>
          <p:nvPr/>
        </p:nvSpPr>
        <p:spPr>
          <a:xfrm>
            <a:off x="4956048"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35%</a:t>
            </a:r>
          </a:p>
        </p:txBody>
      </p:sp>
      <p:sp>
        <p:nvSpPr>
          <p:cNvPr id="15" name="TextBox 14"/>
          <p:cNvSpPr txBox="1"/>
          <p:nvPr/>
        </p:nvSpPr>
        <p:spPr>
          <a:xfrm>
            <a:off x="777240" y="29260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Kategori TER</a:t>
            </a:r>
          </a:p>
        </p:txBody>
      </p:sp>
      <p:sp>
        <p:nvSpPr>
          <p:cNvPr id="16" name="TextBox 15"/>
          <p:cNvSpPr txBox="1"/>
          <p:nvPr/>
        </p:nvSpPr>
        <p:spPr>
          <a:xfrm>
            <a:off x="2103120" y="29260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A 44 · B 40 · C 41 lapisan tarif bulanan</a:t>
            </a:r>
          </a:p>
        </p:txBody>
      </p:sp>
      <p:sp>
        <p:nvSpPr>
          <p:cNvPr id="17" name="TextBox 16"/>
          <p:cNvSpPr txBox="1"/>
          <p:nvPr/>
        </p:nvSpPr>
        <p:spPr>
          <a:xfrm>
            <a:off x="777240" y="33832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Status PTKP</a:t>
            </a:r>
          </a:p>
        </p:txBody>
      </p:sp>
      <p:sp>
        <p:nvSpPr>
          <p:cNvPr id="18" name="TextBox 17"/>
          <p:cNvSpPr txBox="1"/>
          <p:nvPr/>
        </p:nvSpPr>
        <p:spPr>
          <a:xfrm>
            <a:off x="2103120" y="33832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TK/0–TK/3, K/0–K/3 (menentukan kategori TER)</a:t>
            </a:r>
          </a:p>
        </p:txBody>
      </p:sp>
      <p:sp>
        <p:nvSpPr>
          <p:cNvPr id="19" name="TextBox 18"/>
          <p:cNvSpPr txBox="1"/>
          <p:nvPr/>
        </p:nvSpPr>
        <p:spPr>
          <a:xfrm>
            <a:off x="777240" y="38404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Metode</a:t>
            </a:r>
          </a:p>
        </p:txBody>
      </p:sp>
      <p:sp>
        <p:nvSpPr>
          <p:cNvPr id="20" name="TextBox 19"/>
          <p:cNvSpPr txBox="1"/>
          <p:nvPr/>
        </p:nvSpPr>
        <p:spPr>
          <a:xfrm>
            <a:off x="2103120" y="3840480"/>
            <a:ext cx="3657600" cy="411480"/>
          </a:xfrm>
          <a:prstGeom prst="rect">
            <a:avLst/>
          </a:prstGeom>
          <a:noFill/>
        </p:spPr>
        <p:txBody>
          <a:bodyPr wrap="square" lIns="0" rIns="0" tIns="0" bIns="0" anchor="ctr">
            <a:noAutofit/>
          </a:bodyPr>
          <a:lstStyle/>
          <a:p>
            <a:pPr algn="l">
              <a:lnSpc>
                <a:spcPct val="100000"/>
              </a:lnSpc>
              <a:spcAft>
                <a:spcPts val="0"/>
              </a:spcAft>
            </a:pPr>
            <a:r>
              <a:rPr sz="1250" b="0" i="1">
                <a:solidFill>
                  <a:srgbClr val="1F2937"/>
                </a:solidFill>
                <a:latin typeface="Calibri"/>
              </a:rPr>
              <a:t>gross</a:t>
            </a:r>
            <a:r>
              <a:rPr sz="1250" b="0" i="0">
                <a:solidFill>
                  <a:srgbClr val="1F2937"/>
                </a:solidFill>
                <a:latin typeface="Calibri"/>
              </a:rPr>
              <a:t> · </a:t>
            </a:r>
            <a:r>
              <a:rPr sz="1250" b="0" i="1">
                <a:solidFill>
                  <a:srgbClr val="1F2937"/>
                </a:solidFill>
                <a:latin typeface="Calibri"/>
              </a:rPr>
              <a:t>gross-up</a:t>
            </a:r>
            <a:r>
              <a:rPr sz="1250" b="0" i="0">
                <a:solidFill>
                  <a:srgbClr val="1F2937"/>
                </a:solidFill>
                <a:latin typeface="Calibri"/>
              </a:rPr>
              <a:t> · ditanggung pemberi kerja</a:t>
            </a:r>
          </a:p>
        </p:txBody>
      </p:sp>
      <p:sp>
        <p:nvSpPr>
          <p:cNvPr id="21" name="TextBox 20"/>
          <p:cNvSpPr txBox="1"/>
          <p:nvPr/>
        </p:nvSpPr>
        <p:spPr>
          <a:xfrm>
            <a:off x="777240" y="42976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Pola kerja</a:t>
            </a:r>
          </a:p>
        </p:txBody>
      </p:sp>
      <p:sp>
        <p:nvSpPr>
          <p:cNvPr id="22" name="TextBox 21"/>
          <p:cNvSpPr txBox="1"/>
          <p:nvPr/>
        </p:nvSpPr>
        <p:spPr>
          <a:xfrm>
            <a:off x="2103120" y="42976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setahun penuh · masuk atau keluar di tengah tahun</a:t>
            </a:r>
          </a:p>
        </p:txBody>
      </p:sp>
      <p:sp>
        <p:nvSpPr>
          <p:cNvPr id="23" name="TextBox 22"/>
          <p:cNvSpPr txBox="1"/>
          <p:nvPr/>
        </p:nvSpPr>
        <p:spPr>
          <a:xfrm>
            <a:off x="777240" y="47548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Penghasilan</a:t>
            </a:r>
          </a:p>
        </p:txBody>
      </p:sp>
      <p:sp>
        <p:nvSpPr>
          <p:cNvPr id="24" name="TextBox 23"/>
          <p:cNvSpPr txBox="1"/>
          <p:nvPr/>
        </p:nvSpPr>
        <p:spPr>
          <a:xfrm>
            <a:off x="2103120" y="47548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teratur · tidak teratur (THR, bonus)</a:t>
            </a:r>
          </a:p>
        </p:txBody>
      </p:sp>
      <p:sp>
        <p:nvSpPr>
          <p:cNvPr id="25" name="TextBox 24"/>
          <p:cNvSpPr txBox="1"/>
          <p:nvPr/>
        </p:nvSpPr>
        <p:spPr>
          <a:xfrm>
            <a:off x="777240" y="5321808"/>
            <a:ext cx="4937760" cy="274320"/>
          </a:xfrm>
          <a:prstGeom prst="rect">
            <a:avLst/>
          </a:prstGeom>
          <a:noFill/>
        </p:spPr>
        <p:txBody>
          <a:bodyPr wrap="square" lIns="0" rIns="0" tIns="0" bIns="0" anchor="t">
            <a:noAutofit/>
          </a:bodyPr>
          <a:lstStyle/>
          <a:p>
            <a:pPr algn="l">
              <a:lnSpc>
                <a:spcPct val="100000"/>
              </a:lnSpc>
              <a:spcAft>
                <a:spcPts val="0"/>
              </a:spcAft>
            </a:pPr>
            <a:r>
              <a:rPr sz="1100" b="0" i="1">
                <a:solidFill>
                  <a:srgbClr val="B45309"/>
                </a:solidFill>
                <a:latin typeface="Calibri"/>
              </a:rPr>
              <a:t>Lapisan 30% (PKP Rp500 juta–Rp5 miliar) juga diuji.</a:t>
            </a:r>
          </a:p>
        </p:txBody>
      </p:sp>
      <p:sp>
        <p:nvSpPr>
          <p:cNvPr id="26" name="Rounded Rectangle 25"/>
          <p:cNvSpPr/>
          <p:nvPr/>
        </p:nvSpPr>
        <p:spPr>
          <a:xfrm>
            <a:off x="6172200" y="1554480"/>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73368" y="1691639"/>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48</a:t>
            </a:r>
          </a:p>
        </p:txBody>
      </p:sp>
      <p:sp>
        <p:nvSpPr>
          <p:cNvPr id="28" name="TextBox 27"/>
          <p:cNvSpPr txBox="1"/>
          <p:nvPr/>
        </p:nvSpPr>
        <p:spPr>
          <a:xfrm>
            <a:off x="6373368" y="2450591"/>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titik batas Pasal 17</a:t>
            </a:r>
          </a:p>
        </p:txBody>
      </p:sp>
      <p:sp>
        <p:nvSpPr>
          <p:cNvPr id="29" name="TextBox 28"/>
          <p:cNvSpPr txBox="1"/>
          <p:nvPr/>
        </p:nvSpPr>
        <p:spPr>
          <a:xfrm>
            <a:off x="6373368" y="2834639"/>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4 batas × 3 titik × 4 tahun pajak</a:t>
            </a:r>
          </a:p>
        </p:txBody>
      </p:sp>
      <p:sp>
        <p:nvSpPr>
          <p:cNvPr id="30" name="Rounded Rectangle 29"/>
          <p:cNvSpPr/>
          <p:nvPr/>
        </p:nvSpPr>
        <p:spPr>
          <a:xfrm>
            <a:off x="8951976" y="1554480"/>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53144" y="1691639"/>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366</a:t>
            </a:r>
          </a:p>
        </p:txBody>
      </p:sp>
      <p:sp>
        <p:nvSpPr>
          <p:cNvPr id="32" name="TextBox 31"/>
          <p:cNvSpPr txBox="1"/>
          <p:nvPr/>
        </p:nvSpPr>
        <p:spPr>
          <a:xfrm>
            <a:off x="9153144" y="2450591"/>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titik batas TER</a:t>
            </a:r>
          </a:p>
        </p:txBody>
      </p:sp>
      <p:sp>
        <p:nvSpPr>
          <p:cNvPr id="33" name="TextBox 32"/>
          <p:cNvSpPr txBox="1"/>
          <p:nvPr/>
        </p:nvSpPr>
        <p:spPr>
          <a:xfrm>
            <a:off x="9153144" y="2834639"/>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122 batas × 3 titik (tepat, −1, +1)</a:t>
            </a:r>
          </a:p>
        </p:txBody>
      </p:sp>
      <p:sp>
        <p:nvSpPr>
          <p:cNvPr id="34" name="Rounded Rectangle 33"/>
          <p:cNvSpPr/>
          <p:nvPr/>
        </p:nvSpPr>
        <p:spPr>
          <a:xfrm>
            <a:off x="6172200" y="3630168"/>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73368" y="3767328"/>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2-arah</a:t>
            </a:r>
          </a:p>
        </p:txBody>
      </p:sp>
      <p:sp>
        <p:nvSpPr>
          <p:cNvPr id="36" name="TextBox 35"/>
          <p:cNvSpPr txBox="1"/>
          <p:nvPr/>
        </p:nvSpPr>
        <p:spPr>
          <a:xfrm>
            <a:off x="6373368" y="4526279"/>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kombinasi semua dimensi</a:t>
            </a:r>
          </a:p>
        </p:txBody>
      </p:sp>
      <p:sp>
        <p:nvSpPr>
          <p:cNvPr id="37" name="TextBox 36"/>
          <p:cNvSpPr txBox="1"/>
          <p:nvPr/>
        </p:nvSpPr>
        <p:spPr>
          <a:xfrm>
            <a:off x="6373368" y="4910327"/>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setiap pasangan nilai muncul minimal sekali; hanya kombinasi yang sah</a:t>
            </a:r>
          </a:p>
        </p:txBody>
      </p:sp>
      <p:sp>
        <p:nvSpPr>
          <p:cNvPr id="38" name="Rounded Rectangle 37"/>
          <p:cNvSpPr/>
          <p:nvPr/>
        </p:nvSpPr>
        <p:spPr>
          <a:xfrm>
            <a:off x="8951976" y="3630168"/>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153144" y="3767328"/>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2.995</a:t>
            </a:r>
          </a:p>
        </p:txBody>
      </p:sp>
      <p:sp>
        <p:nvSpPr>
          <p:cNvPr id="40" name="TextBox 39"/>
          <p:cNvSpPr txBox="1"/>
          <p:nvPr/>
        </p:nvSpPr>
        <p:spPr>
          <a:xfrm>
            <a:off x="9153144" y="4526279"/>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kasus acak (distribusi BPS)</a:t>
            </a:r>
          </a:p>
        </p:txBody>
      </p:sp>
      <p:sp>
        <p:nvSpPr>
          <p:cNvPr id="41" name="TextBox 40"/>
          <p:cNvSpPr txBox="1"/>
          <p:nvPr/>
        </p:nvSpPr>
        <p:spPr>
          <a:xfrm>
            <a:off x="9153144" y="4910327"/>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bila nol gagal: laju kesalahan &lt; 0,1% (keyakinan 95%)</a:t>
            </a:r>
          </a:p>
        </p:txBody>
      </p:sp>
      <p:sp>
        <p:nvSpPr>
          <p:cNvPr id="42" name="TextBox 41"/>
          <p:cNvSpPr txBox="1"/>
          <p:nvPr/>
        </p:nvSpPr>
        <p:spPr>
          <a:xfrm>
            <a:off x="548640" y="5788152"/>
            <a:ext cx="146304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ACUAN</a:t>
            </a:r>
          </a:p>
        </p:txBody>
      </p:sp>
      <p:sp>
        <p:nvSpPr>
          <p:cNvPr id="43" name="Rounded Rectangle 42"/>
          <p:cNvSpPr/>
          <p:nvPr/>
        </p:nvSpPr>
        <p:spPr>
          <a:xfrm>
            <a:off x="548640"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GT1</a:t>
            </a:r>
            <a:r>
              <a:rPr sz="1150" b="0" i="0">
                <a:solidFill>
                  <a:srgbClr val="14213D"/>
                </a:solidFill>
                <a:latin typeface="Calibri"/>
              </a:rPr>
              <a:t>  contoh resmi</a:t>
            </a:r>
          </a:p>
        </p:txBody>
      </p:sp>
      <p:sp>
        <p:nvSpPr>
          <p:cNvPr id="44" name="Rounded Rectangle 43"/>
          <p:cNvSpPr/>
          <p:nvPr/>
        </p:nvSpPr>
        <p:spPr>
          <a:xfrm>
            <a:off x="2795778"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GT2</a:t>
            </a:r>
            <a:r>
              <a:rPr sz="1150" b="0" i="0">
                <a:solidFill>
                  <a:srgbClr val="14213D"/>
                </a:solidFill>
                <a:latin typeface="Calibri"/>
              </a:rPr>
              <a:t>  kalkulator DJP</a:t>
            </a:r>
          </a:p>
        </p:txBody>
      </p:sp>
      <p:sp>
        <p:nvSpPr>
          <p:cNvPr id="45" name="Rounded Rectangle 44"/>
          <p:cNvSpPr/>
          <p:nvPr/>
        </p:nvSpPr>
        <p:spPr>
          <a:xfrm>
            <a:off x="5042916"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GT3</a:t>
            </a:r>
            <a:r>
              <a:rPr sz="1150" b="0" i="0">
                <a:solidFill>
                  <a:srgbClr val="14213D"/>
                </a:solidFill>
                <a:latin typeface="Calibri"/>
              </a:rPr>
              <a:t>  hitung manual</a:t>
            </a:r>
          </a:p>
        </p:txBody>
      </p:sp>
      <p:sp>
        <p:nvSpPr>
          <p:cNvPr id="46" name="Rounded Rectangle 45"/>
          <p:cNvSpPr/>
          <p:nvPr/>
        </p:nvSpPr>
        <p:spPr>
          <a:xfrm>
            <a:off x="7290054"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GT4</a:t>
            </a:r>
            <a:r>
              <a:rPr sz="1150" b="0" i="0">
                <a:solidFill>
                  <a:srgbClr val="14213D"/>
                </a:solidFill>
                <a:latin typeface="Calibri"/>
              </a:rPr>
              <a:t>  pihak ketiga</a:t>
            </a:r>
          </a:p>
        </p:txBody>
      </p:sp>
      <p:sp>
        <p:nvSpPr>
          <p:cNvPr id="47" name="Rounded Rectangle 46"/>
          <p:cNvSpPr/>
          <p:nvPr/>
        </p:nvSpPr>
        <p:spPr>
          <a:xfrm>
            <a:off x="9537192" y="6053328"/>
            <a:ext cx="2103120" cy="347472"/>
          </a:xfrm>
          <a:prstGeom prst="roundRect">
            <a:avLst>
              <a:gd name="adj" fmla="val 30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GT5</a:t>
            </a:r>
            <a:r>
              <a:rPr sz="1150" b="0" i="0">
                <a:solidFill>
                  <a:srgbClr val="14213D"/>
                </a:solidFill>
                <a:latin typeface="Calibri"/>
              </a:rPr>
              <a:t>  contoh kebijakan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Satu metrik utama untuk setiap pertanyaan penelitian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4  ·  METRIK EVALUASI</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8</a:t>
            </a:r>
          </a:p>
        </p:txBody>
      </p:sp>
      <p:sp>
        <p:nvSpPr>
          <p:cNvPr id="5" name="Rounded Rectangle 4"/>
          <p:cNvSpPr/>
          <p:nvPr/>
        </p:nvSpPr>
        <p:spPr>
          <a:xfrm>
            <a:off x="548640"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RQ1</a:t>
            </a:r>
          </a:p>
        </p:txBody>
      </p:sp>
      <p:sp>
        <p:nvSpPr>
          <p:cNvPr id="7" name="Rounded Rectangle 6"/>
          <p:cNvSpPr/>
          <p:nvPr/>
        </p:nvSpPr>
        <p:spPr>
          <a:xfrm>
            <a:off x="2423160"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E1</a:t>
            </a:r>
          </a:p>
        </p:txBody>
      </p:sp>
      <p:sp>
        <p:nvSpPr>
          <p:cNvPr id="8" name="TextBox 7"/>
          <p:cNvSpPr txBox="1"/>
          <p:nvPr/>
        </p:nvSpPr>
        <p:spPr>
          <a:xfrm>
            <a:off x="749808"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Adaptivitas representasi</a:t>
            </a:r>
          </a:p>
        </p:txBody>
      </p:sp>
      <p:sp>
        <p:nvSpPr>
          <p:cNvPr id="9" name="TextBox 8"/>
          <p:cNvSpPr txBox="1"/>
          <p:nvPr/>
        </p:nvSpPr>
        <p:spPr>
          <a:xfrm>
            <a:off x="749808"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RA</a:t>
            </a:r>
          </a:p>
        </p:txBody>
      </p:sp>
      <p:sp>
        <p:nvSpPr>
          <p:cNvPr id="10" name="TextBox 9"/>
          <p:cNvSpPr txBox="1"/>
          <p:nvPr/>
        </p:nvSpPr>
        <p:spPr>
          <a:xfrm>
            <a:off x="749808"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Proporsi perubahan yang dapat dinyatakan tanpa mengubah kode </a:t>
            </a:r>
            <a:r>
              <a:rPr sz="1250" b="0" i="1">
                <a:solidFill>
                  <a:srgbClr val="1F2937"/>
                </a:solidFill>
                <a:latin typeface="Calibri"/>
              </a:rPr>
              <a:t>engine</a:t>
            </a:r>
            <a:r>
              <a:rPr sz="1250" b="0" i="0">
                <a:solidFill>
                  <a:srgbClr val="1F2937"/>
                </a:solidFill>
                <a:latin typeface="Calibri"/>
              </a:rPr>
              <a:t>; diuji pada perubahan yang ditulis orang lain</a:t>
            </a:r>
          </a:p>
        </p:txBody>
      </p:sp>
      <p:sp>
        <p:nvSpPr>
          <p:cNvPr id="11" name="Rounded Rectangle 10"/>
          <p:cNvSpPr/>
          <p:nvPr/>
        </p:nvSpPr>
        <p:spPr>
          <a:xfrm>
            <a:off x="3374136"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575304"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RQ2</a:t>
            </a:r>
          </a:p>
        </p:txBody>
      </p:sp>
      <p:sp>
        <p:nvSpPr>
          <p:cNvPr id="13" name="Rounded Rectangle 12"/>
          <p:cNvSpPr/>
          <p:nvPr/>
        </p:nvSpPr>
        <p:spPr>
          <a:xfrm>
            <a:off x="5248656"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E2</a:t>
            </a:r>
          </a:p>
        </p:txBody>
      </p:sp>
      <p:sp>
        <p:nvSpPr>
          <p:cNvPr id="14" name="TextBox 13"/>
          <p:cNvSpPr txBox="1"/>
          <p:nvPr/>
        </p:nvSpPr>
        <p:spPr>
          <a:xfrm>
            <a:off x="3575304"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Akuisisi satu langkah</a:t>
            </a:r>
          </a:p>
        </p:txBody>
      </p:sp>
      <p:sp>
        <p:nvSpPr>
          <p:cNvPr id="15" name="TextBox 14"/>
          <p:cNvSpPr txBox="1"/>
          <p:nvPr/>
        </p:nvSpPr>
        <p:spPr>
          <a:xfrm>
            <a:off x="3575304"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SER · CAR</a:t>
            </a:r>
          </a:p>
        </p:txBody>
      </p:sp>
      <p:sp>
        <p:nvSpPr>
          <p:cNvPr id="16" name="TextBox 15"/>
          <p:cNvSpPr txBox="1"/>
          <p:nvPr/>
        </p:nvSpPr>
        <p:spPr>
          <a:xfrm>
            <a:off x="3575304"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SER: pembaruan salah yang lolos tanpa terdeteksi (keamanan). CAR: pembaruan benar yang diterapkan (kegunaan)</a:t>
            </a:r>
          </a:p>
        </p:txBody>
      </p:sp>
      <p:sp>
        <p:nvSpPr>
          <p:cNvPr id="17" name="Rounded Rectangle 16"/>
          <p:cNvSpPr/>
          <p:nvPr/>
        </p:nvSpPr>
        <p:spPr>
          <a:xfrm>
            <a:off x="6199631"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799"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RQ3</a:t>
            </a:r>
          </a:p>
        </p:txBody>
      </p:sp>
      <p:sp>
        <p:nvSpPr>
          <p:cNvPr id="19" name="Rounded Rectangle 18"/>
          <p:cNvSpPr/>
          <p:nvPr/>
        </p:nvSpPr>
        <p:spPr>
          <a:xfrm>
            <a:off x="8074151"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E3</a:t>
            </a:r>
          </a:p>
        </p:txBody>
      </p:sp>
      <p:sp>
        <p:nvSpPr>
          <p:cNvPr id="20" name="TextBox 19"/>
          <p:cNvSpPr txBox="1"/>
          <p:nvPr/>
        </p:nvSpPr>
        <p:spPr>
          <a:xfrm>
            <a:off x="6400799" y="2011680"/>
            <a:ext cx="2240280" cy="365760"/>
          </a:xfrm>
          <a:prstGeom prst="rect">
            <a:avLst/>
          </a:prstGeom>
          <a:noFill/>
        </p:spPr>
        <p:txBody>
          <a:bodyPr wrap="square" lIns="0" rIns="0" tIns="0" bIns="0" anchor="t">
            <a:noAutofit/>
          </a:bodyPr>
          <a:lstStyle/>
          <a:p>
            <a:pPr algn="l">
              <a:lnSpc>
                <a:spcPct val="100000"/>
              </a:lnSpc>
              <a:spcAft>
                <a:spcPts val="0"/>
              </a:spcAft>
            </a:pPr>
            <a:r>
              <a:rPr sz="1400" b="1" i="1">
                <a:solidFill>
                  <a:srgbClr val="14213D"/>
                </a:solidFill>
                <a:latin typeface="Calibri"/>
              </a:rPr>
              <a:t>Replay</a:t>
            </a:r>
            <a:r>
              <a:rPr sz="1400" b="1" i="0">
                <a:solidFill>
                  <a:srgbClr val="14213D"/>
                </a:solidFill>
                <a:latin typeface="Calibri"/>
              </a:rPr>
              <a:t> berantai</a:t>
            </a:r>
          </a:p>
        </p:txBody>
      </p:sp>
      <p:sp>
        <p:nvSpPr>
          <p:cNvPr id="21" name="TextBox 20"/>
          <p:cNvSpPr txBox="1"/>
          <p:nvPr/>
        </p:nvSpPr>
        <p:spPr>
          <a:xfrm>
            <a:off x="6400799"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OAR · </a:t>
            </a:r>
            <a:r>
              <a:rPr sz="2800" b="1" i="1">
                <a:solidFill>
                  <a:srgbClr val="14213D"/>
                </a:solidFill>
                <a:latin typeface="Cambria"/>
              </a:rPr>
              <a:t>I</a:t>
            </a:r>
          </a:p>
        </p:txBody>
      </p:sp>
      <p:sp>
        <p:nvSpPr>
          <p:cNvPr id="22" name="TextBox 21"/>
          <p:cNvSpPr txBox="1"/>
          <p:nvPr/>
        </p:nvSpPr>
        <p:spPr>
          <a:xfrm>
            <a:off x="6400799"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OAR: peristiwa tanpa kesalahan baru. </a:t>
            </a:r>
            <a:r>
              <a:rPr sz="1250" b="0" i="1">
                <a:solidFill>
                  <a:srgbClr val="1F2937"/>
                </a:solidFill>
                <a:latin typeface="Calibri"/>
              </a:rPr>
              <a:t>I</a:t>
            </a:r>
            <a:r>
              <a:rPr sz="1250" b="0" i="0">
                <a:solidFill>
                  <a:srgbClr val="1F2937"/>
                </a:solidFill>
                <a:latin typeface="Calibri"/>
              </a:rPr>
              <a:t>: kesalahan yang muncul hanya karena pembaruan sebelumnya salah</a:t>
            </a:r>
          </a:p>
        </p:txBody>
      </p:sp>
      <p:sp>
        <p:nvSpPr>
          <p:cNvPr id="23" name="Rounded Rectangle 22"/>
          <p:cNvSpPr/>
          <p:nvPr/>
        </p:nvSpPr>
        <p:spPr>
          <a:xfrm>
            <a:off x="9025128"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226296"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RQ4</a:t>
            </a:r>
          </a:p>
        </p:txBody>
      </p:sp>
      <p:sp>
        <p:nvSpPr>
          <p:cNvPr id="25" name="Rounded Rectangle 24"/>
          <p:cNvSpPr/>
          <p:nvPr/>
        </p:nvSpPr>
        <p:spPr>
          <a:xfrm>
            <a:off x="10899647"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E4</a:t>
            </a:r>
          </a:p>
        </p:txBody>
      </p:sp>
      <p:sp>
        <p:nvSpPr>
          <p:cNvPr id="26" name="TextBox 25"/>
          <p:cNvSpPr txBox="1"/>
          <p:nvPr/>
        </p:nvSpPr>
        <p:spPr>
          <a:xfrm>
            <a:off x="9226296"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Dampak lintas lapis</a:t>
            </a:r>
          </a:p>
        </p:txBody>
      </p:sp>
      <p:sp>
        <p:nvSpPr>
          <p:cNvPr id="27" name="TextBox 26"/>
          <p:cNvSpPr txBox="1"/>
          <p:nvPr/>
        </p:nvSpPr>
        <p:spPr>
          <a:xfrm>
            <a:off x="9226296" y="2468880"/>
            <a:ext cx="2286000" cy="640080"/>
          </a:xfrm>
          <a:prstGeom prst="rect">
            <a:avLst/>
          </a:prstGeom>
          <a:noFill/>
        </p:spPr>
        <p:txBody>
          <a:bodyPr wrap="square" lIns="0" rIns="0" tIns="0" bIns="0" anchor="t">
            <a:noAutofit/>
          </a:bodyPr>
          <a:lstStyle/>
          <a:p>
            <a:pPr algn="l">
              <a:lnSpc>
                <a:spcPct val="100000"/>
              </a:lnSpc>
              <a:spcAft>
                <a:spcPts val="0"/>
              </a:spcAft>
            </a:pPr>
            <a:r>
              <a:rPr sz="2800" b="1" i="1">
                <a:solidFill>
                  <a:srgbClr val="14213D"/>
                </a:solidFill>
                <a:latin typeface="Cambria"/>
              </a:rPr>
              <a:t>Recall</a:t>
            </a:r>
            <a:r>
              <a:rPr sz="2800" b="1" i="0">
                <a:solidFill>
                  <a:srgbClr val="14213D"/>
                </a:solidFill>
                <a:latin typeface="Cambria"/>
              </a:rPr>
              <a:t> · F2</a:t>
            </a:r>
          </a:p>
        </p:txBody>
      </p:sp>
      <p:sp>
        <p:nvSpPr>
          <p:cNvPr id="28" name="TextBox 27"/>
          <p:cNvSpPr txBox="1"/>
          <p:nvPr/>
        </p:nvSpPr>
        <p:spPr>
          <a:xfrm>
            <a:off x="9226296"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Kebijakan terdampak yang terlewat lebih berbahaya daripada peringatan palsu; F2 memberi bobot </a:t>
            </a:r>
            <a:r>
              <a:rPr sz="1250" b="0" i="1">
                <a:solidFill>
                  <a:srgbClr val="1F2937"/>
                </a:solidFill>
                <a:latin typeface="Calibri"/>
              </a:rPr>
              <a:t>recall</a:t>
            </a:r>
            <a:r>
              <a:rPr sz="1250" b="0" i="0">
                <a:solidFill>
                  <a:srgbClr val="1F2937"/>
                </a:solidFill>
                <a:latin typeface="Calibri"/>
              </a:rPr>
              <a:t> dua kali</a:t>
            </a:r>
          </a:p>
        </p:txBody>
      </p:sp>
      <p:sp>
        <p:nvSpPr>
          <p:cNvPr id="29" name="Rounded Rectangle 28"/>
          <p:cNvSpPr/>
          <p:nvPr/>
        </p:nvSpPr>
        <p:spPr>
          <a:xfrm>
            <a:off x="548640" y="4535424"/>
            <a:ext cx="5468112" cy="1773936"/>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77240" y="466344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PRINSIP</a:t>
            </a:r>
          </a:p>
        </p:txBody>
      </p:sp>
      <p:sp>
        <p:nvSpPr>
          <p:cNvPr id="31" name="TextBox 30"/>
          <p:cNvSpPr txBox="1"/>
          <p:nvPr/>
        </p:nvSpPr>
        <p:spPr>
          <a:xfrm>
            <a:off x="777240" y="4937760"/>
            <a:ext cx="5029200" cy="685800"/>
          </a:xfrm>
          <a:prstGeom prst="rect">
            <a:avLst/>
          </a:prstGeom>
          <a:noFill/>
        </p:spPr>
        <p:txBody>
          <a:bodyPr wrap="square" lIns="0" rIns="0" tIns="0" bIns="0" anchor="t">
            <a:noAutofit/>
          </a:bodyPr>
          <a:lstStyle/>
          <a:p>
            <a:pPr algn="l">
              <a:lnSpc>
                <a:spcPct val="100000"/>
              </a:lnSpc>
              <a:spcAft>
                <a:spcPts val="0"/>
              </a:spcAft>
            </a:pPr>
            <a:r>
              <a:rPr sz="1250" b="0" i="0">
                <a:solidFill>
                  <a:srgbClr val="FFFFFF"/>
                </a:solidFill>
                <a:latin typeface="Calibri"/>
              </a:rPr>
              <a:t>Kebenaran diukur dari hasil perhitungan sampai rupiah, bukan dari kemiripan bentuk aturan. MAE tidak dipakai: rata-rata kecil dapat menyembunyikan kasus salah.</a:t>
            </a:r>
          </a:p>
        </p:txBody>
      </p:sp>
      <p:sp>
        <p:nvSpPr>
          <p:cNvPr id="32" name="TextBox 31"/>
          <p:cNvSpPr txBox="1"/>
          <p:nvPr/>
        </p:nvSpPr>
        <p:spPr>
          <a:xfrm>
            <a:off x="777240" y="5669280"/>
            <a:ext cx="5029200" cy="566928"/>
          </a:xfrm>
          <a:prstGeom prst="rect">
            <a:avLst/>
          </a:prstGeom>
          <a:noFill/>
        </p:spPr>
        <p:txBody>
          <a:bodyPr wrap="square" lIns="0" rIns="0" tIns="0" bIns="0" anchor="t">
            <a:noAutofit/>
          </a:bodyPr>
          <a:lstStyle/>
          <a:p>
            <a:pPr algn="l">
              <a:lnSpc>
                <a:spcPct val="100000"/>
              </a:lnSpc>
              <a:spcAft>
                <a:spcPts val="0"/>
              </a:spcAft>
            </a:pPr>
            <a:r>
              <a:rPr sz="1100" b="0" i="1">
                <a:solidFill>
                  <a:srgbClr val="C9D3E6"/>
                </a:solidFill>
                <a:latin typeface="Calibri"/>
              </a:rPr>
              <a:t>Bukti: konsolidasi undang-undang dengan LLM punya kemiripan teks 93–99%, tetapi kecocokan persis hanya 50,3% (satu langkah) dan 20,51% (berantai). Prior dkk., NLLP 2025</a:t>
            </a:r>
          </a:p>
        </p:txBody>
      </p:sp>
      <p:sp>
        <p:nvSpPr>
          <p:cNvPr id="33" name="Rounded Rectangle 32"/>
          <p:cNvSpPr/>
          <p:nvPr/>
        </p:nvSpPr>
        <p:spPr>
          <a:xfrm>
            <a:off x="6172200" y="4535424"/>
            <a:ext cx="5468112" cy="177393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0" y="466344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STATISTIK UNTUK DATA KECIL</a:t>
            </a:r>
          </a:p>
        </p:txBody>
      </p:sp>
      <p:sp>
        <p:nvSpPr>
          <p:cNvPr id="35" name="TextBox 34"/>
          <p:cNvSpPr txBox="1"/>
          <p:nvPr/>
        </p:nvSpPr>
        <p:spPr>
          <a:xfrm>
            <a:off x="6400800" y="4937760"/>
            <a:ext cx="5029200" cy="118872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CI eksak Clopper–Pearson; selisih risiko berpasangan (Newcombe) dan uji non-inferioritas; koreksi Holm; κ dan α untuk label manusia. Contoh: 10 dokumen tanpa kesalahan memberi batas atas SER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1">
                <a:solidFill>
                  <a:srgbClr val="14213D"/>
                </a:solidFill>
                <a:latin typeface="Cambria"/>
              </a:rPr>
              <a:t>Regulation replay</a:t>
            </a:r>
            <a:r>
              <a:rPr sz="2800" b="1" i="0">
                <a:solidFill>
                  <a:srgbClr val="14213D"/>
                </a:solidFill>
                <a:latin typeface="Cambria"/>
              </a:rPr>
              <a:t>: perubahan 2023–2026 diterapkan satu per satu</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5  ·  BUKTI PENERAPAN LANGSUNG</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9</a:t>
            </a:r>
          </a:p>
        </p:txBody>
      </p:sp>
      <p:sp>
        <p:nvSpPr>
          <p:cNvPr id="5" name="TextBox 4"/>
          <p:cNvSpPr txBox="1"/>
          <p:nvPr/>
        </p:nvSpPr>
        <p:spPr>
          <a:xfrm>
            <a:off x="548640"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2023</a:t>
            </a:r>
          </a:p>
        </p:txBody>
      </p:sp>
      <p:cxnSp>
        <p:nvCxnSpPr>
          <p:cNvPr id="6" name="Connector 5"/>
          <p:cNvCxnSpPr/>
          <p:nvPr/>
        </p:nvCxnSpPr>
        <p:spPr>
          <a:xfrm>
            <a:off x="548640"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Mar · batas upah JP (parameter)</a:t>
            </a:r>
          </a:p>
          <a:p>
            <a:pPr algn="l">
              <a:lnSpc>
                <a:spcPct val="100000"/>
              </a:lnSpc>
              <a:spcAft>
                <a:spcPts val="400"/>
              </a:spcAft>
            </a:pPr>
            <a:r>
              <a:rPr sz="1250" b="0" i="0">
                <a:solidFill>
                  <a:srgbClr val="1F2937"/>
                </a:solidFill>
                <a:latin typeface="Calibri"/>
              </a:rPr>
              <a:t>Jul · PMK 66/2023 natura (klasifikasi)</a:t>
            </a:r>
          </a:p>
        </p:txBody>
      </p:sp>
      <p:sp>
        <p:nvSpPr>
          <p:cNvPr id="8" name="TextBox 7"/>
          <p:cNvSpPr txBox="1"/>
          <p:nvPr/>
        </p:nvSpPr>
        <p:spPr>
          <a:xfrm>
            <a:off x="3374136"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2024</a:t>
            </a:r>
          </a:p>
        </p:txBody>
      </p:sp>
      <p:cxnSp>
        <p:nvCxnSpPr>
          <p:cNvPr id="9" name="Connector 8"/>
          <p:cNvCxnSpPr/>
          <p:nvPr/>
        </p:nvCxnSpPr>
        <p:spPr>
          <a:xfrm>
            <a:off x="3374136"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374136"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PP 58 + PMK 168: TER (ganti metode)</a:t>
            </a:r>
          </a:p>
          <a:p>
            <a:pPr algn="l">
              <a:lnSpc>
                <a:spcPct val="100000"/>
              </a:lnSpc>
              <a:spcAft>
                <a:spcPts val="400"/>
              </a:spcAft>
            </a:pPr>
            <a:r>
              <a:rPr sz="1250" b="0" i="0">
                <a:solidFill>
                  <a:srgbClr val="1F2937"/>
                </a:solidFill>
                <a:latin typeface="Calibri"/>
              </a:rPr>
              <a:t>Mar · batas upah JP</a:t>
            </a:r>
          </a:p>
        </p:txBody>
      </p:sp>
      <p:sp>
        <p:nvSpPr>
          <p:cNvPr id="11" name="TextBox 10"/>
          <p:cNvSpPr txBox="1"/>
          <p:nvPr/>
        </p:nvSpPr>
        <p:spPr>
          <a:xfrm>
            <a:off x="6199631"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2025</a:t>
            </a:r>
          </a:p>
        </p:txBody>
      </p:sp>
      <p:cxnSp>
        <p:nvCxnSpPr>
          <p:cNvPr id="12" name="Connector 11"/>
          <p:cNvCxnSpPr/>
          <p:nvPr/>
        </p:nvCxnSpPr>
        <p:spPr>
          <a:xfrm>
            <a:off x="6199631"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99631"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PMK 10/2025 DTP, terbit Feb (surut)</a:t>
            </a:r>
          </a:p>
          <a:p>
            <a:pPr algn="l">
              <a:lnSpc>
                <a:spcPct val="100000"/>
              </a:lnSpc>
              <a:spcAft>
                <a:spcPts val="400"/>
              </a:spcAft>
            </a:pPr>
            <a:r>
              <a:rPr sz="1250" b="0" i="0">
                <a:solidFill>
                  <a:srgbClr val="1F2937"/>
                </a:solidFill>
                <a:latin typeface="Calibri"/>
              </a:rPr>
              <a:t>Mar · batas upah JP</a:t>
            </a:r>
          </a:p>
          <a:p>
            <a:pPr algn="l">
              <a:lnSpc>
                <a:spcPct val="100000"/>
              </a:lnSpc>
              <a:spcAft>
                <a:spcPts val="400"/>
              </a:spcAft>
            </a:pPr>
            <a:r>
              <a:rPr sz="1250" b="0" i="0">
                <a:solidFill>
                  <a:srgbClr val="1F2937"/>
                </a:solidFill>
                <a:latin typeface="Calibri"/>
              </a:rPr>
              <a:t>Okt · PMK 72/2025 sektor pariwisata</a:t>
            </a:r>
          </a:p>
        </p:txBody>
      </p:sp>
      <p:sp>
        <p:nvSpPr>
          <p:cNvPr id="14" name="TextBox 13"/>
          <p:cNvSpPr txBox="1"/>
          <p:nvPr/>
        </p:nvSpPr>
        <p:spPr>
          <a:xfrm>
            <a:off x="9025128"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2026</a:t>
            </a:r>
          </a:p>
        </p:txBody>
      </p:sp>
      <p:cxnSp>
        <p:nvCxnSpPr>
          <p:cNvPr id="15" name="Connector 14"/>
          <p:cNvCxnSpPr/>
          <p:nvPr/>
        </p:nvCxnSpPr>
        <p:spPr>
          <a:xfrm>
            <a:off x="9025128" y="1993392"/>
            <a:ext cx="2615183"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025128"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PMK 105/2025 DTP 2026</a:t>
            </a:r>
          </a:p>
          <a:p>
            <a:pPr algn="l">
              <a:lnSpc>
                <a:spcPct val="100000"/>
              </a:lnSpc>
              <a:spcAft>
                <a:spcPts val="400"/>
              </a:spcAft>
            </a:pPr>
            <a:r>
              <a:rPr sz="1250" b="0" i="0">
                <a:solidFill>
                  <a:srgbClr val="1F2937"/>
                </a:solidFill>
                <a:latin typeface="Calibri"/>
              </a:rPr>
              <a:t>Mar · batas upah JP</a:t>
            </a:r>
          </a:p>
        </p:txBody>
      </p:sp>
      <p:sp>
        <p:nvSpPr>
          <p:cNvPr id="17" name="TextBox 16"/>
          <p:cNvSpPr txBox="1"/>
          <p:nvPr/>
        </p:nvSpPr>
        <p:spPr>
          <a:xfrm>
            <a:off x="548640" y="3401568"/>
            <a:ext cx="54864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EMPAT SYARAT SESUDAH SETIAP REGULASI</a:t>
            </a:r>
          </a:p>
        </p:txBody>
      </p:sp>
      <p:sp>
        <p:nvSpPr>
          <p:cNvPr id="18" name="Rounded Rectangle 17"/>
          <p:cNvSpPr/>
          <p:nvPr/>
        </p:nvSpPr>
        <p:spPr>
          <a:xfrm>
            <a:off x="548640"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13232"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A1</a:t>
            </a:r>
          </a:p>
        </p:txBody>
      </p:sp>
      <p:sp>
        <p:nvSpPr>
          <p:cNvPr id="20" name="TextBox 19"/>
          <p:cNvSpPr txBox="1"/>
          <p:nvPr/>
        </p:nvSpPr>
        <p:spPr>
          <a:xfrm>
            <a:off x="1325880"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Kode </a:t>
            </a:r>
            <a:r>
              <a:rPr sz="1300" b="0" i="1">
                <a:solidFill>
                  <a:srgbClr val="1F2937"/>
                </a:solidFill>
                <a:latin typeface="Calibri"/>
              </a:rPr>
              <a:t>engine</a:t>
            </a:r>
            <a:r>
              <a:rPr sz="1300" b="0" i="0">
                <a:solidFill>
                  <a:srgbClr val="1F2937"/>
                </a:solidFill>
                <a:latin typeface="Calibri"/>
              </a:rPr>
              <a:t> tidak berubah</a:t>
            </a:r>
          </a:p>
        </p:txBody>
      </p:sp>
      <p:sp>
        <p:nvSpPr>
          <p:cNvPr id="21" name="Rounded Rectangle 20"/>
          <p:cNvSpPr/>
          <p:nvPr/>
        </p:nvSpPr>
        <p:spPr>
          <a:xfrm>
            <a:off x="3374136"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3538728"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A2</a:t>
            </a:r>
          </a:p>
        </p:txBody>
      </p:sp>
      <p:sp>
        <p:nvSpPr>
          <p:cNvPr id="23" name="TextBox 22"/>
          <p:cNvSpPr txBox="1"/>
          <p:nvPr/>
        </p:nvSpPr>
        <p:spPr>
          <a:xfrm>
            <a:off x="4151376"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Hasil sesudah regulasi berlaku sama dengan acuan</a:t>
            </a:r>
          </a:p>
        </p:txBody>
      </p:sp>
      <p:sp>
        <p:nvSpPr>
          <p:cNvPr id="24" name="Rounded Rectangle 23"/>
          <p:cNvSpPr/>
          <p:nvPr/>
        </p:nvSpPr>
        <p:spPr>
          <a:xfrm>
            <a:off x="6199631"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364223"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A3</a:t>
            </a:r>
          </a:p>
        </p:txBody>
      </p:sp>
      <p:sp>
        <p:nvSpPr>
          <p:cNvPr id="26" name="TextBox 25"/>
          <p:cNvSpPr txBox="1"/>
          <p:nvPr/>
        </p:nvSpPr>
        <p:spPr>
          <a:xfrm>
            <a:off x="6976871"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Hasil sebelum regulasi berlaku tidak berubah</a:t>
            </a:r>
          </a:p>
        </p:txBody>
      </p:sp>
      <p:sp>
        <p:nvSpPr>
          <p:cNvPr id="27" name="Rounded Rectangle 26"/>
          <p:cNvSpPr/>
          <p:nvPr/>
        </p:nvSpPr>
        <p:spPr>
          <a:xfrm>
            <a:off x="9025128"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189719"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A4</a:t>
            </a:r>
          </a:p>
        </p:txBody>
      </p:sp>
      <p:sp>
        <p:nvSpPr>
          <p:cNvPr id="29" name="TextBox 28"/>
          <p:cNvSpPr txBox="1"/>
          <p:nvPr/>
        </p:nvSpPr>
        <p:spPr>
          <a:xfrm>
            <a:off x="9802367"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Kebijakan yang menjadi berkonflik dilaporkan</a:t>
            </a:r>
          </a:p>
        </p:txBody>
      </p:sp>
      <p:sp>
        <p:nvSpPr>
          <p:cNvPr id="30" name="Rounded Rectangle 29"/>
          <p:cNvSpPr/>
          <p:nvPr/>
        </p:nvSpPr>
        <p:spPr>
          <a:xfrm>
            <a:off x="548640" y="4846320"/>
            <a:ext cx="5468112" cy="14173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7240" y="498348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DOKUMEN PENGECOH</a:t>
            </a:r>
          </a:p>
        </p:txBody>
      </p:sp>
      <p:sp>
        <p:nvSpPr>
          <p:cNvPr id="32" name="TextBox 31"/>
          <p:cNvSpPr txBox="1"/>
          <p:nvPr/>
        </p:nvSpPr>
        <p:spPr>
          <a:xfrm>
            <a:off x="777240" y="5276088"/>
            <a:ext cx="5029200" cy="91440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PMK 81/2024 dan PER-11/PJ/2025 (Coretax), PMK 6/2026 (pemagangan), PP 20/2026 (UMKM). Jawaban yang benar: tidak mengubah apa pun.</a:t>
            </a:r>
          </a:p>
        </p:txBody>
      </p:sp>
      <p:sp>
        <p:nvSpPr>
          <p:cNvPr id="33" name="Rounded Rectangle 32"/>
          <p:cNvSpPr/>
          <p:nvPr/>
        </p:nvSpPr>
        <p:spPr>
          <a:xfrm>
            <a:off x="6172200" y="4846320"/>
            <a:ext cx="5468112" cy="1417320"/>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0" y="498348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MENGATASI BIAS PANDANGAN BELAKANG</a:t>
            </a:r>
          </a:p>
        </p:txBody>
      </p:sp>
      <p:sp>
        <p:nvSpPr>
          <p:cNvPr id="35" name="TextBox 34"/>
          <p:cNvSpPr txBox="1"/>
          <p:nvPr/>
        </p:nvSpPr>
        <p:spPr>
          <a:xfrm>
            <a:off x="6400800" y="5276088"/>
            <a:ext cx="5029200" cy="914400"/>
          </a:xfrm>
          <a:prstGeom prst="rect">
            <a:avLst/>
          </a:prstGeom>
          <a:noFill/>
        </p:spPr>
        <p:txBody>
          <a:bodyPr wrap="square" lIns="0" rIns="0" tIns="0" bIns="0" anchor="t">
            <a:noAutofit/>
          </a:bodyPr>
          <a:lstStyle/>
          <a:p>
            <a:pPr algn="l">
              <a:lnSpc>
                <a:spcPct val="100000"/>
              </a:lnSpc>
              <a:spcAft>
                <a:spcPts val="0"/>
              </a:spcAft>
            </a:pPr>
            <a:r>
              <a:rPr sz="1250" b="0" i="1">
                <a:solidFill>
                  <a:srgbClr val="1F2937"/>
                </a:solidFill>
                <a:latin typeface="Calibri"/>
              </a:rPr>
              <a:t>Engine</a:t>
            </a:r>
            <a:r>
              <a:rPr sz="1250" b="0" i="0">
                <a:solidFill>
                  <a:srgbClr val="1F2937"/>
                </a:solidFill>
                <a:latin typeface="Calibri"/>
              </a:rPr>
              <a:t> dikembangkan saat perubahan 2023–2026 sudah diketahui. Karena itu diuji juga perubahan tak terlihat yang ditulis orang lain, dan regulasi baru sesudah pra-registrasi.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Konsep sebelum dan sesudah revisi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PERUBAHAN KONSEP</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10</a:t>
            </a:r>
          </a:p>
        </p:txBody>
      </p:sp>
      <p:graphicFrame>
        <p:nvGraphicFramePr>
          <p:cNvPr id="5" name="Table 4"/>
          <p:cNvGraphicFramePr>
            <a:graphicFrameLocks noGrp="1"/>
          </p:cNvGraphicFramePr>
          <p:nvPr/>
        </p:nvGraphicFramePr>
        <p:xfrm>
          <a:off x="548640" y="1536192"/>
          <a:ext cx="11091672" cy="4736592"/>
        </p:xfrm>
        <a:graphic>
          <a:graphicData uri="http://schemas.openxmlformats.org/drawingml/2006/table">
            <a:tbl>
              <a:tblPr firstRow="0" bandRow="0">
                <a:tableStyleId>{5C22544A-7EE6-4342-B048-85BDC9FD1C3A}</a:tableStyleId>
              </a:tblPr>
              <a:tblGrid>
                <a:gridCol w="1737360"/>
                <a:gridCol w="4480560"/>
                <a:gridCol w="4873752"/>
              </a:tblGrid>
              <a:tr h="457200">
                <a:tc>
                  <a:txBody>
                    <a:bodyPr wrap="square"/>
                    <a:lstStyle/>
                    <a:p>
                      <a:r>
                        <a:rPr sz="1250" b="1" i="0">
                          <a:solidFill>
                            <a:srgbClr val="FFFFFF"/>
                          </a:solidFill>
                          <a:latin typeface="Calibri"/>
                        </a:rPr>
                        <a:t>Aspek</a:t>
                      </a:r>
                    </a:p>
                  </a:txBody>
                  <a:tcPr marL="91440" marR="91440" marT="36576" marB="36576" anchor="ctr">
                    <a:solidFill>
                      <a:srgbClr val="14213D"/>
                    </a:solidFill>
                  </a:tcPr>
                </a:tc>
                <a:tc>
                  <a:txBody>
                    <a:bodyPr wrap="square"/>
                    <a:lstStyle/>
                    <a:p>
                      <a:r>
                        <a:rPr sz="1250" b="1" i="0">
                          <a:solidFill>
                            <a:srgbClr val="FFFFFF"/>
                          </a:solidFill>
                          <a:latin typeface="Calibri"/>
                        </a:rPr>
                        <a:t>Sebelum</a:t>
                      </a:r>
                    </a:p>
                  </a:txBody>
                  <a:tcPr marL="91440" marR="91440" marT="36576" marB="36576" anchor="ctr">
                    <a:solidFill>
                      <a:srgbClr val="14213D"/>
                    </a:solidFill>
                  </a:tcPr>
                </a:tc>
                <a:tc>
                  <a:txBody>
                    <a:bodyPr wrap="square"/>
                    <a:lstStyle/>
                    <a:p>
                      <a:r>
                        <a:rPr sz="1250" b="1" i="0">
                          <a:solidFill>
                            <a:srgbClr val="FFFFFF"/>
                          </a:solidFill>
                          <a:latin typeface="Calibri"/>
                        </a:rPr>
                        <a:t>Sesudah revisi</a:t>
                      </a:r>
                    </a:p>
                  </a:txBody>
                  <a:tcPr marL="91440" marR="91440" marT="36576" marB="36576" anchor="ctr">
                    <a:solidFill>
                      <a:srgbClr val="14213D"/>
                    </a:solidFill>
                  </a:tcPr>
                </a:tc>
              </a:tr>
              <a:tr h="534924">
                <a:tc>
                  <a:txBody>
                    <a:bodyPr wrap="square"/>
                    <a:lstStyle/>
                    <a:p>
                      <a:r>
                        <a:rPr sz="1250" b="1" i="0">
                          <a:solidFill>
                            <a:srgbClr val="14213D"/>
                          </a:solidFill>
                          <a:latin typeface="Calibri"/>
                        </a:rPr>
                        <a:t>Judul</a:t>
                      </a:r>
                    </a:p>
                  </a:txBody>
                  <a:tcPr marL="91440" marR="91440" marT="36576" marB="36576" anchor="ctr">
                    <a:solidFill>
                      <a:srgbClr val="FFFFFF"/>
                    </a:solidFill>
                  </a:tcPr>
                </a:tc>
                <a:tc>
                  <a:txBody>
                    <a:bodyPr wrap="square"/>
                    <a:lstStyle/>
                    <a:p>
                      <a:r>
                        <a:rPr sz="1250" b="0" i="0">
                          <a:solidFill>
                            <a:srgbClr val="5B6472"/>
                          </a:solidFill>
                          <a:latin typeface="Calibri"/>
                        </a:rPr>
                        <a:t>KB dua lapis berversi waktu; aplikasi web; validasi tanpa </a:t>
                      </a:r>
                      <a:r>
                        <a:rPr sz="1250" b="0" i="1">
                          <a:solidFill>
                            <a:srgbClr val="5B6472"/>
                          </a:solidFill>
                          <a:latin typeface="Calibri"/>
                        </a:rPr>
                        <a:t>domain expert</a:t>
                      </a:r>
                    </a:p>
                  </a:txBody>
                  <a:tcPr marL="91440" marR="91440" marT="36576" marB="36576" anchor="ctr">
                    <a:solidFill>
                      <a:srgbClr val="FFFFFF"/>
                    </a:solidFill>
                  </a:tcPr>
                </a:tc>
                <a:tc>
                  <a:txBody>
                    <a:bodyPr wrap="square"/>
                    <a:lstStyle/>
                    <a:p>
                      <a:r>
                        <a:rPr sz="1250" b="0" i="0">
                          <a:solidFill>
                            <a:srgbClr val="1F2937"/>
                          </a:solidFill>
                          <a:latin typeface="Calibri"/>
                        </a:rPr>
                        <a:t>KBS adaptif dengan akuisisi pengetahuan berbantuan LLM</a:t>
                      </a:r>
                    </a:p>
                  </a:txBody>
                  <a:tcPr marL="91440" marR="91440" marT="36576" marB="36576" anchor="ctr">
                    <a:solidFill>
                      <a:srgbClr val="FDF0E3"/>
                    </a:solidFill>
                  </a:tcPr>
                </a:tc>
              </a:tr>
              <a:tr h="534924">
                <a:tc>
                  <a:txBody>
                    <a:bodyPr wrap="square"/>
                    <a:lstStyle/>
                    <a:p>
                      <a:r>
                        <a:rPr sz="1250" b="1" i="0">
                          <a:solidFill>
                            <a:srgbClr val="14213D"/>
                          </a:solidFill>
                          <a:latin typeface="Calibri"/>
                        </a:rPr>
                        <a:t>Representasi</a:t>
                      </a:r>
                    </a:p>
                  </a:txBody>
                  <a:tcPr marL="91440" marR="91440" marT="36576" marB="36576" anchor="ctr">
                    <a:solidFill>
                      <a:srgbClr val="F1EEE7"/>
                    </a:solidFill>
                  </a:tcPr>
                </a:tc>
                <a:tc>
                  <a:txBody>
                    <a:bodyPr wrap="square"/>
                    <a:lstStyle/>
                    <a:p>
                      <a:r>
                        <a:rPr sz="1250" b="0" i="0">
                          <a:solidFill>
                            <a:srgbClr val="5B6472"/>
                          </a:solidFill>
                          <a:latin typeface="Calibri"/>
                        </a:rPr>
                        <a:t>DSL YAML dan </a:t>
                      </a:r>
                      <a:r>
                        <a:rPr sz="1250" b="0" i="1">
                          <a:solidFill>
                            <a:srgbClr val="5B6472"/>
                          </a:solidFill>
                          <a:latin typeface="Calibri"/>
                        </a:rPr>
                        <a:t>forward chaining</a:t>
                      </a:r>
                    </a:p>
                  </a:txBody>
                  <a:tcPr marL="91440" marR="91440" marT="36576" marB="36576" anchor="ctr">
                    <a:solidFill>
                      <a:srgbClr val="F1EEE7"/>
                    </a:solidFill>
                  </a:tcPr>
                </a:tc>
                <a:tc>
                  <a:txBody>
                    <a:bodyPr wrap="square"/>
                    <a:lstStyle/>
                    <a:p>
                      <a:r>
                        <a:rPr sz="1250" b="0" i="1">
                          <a:solidFill>
                            <a:srgbClr val="1F2937"/>
                          </a:solidFill>
                          <a:latin typeface="Calibri"/>
                        </a:rPr>
                        <a:t>Legal knowledge graph</a:t>
                      </a:r>
                      <a:r>
                        <a:rPr sz="1250" b="0" i="0">
                          <a:solidFill>
                            <a:srgbClr val="1F2937"/>
                          </a:solidFill>
                          <a:latin typeface="Calibri"/>
                        </a:rPr>
                        <a:t> (RDF/OWL, SHACL, SPARQL) dan </a:t>
                      </a:r>
                      <a:r>
                        <a:rPr sz="1250" b="0" i="1">
                          <a:solidFill>
                            <a:srgbClr val="1F2937"/>
                          </a:solidFill>
                          <a:latin typeface="Calibri"/>
                        </a:rPr>
                        <a:t>engine</a:t>
                      </a:r>
                      <a:r>
                        <a:rPr sz="1250" b="0" i="0">
                          <a:solidFill>
                            <a:srgbClr val="1F2937"/>
                          </a:solidFill>
                          <a:latin typeface="Calibri"/>
                        </a:rPr>
                        <a:t> deterministik</a:t>
                      </a:r>
                    </a:p>
                  </a:txBody>
                  <a:tcPr marL="91440" marR="91440" marT="36576" marB="36576" anchor="ctr">
                    <a:solidFill>
                      <a:srgbClr val="FBE7D3"/>
                    </a:solidFill>
                  </a:tcPr>
                </a:tc>
              </a:tr>
              <a:tr h="534924">
                <a:tc>
                  <a:txBody>
                    <a:bodyPr wrap="square"/>
                    <a:lstStyle/>
                    <a:p>
                      <a:r>
                        <a:rPr sz="1250" b="1" i="0">
                          <a:solidFill>
                            <a:srgbClr val="14213D"/>
                          </a:solidFill>
                          <a:latin typeface="Calibri"/>
                        </a:rPr>
                        <a:t>Peran LLM</a:t>
                      </a:r>
                    </a:p>
                  </a:txBody>
                  <a:tcPr marL="91440" marR="91440" marT="36576" marB="36576" anchor="ctr">
                    <a:solidFill>
                      <a:srgbClr val="FFFFFF"/>
                    </a:solidFill>
                  </a:tcPr>
                </a:tc>
                <a:tc>
                  <a:txBody>
                    <a:bodyPr wrap="square"/>
                    <a:lstStyle/>
                    <a:p>
                      <a:r>
                        <a:rPr sz="1250" b="0" i="0">
                          <a:solidFill>
                            <a:srgbClr val="5B6472"/>
                          </a:solidFill>
                          <a:latin typeface="Calibri"/>
                        </a:rPr>
                        <a:t>Tidak dipakai di kalkulator; asisten KB di luar inti, belum dievaluasi</a:t>
                      </a:r>
                    </a:p>
                  </a:txBody>
                  <a:tcPr marL="91440" marR="91440" marT="36576" marB="36576" anchor="ctr">
                    <a:solidFill>
                      <a:srgbClr val="FFFFFF"/>
                    </a:solidFill>
                  </a:tcPr>
                </a:tc>
                <a:tc>
                  <a:txBody>
                    <a:bodyPr wrap="square"/>
                    <a:lstStyle/>
                    <a:p>
                      <a:r>
                        <a:rPr sz="1250" b="0" i="0">
                          <a:solidFill>
                            <a:srgbClr val="1F2937"/>
                          </a:solidFill>
                          <a:latin typeface="Calibri"/>
                        </a:rPr>
                        <a:t>Objek penelitian: menyusun pembaruan KB, dijaga gerbang G1–G5</a:t>
                      </a:r>
                    </a:p>
                  </a:txBody>
                  <a:tcPr marL="91440" marR="91440" marT="36576" marB="36576" anchor="ctr">
                    <a:solidFill>
                      <a:srgbClr val="FDF0E3"/>
                    </a:solidFill>
                  </a:tcPr>
                </a:tc>
              </a:tr>
              <a:tr h="534924">
                <a:tc>
                  <a:txBody>
                    <a:bodyPr wrap="square"/>
                    <a:lstStyle/>
                    <a:p>
                      <a:r>
                        <a:rPr sz="1250" b="1" i="1">
                          <a:solidFill>
                            <a:srgbClr val="14213D"/>
                          </a:solidFill>
                          <a:latin typeface="Calibri"/>
                        </a:rPr>
                        <a:t>Novelty</a:t>
                      </a:r>
                    </a:p>
                  </a:txBody>
                  <a:tcPr marL="91440" marR="91440" marT="36576" marB="36576" anchor="ctr">
                    <a:solidFill>
                      <a:srgbClr val="F1EEE7"/>
                    </a:solidFill>
                  </a:tcPr>
                </a:tc>
                <a:tc>
                  <a:txBody>
                    <a:bodyPr wrap="square"/>
                    <a:lstStyle/>
                    <a:p>
                      <a:r>
                        <a:rPr sz="1250" b="0" i="0">
                          <a:solidFill>
                            <a:srgbClr val="5B6472"/>
                          </a:solidFill>
                          <a:latin typeface="Calibri"/>
                        </a:rPr>
                        <a:t>Dua lapis dengan resolusi konflik berbasis asas hukum</a:t>
                      </a:r>
                    </a:p>
                  </a:txBody>
                  <a:tcPr marL="91440" marR="91440" marT="36576" marB="36576" anchor="ctr">
                    <a:solidFill>
                      <a:srgbClr val="F1EEE7"/>
                    </a:solidFill>
                  </a:tcPr>
                </a:tc>
                <a:tc>
                  <a:txBody>
                    <a:bodyPr wrap="square"/>
                    <a:lstStyle/>
                    <a:p>
                      <a:r>
                        <a:rPr sz="1250" b="0" i="0">
                          <a:solidFill>
                            <a:srgbClr val="1F2937"/>
                          </a:solidFill>
                          <a:latin typeface="Calibri"/>
                        </a:rPr>
                        <a:t>Pembaruan inkremental KB mengikuti amandemen nyata dan dampak lintas lapis</a:t>
                      </a:r>
                    </a:p>
                  </a:txBody>
                  <a:tcPr marL="91440" marR="91440" marT="36576" marB="36576" anchor="ctr">
                    <a:solidFill>
                      <a:srgbClr val="FBE7D3"/>
                    </a:solidFill>
                  </a:tcPr>
                </a:tc>
              </a:tr>
              <a:tr h="534924">
                <a:tc>
                  <a:txBody>
                    <a:bodyPr wrap="square"/>
                    <a:lstStyle/>
                    <a:p>
                      <a:r>
                        <a:rPr sz="1250" b="1" i="0">
                          <a:solidFill>
                            <a:srgbClr val="14213D"/>
                          </a:solidFill>
                          <a:latin typeface="Calibri"/>
                        </a:rPr>
                        <a:t>Pertanyaan</a:t>
                      </a:r>
                    </a:p>
                  </a:txBody>
                  <a:tcPr marL="91440" marR="91440" marT="36576" marB="36576" anchor="ctr">
                    <a:solidFill>
                      <a:srgbClr val="FFFFFF"/>
                    </a:solidFill>
                  </a:tcPr>
                </a:tc>
                <a:tc>
                  <a:txBody>
                    <a:bodyPr wrap="square"/>
                    <a:lstStyle/>
                    <a:p>
                      <a:r>
                        <a:rPr sz="1250" b="0" i="0">
                          <a:solidFill>
                            <a:srgbClr val="5B6472"/>
                          </a:solidFill>
                          <a:latin typeface="Calibri"/>
                        </a:rPr>
                        <a:t>5 RQ: representasi, kebenaran, adaptabilitas, konflik, </a:t>
                      </a:r>
                      <a:r>
                        <a:rPr sz="1250" b="0" i="1">
                          <a:solidFill>
                            <a:srgbClr val="5B6472"/>
                          </a:solidFill>
                          <a:latin typeface="Calibri"/>
                        </a:rPr>
                        <a:t>gross-up</a:t>
                      </a:r>
                    </a:p>
                  </a:txBody>
                  <a:tcPr marL="91440" marR="91440" marT="36576" marB="36576" anchor="ctr">
                    <a:solidFill>
                      <a:srgbClr val="FFFFFF"/>
                    </a:solidFill>
                  </a:tcPr>
                </a:tc>
                <a:tc>
                  <a:txBody>
                    <a:bodyPr wrap="square"/>
                    <a:lstStyle/>
                    <a:p>
                      <a:r>
                        <a:rPr sz="1250" b="0" i="0">
                          <a:solidFill>
                            <a:srgbClr val="1F2937"/>
                          </a:solidFill>
                          <a:latin typeface="Calibri"/>
                        </a:rPr>
                        <a:t>4 RQ: adaptivitas representasi, akuisisi, </a:t>
                      </a:r>
                      <a:r>
                        <a:rPr sz="1250" b="0" i="1">
                          <a:solidFill>
                            <a:srgbClr val="1F2937"/>
                          </a:solidFill>
                          <a:latin typeface="Calibri"/>
                        </a:rPr>
                        <a:t>replay</a:t>
                      </a:r>
                      <a:r>
                        <a:rPr sz="1250" b="0" i="0">
                          <a:solidFill>
                            <a:srgbClr val="1F2937"/>
                          </a:solidFill>
                          <a:latin typeface="Calibri"/>
                        </a:rPr>
                        <a:t> berantai, dampak lintas lapis</a:t>
                      </a:r>
                    </a:p>
                  </a:txBody>
                  <a:tcPr marL="91440" marR="91440" marT="36576" marB="36576" anchor="ctr">
                    <a:solidFill>
                      <a:srgbClr val="FDF0E3"/>
                    </a:solidFill>
                  </a:tcPr>
                </a:tc>
              </a:tr>
              <a:tr h="534924">
                <a:tc>
                  <a:txBody>
                    <a:bodyPr wrap="square"/>
                    <a:lstStyle/>
                    <a:p>
                      <a:r>
                        <a:rPr sz="1250" b="1" i="0">
                          <a:solidFill>
                            <a:srgbClr val="14213D"/>
                          </a:solidFill>
                          <a:latin typeface="Calibri"/>
                        </a:rPr>
                        <a:t>Metrik</a:t>
                      </a:r>
                    </a:p>
                  </a:txBody>
                  <a:tcPr marL="91440" marR="91440" marT="36576" marB="36576" anchor="ctr">
                    <a:solidFill>
                      <a:srgbClr val="F1EEE7"/>
                    </a:solidFill>
                  </a:tcPr>
                </a:tc>
                <a:tc>
                  <a:txBody>
                    <a:bodyPr wrap="square"/>
                    <a:lstStyle/>
                    <a:p>
                      <a:r>
                        <a:rPr sz="1250" b="0" i="0">
                          <a:solidFill>
                            <a:srgbClr val="5B6472"/>
                          </a:solidFill>
                          <a:latin typeface="Calibri"/>
                        </a:rPr>
                        <a:t>Selisih tak terjelaskan = 0, </a:t>
                      </a:r>
                      <a:r>
                        <a:rPr sz="1250" b="0" i="1">
                          <a:solidFill>
                            <a:srgbClr val="5B6472"/>
                          </a:solidFill>
                          <a:latin typeface="Calibri"/>
                        </a:rPr>
                        <a:t>impact</a:t>
                      </a:r>
                      <a:r>
                        <a:rPr sz="1250" b="0" i="0">
                          <a:solidFill>
                            <a:srgbClr val="5B6472"/>
                          </a:solidFill>
                          <a:latin typeface="Calibri"/>
                        </a:rPr>
                        <a:t> F1, </a:t>
                      </a:r>
                      <a:r>
                        <a:rPr sz="1250" b="0" i="1">
                          <a:solidFill>
                            <a:srgbClr val="5B6472"/>
                          </a:solidFill>
                          <a:latin typeface="Calibri"/>
                        </a:rPr>
                        <a:t>mutation score</a:t>
                      </a:r>
                    </a:p>
                  </a:txBody>
                  <a:tcPr marL="91440" marR="91440" marT="36576" marB="36576" anchor="ctr">
                    <a:solidFill>
                      <a:srgbClr val="F1EEE7"/>
                    </a:solidFill>
                  </a:tcPr>
                </a:tc>
                <a:tc>
                  <a:txBody>
                    <a:bodyPr wrap="square"/>
                    <a:lstStyle/>
                    <a:p>
                      <a:r>
                        <a:rPr sz="1250" b="0" i="0">
                          <a:solidFill>
                            <a:srgbClr val="1F2937"/>
                          </a:solidFill>
                          <a:latin typeface="Calibri"/>
                        </a:rPr>
                        <a:t>RA, SER dan CAR, OAR dan kesalahan terpicu, </a:t>
                      </a:r>
                      <a:r>
                        <a:rPr sz="1250" b="0" i="1">
                          <a:solidFill>
                            <a:srgbClr val="1F2937"/>
                          </a:solidFill>
                          <a:latin typeface="Calibri"/>
                        </a:rPr>
                        <a:t>recall</a:t>
                      </a:r>
                      <a:r>
                        <a:rPr sz="1250" b="0" i="0">
                          <a:solidFill>
                            <a:srgbClr val="1F2937"/>
                          </a:solidFill>
                          <a:latin typeface="Calibri"/>
                        </a:rPr>
                        <a:t> dan F2, dengan CI eksak</a:t>
                      </a:r>
                    </a:p>
                  </a:txBody>
                  <a:tcPr marL="91440" marR="91440" marT="36576" marB="36576" anchor="ctr">
                    <a:solidFill>
                      <a:srgbClr val="FBE7D3"/>
                    </a:solidFill>
                  </a:tcPr>
                </a:tc>
              </a:tr>
              <a:tr h="534924">
                <a:tc>
                  <a:txBody>
                    <a:bodyPr wrap="square"/>
                    <a:lstStyle/>
                    <a:p>
                      <a:r>
                        <a:rPr sz="1250" b="1" i="1">
                          <a:solidFill>
                            <a:srgbClr val="14213D"/>
                          </a:solidFill>
                          <a:latin typeface="Calibri"/>
                        </a:rPr>
                        <a:t>Ground truth</a:t>
                      </a:r>
                    </a:p>
                  </a:txBody>
                  <a:tcPr marL="91440" marR="91440" marT="36576" marB="36576" anchor="ctr">
                    <a:solidFill>
                      <a:srgbClr val="FFFFFF"/>
                    </a:solidFill>
                  </a:tcPr>
                </a:tc>
                <a:tc>
                  <a:txBody>
                    <a:bodyPr wrap="square"/>
                    <a:lstStyle/>
                    <a:p>
                      <a:r>
                        <a:rPr sz="1250" b="0" i="0">
                          <a:solidFill>
                            <a:srgbClr val="5B6472"/>
                          </a:solidFill>
                          <a:latin typeface="Calibri"/>
                        </a:rPr>
                        <a:t>Validasi berlapis V1–V3 dan </a:t>
                      </a:r>
                      <a:r>
                        <a:rPr sz="1250" b="0" i="1">
                          <a:solidFill>
                            <a:srgbClr val="5B6472"/>
                          </a:solidFill>
                          <a:latin typeface="Calibri"/>
                        </a:rPr>
                        <a:t>mutation testing</a:t>
                      </a:r>
                    </a:p>
                  </a:txBody>
                  <a:tcPr marL="91440" marR="91440" marT="36576" marB="36576" anchor="ctr">
                    <a:solidFill>
                      <a:srgbClr val="FFFFFF"/>
                    </a:solidFill>
                  </a:tcPr>
                </a:tc>
                <a:tc>
                  <a:txBody>
                    <a:bodyPr wrap="square"/>
                    <a:lstStyle/>
                    <a:p>
                      <a:r>
                        <a:rPr sz="1250" b="0" i="0">
                          <a:solidFill>
                            <a:srgbClr val="1F2937"/>
                          </a:solidFill>
                          <a:latin typeface="Calibri"/>
                        </a:rPr>
                        <a:t>Rantai kepercayaan GT1–GT5 dan ruang uji kombinatorial</a:t>
                      </a:r>
                    </a:p>
                  </a:txBody>
                  <a:tcPr marL="91440" marR="91440" marT="36576" marB="36576" anchor="ctr">
                    <a:solidFill>
                      <a:srgbClr val="FDF0E3"/>
                    </a:solidFill>
                  </a:tcPr>
                </a:tc>
              </a:tr>
              <a:tr h="534924">
                <a:tc>
                  <a:txBody>
                    <a:bodyPr wrap="square"/>
                    <a:lstStyle/>
                    <a:p>
                      <a:r>
                        <a:rPr sz="1250" b="1" i="0">
                          <a:solidFill>
                            <a:srgbClr val="14213D"/>
                          </a:solidFill>
                          <a:latin typeface="Calibri"/>
                        </a:rPr>
                        <a:t>Bukti adaptasi</a:t>
                      </a:r>
                    </a:p>
                  </a:txBody>
                  <a:tcPr marL="91440" marR="91440" marT="36576" marB="36576" anchor="ctr">
                    <a:solidFill>
                      <a:srgbClr val="F1EEE7"/>
                    </a:solidFill>
                  </a:tcPr>
                </a:tc>
                <a:tc>
                  <a:txBody>
                    <a:bodyPr wrap="square"/>
                    <a:lstStyle/>
                    <a:p>
                      <a:r>
                        <a:rPr sz="1250" b="0" i="0">
                          <a:solidFill>
                            <a:srgbClr val="5B6472"/>
                          </a:solidFill>
                          <a:latin typeface="Calibri"/>
                        </a:rPr>
                        <a:t>4 perubahan sintetis; 0 berkas </a:t>
                      </a:r>
                      <a:r>
                        <a:rPr sz="1250" b="0" i="1">
                          <a:solidFill>
                            <a:srgbClr val="5B6472"/>
                          </a:solidFill>
                          <a:latin typeface="Calibri"/>
                        </a:rPr>
                        <a:t>engine</a:t>
                      </a:r>
                      <a:r>
                        <a:rPr sz="1250" b="0" i="0">
                          <a:solidFill>
                            <a:srgbClr val="5B6472"/>
                          </a:solidFill>
                          <a:latin typeface="Calibri"/>
                        </a:rPr>
                        <a:t> berubah</a:t>
                      </a:r>
                    </a:p>
                  </a:txBody>
                  <a:tcPr marL="91440" marR="91440" marT="36576" marB="36576" anchor="ctr">
                    <a:solidFill>
                      <a:srgbClr val="F1EEE7"/>
                    </a:solidFill>
                  </a:tcPr>
                </a:tc>
                <a:tc>
                  <a:txBody>
                    <a:bodyPr wrap="square"/>
                    <a:lstStyle/>
                    <a:p>
                      <a:r>
                        <a:rPr sz="1250" b="0" i="1">
                          <a:solidFill>
                            <a:srgbClr val="1F2937"/>
                          </a:solidFill>
                          <a:latin typeface="Calibri"/>
                        </a:rPr>
                        <a:t>Regulation replay</a:t>
                      </a:r>
                      <a:r>
                        <a:rPr sz="1250" b="0" i="0">
                          <a:solidFill>
                            <a:srgbClr val="1F2937"/>
                          </a:solidFill>
                          <a:latin typeface="Calibri"/>
                        </a:rPr>
                        <a:t> perubahan nyata 2023–2026 dan perubahan tak terlihat</a:t>
                      </a:r>
                    </a:p>
                  </a:txBody>
                  <a:tcPr marL="91440" marR="91440" marT="36576" marB="36576" anchor="ctr">
                    <a:solidFill>
                      <a:srgbClr val="FBE7D3"/>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Draf paper: 8 halaman, fokus ke penelitian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PROGRES DRAF PAPER</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11</a:t>
            </a:r>
          </a:p>
        </p:txBody>
      </p:sp>
      <p:sp>
        <p:nvSpPr>
          <p:cNvPr id="5" name="TextBox 4"/>
          <p:cNvSpPr txBox="1"/>
          <p:nvPr/>
        </p:nvSpPr>
        <p:spPr>
          <a:xfrm>
            <a:off x="548640" y="1572768"/>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Abstrak</a:t>
            </a:r>
          </a:p>
        </p:txBody>
      </p:sp>
      <p:sp>
        <p:nvSpPr>
          <p:cNvPr id="6" name="Rounded Rectangle 5"/>
          <p:cNvSpPr/>
          <p:nvPr/>
        </p:nvSpPr>
        <p:spPr>
          <a:xfrm>
            <a:off x="4343400" y="1609344"/>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Menunggu hasil</a:t>
            </a:r>
          </a:p>
        </p:txBody>
      </p:sp>
      <p:sp>
        <p:nvSpPr>
          <p:cNvPr id="7" name="TextBox 6"/>
          <p:cNvSpPr txBox="1"/>
          <p:nvPr/>
        </p:nvSpPr>
        <p:spPr>
          <a:xfrm>
            <a:off x="548640" y="2002536"/>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  Pendahuluan</a:t>
            </a:r>
          </a:p>
        </p:txBody>
      </p:sp>
      <p:sp>
        <p:nvSpPr>
          <p:cNvPr id="8" name="Rounded Rectangle 7"/>
          <p:cNvSpPr/>
          <p:nvPr/>
        </p:nvSpPr>
        <p:spPr>
          <a:xfrm>
            <a:off x="4343400" y="2039112"/>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9" name="TextBox 8"/>
          <p:cNvSpPr txBox="1"/>
          <p:nvPr/>
        </p:nvSpPr>
        <p:spPr>
          <a:xfrm>
            <a:off x="548640" y="2432304"/>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II  Latar belakang dan rumusan masalah</a:t>
            </a:r>
          </a:p>
        </p:txBody>
      </p:sp>
      <p:sp>
        <p:nvSpPr>
          <p:cNvPr id="10" name="Rounded Rectangle 9"/>
          <p:cNvSpPr/>
          <p:nvPr/>
        </p:nvSpPr>
        <p:spPr>
          <a:xfrm>
            <a:off x="4343400" y="2468880"/>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11" name="TextBox 10"/>
          <p:cNvSpPr txBox="1"/>
          <p:nvPr/>
        </p:nvSpPr>
        <p:spPr>
          <a:xfrm>
            <a:off x="548640" y="2862072"/>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III  Penelitian terkait</a:t>
            </a:r>
          </a:p>
        </p:txBody>
      </p:sp>
      <p:sp>
        <p:nvSpPr>
          <p:cNvPr id="12" name="Rounded Rectangle 11"/>
          <p:cNvSpPr/>
          <p:nvPr/>
        </p:nvSpPr>
        <p:spPr>
          <a:xfrm>
            <a:off x="4343400" y="2898648"/>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13" name="TextBox 12"/>
          <p:cNvSpPr txBox="1"/>
          <p:nvPr/>
        </p:nvSpPr>
        <p:spPr>
          <a:xfrm>
            <a:off x="548640" y="3291839"/>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IV  Representasi dan </a:t>
            </a:r>
            <a:r>
              <a:rPr sz="1350" b="0" i="1">
                <a:solidFill>
                  <a:srgbClr val="14213D"/>
                </a:solidFill>
                <a:latin typeface="Calibri"/>
              </a:rPr>
              <a:t>inference engine</a:t>
            </a:r>
          </a:p>
        </p:txBody>
      </p:sp>
      <p:sp>
        <p:nvSpPr>
          <p:cNvPr id="14" name="Rounded Rectangle 13"/>
          <p:cNvSpPr/>
          <p:nvPr/>
        </p:nvSpPr>
        <p:spPr>
          <a:xfrm>
            <a:off x="4343400" y="3328415"/>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Lengkap, parameter terbuka</a:t>
            </a:r>
          </a:p>
        </p:txBody>
      </p:sp>
      <p:sp>
        <p:nvSpPr>
          <p:cNvPr id="15" name="TextBox 14"/>
          <p:cNvSpPr txBox="1"/>
          <p:nvPr/>
        </p:nvSpPr>
        <p:spPr>
          <a:xfrm>
            <a:off x="548640" y="3721607"/>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  Akuisisi pengetahuan berbantuan LLM</a:t>
            </a:r>
          </a:p>
        </p:txBody>
      </p:sp>
      <p:sp>
        <p:nvSpPr>
          <p:cNvPr id="16" name="Rounded Rectangle 15"/>
          <p:cNvSpPr/>
          <p:nvPr/>
        </p:nvSpPr>
        <p:spPr>
          <a:xfrm>
            <a:off x="4343400" y="3758183"/>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Lengkap, parameter terbuka</a:t>
            </a:r>
          </a:p>
        </p:txBody>
      </p:sp>
      <p:sp>
        <p:nvSpPr>
          <p:cNvPr id="17" name="TextBox 16"/>
          <p:cNvSpPr txBox="1"/>
          <p:nvPr/>
        </p:nvSpPr>
        <p:spPr>
          <a:xfrm>
            <a:off x="548640" y="4151376"/>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  Metodologi evaluasi</a:t>
            </a:r>
          </a:p>
        </p:txBody>
      </p:sp>
      <p:sp>
        <p:nvSpPr>
          <p:cNvPr id="18" name="Rounded Rectangle 17"/>
          <p:cNvSpPr/>
          <p:nvPr/>
        </p:nvSpPr>
        <p:spPr>
          <a:xfrm>
            <a:off x="4343400" y="4187952"/>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Lengkap, parameter terbuka</a:t>
            </a:r>
          </a:p>
        </p:txBody>
      </p:sp>
      <p:sp>
        <p:nvSpPr>
          <p:cNvPr id="19" name="TextBox 18"/>
          <p:cNvSpPr txBox="1"/>
          <p:nvPr/>
        </p:nvSpPr>
        <p:spPr>
          <a:xfrm>
            <a:off x="548640" y="4581144"/>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VII  Hasil dan pembahasan</a:t>
            </a:r>
          </a:p>
        </p:txBody>
      </p:sp>
      <p:sp>
        <p:nvSpPr>
          <p:cNvPr id="20" name="Rounded Rectangle 19"/>
          <p:cNvSpPr/>
          <p:nvPr/>
        </p:nvSpPr>
        <p:spPr>
          <a:xfrm>
            <a:off x="4343400" y="4617720"/>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Menunggu hasil</a:t>
            </a:r>
          </a:p>
        </p:txBody>
      </p:sp>
      <p:sp>
        <p:nvSpPr>
          <p:cNvPr id="21" name="TextBox 20"/>
          <p:cNvSpPr txBox="1"/>
          <p:nvPr/>
        </p:nvSpPr>
        <p:spPr>
          <a:xfrm>
            <a:off x="548640" y="5010912"/>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VIII  Kesimpulan</a:t>
            </a:r>
          </a:p>
        </p:txBody>
      </p:sp>
      <p:sp>
        <p:nvSpPr>
          <p:cNvPr id="22" name="Rounded Rectangle 21"/>
          <p:cNvSpPr/>
          <p:nvPr/>
        </p:nvSpPr>
        <p:spPr>
          <a:xfrm>
            <a:off x="4343400" y="5047488"/>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Menunggu hasil</a:t>
            </a:r>
          </a:p>
        </p:txBody>
      </p:sp>
      <p:sp>
        <p:nvSpPr>
          <p:cNvPr id="23" name="TextBox 22"/>
          <p:cNvSpPr txBox="1"/>
          <p:nvPr/>
        </p:nvSpPr>
        <p:spPr>
          <a:xfrm>
            <a:off x="548640" y="5577840"/>
            <a:ext cx="6400800" cy="41148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Bagian VII sudah memuat ancaman terhadap validitas.</a:t>
            </a:r>
          </a:p>
        </p:txBody>
      </p:sp>
      <p:sp>
        <p:nvSpPr>
          <p:cNvPr id="24" name="Rounded Rectangle 23"/>
          <p:cNvSpPr/>
          <p:nvPr/>
        </p:nvSpPr>
        <p:spPr>
          <a:xfrm>
            <a:off x="7269480" y="157276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52360" y="166420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8</a:t>
            </a:r>
          </a:p>
        </p:txBody>
      </p:sp>
      <p:sp>
        <p:nvSpPr>
          <p:cNvPr id="26" name="TextBox 25"/>
          <p:cNvSpPr txBox="1"/>
          <p:nvPr/>
        </p:nvSpPr>
        <p:spPr>
          <a:xfrm>
            <a:off x="7452360" y="235000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halaman, format IEEE dua kolom</a:t>
            </a:r>
          </a:p>
        </p:txBody>
      </p:sp>
      <p:sp>
        <p:nvSpPr>
          <p:cNvPr id="27" name="Rounded Rectangle 26"/>
          <p:cNvSpPr/>
          <p:nvPr/>
        </p:nvSpPr>
        <p:spPr>
          <a:xfrm>
            <a:off x="9482328" y="157276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665208" y="166420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6</a:t>
            </a:r>
          </a:p>
        </p:txBody>
      </p:sp>
      <p:sp>
        <p:nvSpPr>
          <p:cNvPr id="29" name="TextBox 28"/>
          <p:cNvSpPr txBox="1"/>
          <p:nvPr/>
        </p:nvSpPr>
        <p:spPr>
          <a:xfrm>
            <a:off x="9665208" y="235000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definisi formal dan 1 algoritma</a:t>
            </a:r>
          </a:p>
        </p:txBody>
      </p:sp>
      <p:sp>
        <p:nvSpPr>
          <p:cNvPr id="30" name="Rounded Rectangle 29"/>
          <p:cNvSpPr/>
          <p:nvPr/>
        </p:nvSpPr>
        <p:spPr>
          <a:xfrm>
            <a:off x="7269480" y="299008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52360" y="308152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37</a:t>
            </a:r>
          </a:p>
        </p:txBody>
      </p:sp>
      <p:sp>
        <p:nvSpPr>
          <p:cNvPr id="32" name="TextBox 31"/>
          <p:cNvSpPr txBox="1"/>
          <p:nvPr/>
        </p:nvSpPr>
        <p:spPr>
          <a:xfrm>
            <a:off x="7452360" y="376732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rujukan terfilter, dengan 3 pengecualian</a:t>
            </a:r>
          </a:p>
        </p:txBody>
      </p:sp>
      <p:sp>
        <p:nvSpPr>
          <p:cNvPr id="33" name="Rounded Rectangle 32"/>
          <p:cNvSpPr/>
          <p:nvPr/>
        </p:nvSpPr>
        <p:spPr>
          <a:xfrm>
            <a:off x="9482328" y="299008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665208" y="308152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6</a:t>
            </a:r>
          </a:p>
        </p:txBody>
      </p:sp>
      <p:sp>
        <p:nvSpPr>
          <p:cNvPr id="35" name="TextBox 34"/>
          <p:cNvSpPr txBox="1"/>
          <p:nvPr/>
        </p:nvSpPr>
        <p:spPr>
          <a:xfrm>
            <a:off x="9665208" y="376732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tabel dan 2 gambar arsitektur</a:t>
            </a:r>
          </a:p>
        </p:txBody>
      </p:sp>
      <p:sp>
        <p:nvSpPr>
          <p:cNvPr id="36" name="Rounded Rectangle 35"/>
          <p:cNvSpPr/>
          <p:nvPr/>
        </p:nvSpPr>
        <p:spPr>
          <a:xfrm>
            <a:off x="7269480" y="4498848"/>
            <a:ext cx="4315968" cy="178308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498079" y="4617720"/>
            <a:ext cx="393192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LOKASI DAN PENANDA</a:t>
            </a:r>
          </a:p>
        </p:txBody>
      </p:sp>
      <p:sp>
        <p:nvSpPr>
          <p:cNvPr id="38" name="TextBox 37"/>
          <p:cNvSpPr txBox="1"/>
          <p:nvPr/>
        </p:nvSpPr>
        <p:spPr>
          <a:xfrm>
            <a:off x="7498079" y="4910328"/>
            <a:ext cx="3931920" cy="1325880"/>
          </a:xfrm>
          <a:prstGeom prst="rect">
            <a:avLst/>
          </a:prstGeom>
          <a:noFill/>
        </p:spPr>
        <p:txBody>
          <a:bodyPr wrap="square" lIns="0" rIns="0" tIns="0" bIns="0" anchor="t">
            <a:noAutofit/>
          </a:bodyPr>
          <a:lstStyle/>
          <a:p>
            <a:pPr algn="l">
              <a:lnSpc>
                <a:spcPct val="100000"/>
              </a:lnSpc>
              <a:spcAft>
                <a:spcPts val="600"/>
              </a:spcAft>
            </a:pPr>
            <a:r>
              <a:rPr sz="1250" b="0" i="0">
                <a:solidFill>
                  <a:srgbClr val="FFFFFF"/>
                </a:solidFill>
                <a:latin typeface="Calibri"/>
              </a:rPr>
              <a:t>paper/draft/naskah_draf_v8/</a:t>
            </a:r>
          </a:p>
          <a:p>
            <a:pPr algn="l">
              <a:lnSpc>
                <a:spcPct val="100000"/>
              </a:lnSpc>
              <a:spcAft>
                <a:spcPts val="400"/>
              </a:spcAft>
            </a:pPr>
            <a:r>
              <a:rPr sz="1250" b="0" i="0">
                <a:solidFill>
                  <a:srgbClr val="FFFFFF"/>
                </a:solidFill>
                <a:latin typeface="Calibri"/>
              </a:rPr>
              <a:t>Teks abu-abu di PDF: menunggu hasil eksperimen</a:t>
            </a:r>
          </a:p>
          <a:p>
            <a:pPr algn="l">
              <a:lnSpc>
                <a:spcPct val="100000"/>
              </a:lnSpc>
              <a:spcAft>
                <a:spcPts val="0"/>
              </a:spcAft>
            </a:pPr>
            <a:r>
              <a:rPr sz="1250" b="0" i="0">
                <a:solidFill>
                  <a:srgbClr val="FFFFFF"/>
                </a:solidFill>
                <a:latin typeface="Calibri"/>
              </a:rPr>
              <a:t>Status dan keputusan terbuka: PENJELASAN_DRAFT_PAPER_DAN_PPT.md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Yang sudah ada di prototipe dan yang masih rancangan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STATUS IMPLEMENTASI</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12</a:t>
            </a:r>
          </a:p>
        </p:txBody>
      </p:sp>
      <p:sp>
        <p:nvSpPr>
          <p:cNvPr id="5" name="Rounded Rectangle 4"/>
          <p:cNvSpPr/>
          <p:nvPr/>
        </p:nvSpPr>
        <p:spPr>
          <a:xfrm>
            <a:off x="548640" y="1554480"/>
            <a:ext cx="5468112" cy="4343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19072"/>
            <a:ext cx="50292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D6B63"/>
                </a:solidFill>
                <a:latin typeface="Calibri"/>
              </a:rPr>
              <a:t>SUDAH ADA (PROTOTIPE)</a:t>
            </a:r>
          </a:p>
        </p:txBody>
      </p:sp>
      <p:sp>
        <p:nvSpPr>
          <p:cNvPr id="7" name="Oval 6"/>
          <p:cNvSpPr/>
          <p:nvPr/>
        </p:nvSpPr>
        <p:spPr>
          <a:xfrm>
            <a:off x="777240" y="2167127"/>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8" name="TextBox 7"/>
          <p:cNvSpPr txBox="1"/>
          <p:nvPr/>
        </p:nvSpPr>
        <p:spPr>
          <a:xfrm>
            <a:off x="1188720" y="2103120"/>
            <a:ext cx="4663440" cy="685800"/>
          </a:xfrm>
          <a:prstGeom prst="rect">
            <a:avLst/>
          </a:prstGeom>
          <a:noFill/>
        </p:spPr>
        <p:txBody>
          <a:bodyPr wrap="square" lIns="0" rIns="0" tIns="0" bIns="0" anchor="t">
            <a:noAutofit/>
          </a:bodyPr>
          <a:lstStyle/>
          <a:p>
            <a:pPr algn="l">
              <a:lnSpc>
                <a:spcPct val="100000"/>
              </a:lnSpc>
              <a:spcAft>
                <a:spcPts val="0"/>
              </a:spcAft>
            </a:pPr>
            <a:r>
              <a:rPr sz="1300" b="0" i="1">
                <a:solidFill>
                  <a:srgbClr val="1F2937"/>
                </a:solidFill>
                <a:latin typeface="Calibri"/>
              </a:rPr>
              <a:t>Inference engine</a:t>
            </a:r>
            <a:r>
              <a:rPr sz="1300" b="0" i="0">
                <a:solidFill>
                  <a:srgbClr val="1F2937"/>
                </a:solidFill>
                <a:latin typeface="Calibri"/>
              </a:rPr>
              <a:t> deterministik: resolusi konflik, </a:t>
            </a:r>
            <a:r>
              <a:rPr sz="1300" b="0" i="1">
                <a:solidFill>
                  <a:srgbClr val="1F2937"/>
                </a:solidFill>
                <a:latin typeface="Calibri"/>
              </a:rPr>
              <a:t>fixed point gross-up</a:t>
            </a:r>
            <a:r>
              <a:rPr sz="1300" b="0" i="0">
                <a:solidFill>
                  <a:srgbClr val="1F2937"/>
                </a:solidFill>
                <a:latin typeface="Calibri"/>
              </a:rPr>
              <a:t>, aritmetika eksak, jejak sampai pasal</a:t>
            </a:r>
          </a:p>
        </p:txBody>
      </p:sp>
      <p:sp>
        <p:nvSpPr>
          <p:cNvPr id="9" name="Oval 8"/>
          <p:cNvSpPr/>
          <p:nvPr/>
        </p:nvSpPr>
        <p:spPr>
          <a:xfrm>
            <a:off x="777240" y="2898647"/>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0" name="TextBox 9"/>
          <p:cNvSpPr txBox="1"/>
          <p:nvPr/>
        </p:nvSpPr>
        <p:spPr>
          <a:xfrm>
            <a:off x="1188720" y="2834639"/>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KB YAML 90 aturan regulasi dan 32 aturan Perusahaan X; 45 contoh resmi, 1.213 nilai, 0 selisih tak terjelaskan</a:t>
            </a:r>
          </a:p>
        </p:txBody>
      </p:sp>
      <p:sp>
        <p:nvSpPr>
          <p:cNvPr id="11" name="Oval 10"/>
          <p:cNvSpPr/>
          <p:nvPr/>
        </p:nvSpPr>
        <p:spPr>
          <a:xfrm>
            <a:off x="777240" y="363016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2" name="TextBox 11"/>
          <p:cNvSpPr txBox="1"/>
          <p:nvPr/>
        </p:nvSpPr>
        <p:spPr>
          <a:xfrm>
            <a:off x="1188720" y="356616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Mini demo: </a:t>
            </a:r>
            <a:r>
              <a:rPr sz="1300" b="0" i="1">
                <a:solidFill>
                  <a:srgbClr val="1F2937"/>
                </a:solidFill>
                <a:latin typeface="Calibri"/>
              </a:rPr>
              <a:t>knowledge graph</a:t>
            </a:r>
            <a:r>
              <a:rPr sz="1300" b="0" i="0">
                <a:solidFill>
                  <a:srgbClr val="1F2937"/>
                </a:solidFill>
                <a:latin typeface="Calibri"/>
              </a:rPr>
              <a:t> RDF, validasi SHACL, </a:t>
            </a:r>
            <a:r>
              <a:rPr sz="1300" b="0" i="1">
                <a:solidFill>
                  <a:srgbClr val="1F2937"/>
                </a:solidFill>
                <a:latin typeface="Calibri"/>
              </a:rPr>
              <a:t>query</a:t>
            </a:r>
            <a:r>
              <a:rPr sz="1300" b="0" i="0">
                <a:solidFill>
                  <a:srgbClr val="1F2937"/>
                </a:solidFill>
                <a:latin typeface="Calibri"/>
              </a:rPr>
              <a:t> SPARQL, dan </a:t>
            </a:r>
            <a:r>
              <a:rPr sz="1300" b="0" i="1">
                <a:solidFill>
                  <a:srgbClr val="1F2937"/>
                </a:solidFill>
                <a:latin typeface="Calibri"/>
              </a:rPr>
              <a:t>replay</a:t>
            </a:r>
            <a:r>
              <a:rPr sz="1300" b="0" i="0">
                <a:solidFill>
                  <a:srgbClr val="1F2937"/>
                </a:solidFill>
                <a:latin typeface="Calibri"/>
              </a:rPr>
              <a:t> dari KB awal sampai E4</a:t>
            </a:r>
          </a:p>
        </p:txBody>
      </p:sp>
      <p:sp>
        <p:nvSpPr>
          <p:cNvPr id="13" name="Oval 12"/>
          <p:cNvSpPr/>
          <p:nvPr/>
        </p:nvSpPr>
        <p:spPr>
          <a:xfrm>
            <a:off x="777240" y="436168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4" name="TextBox 13"/>
          <p:cNvSpPr txBox="1"/>
          <p:nvPr/>
        </p:nvSpPr>
        <p:spPr>
          <a:xfrm>
            <a:off x="1188720" y="429768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Mini demo: gerbang G1–G5, konsensus perilaku, dan </a:t>
            </a:r>
            <a:r>
              <a:rPr sz="1300" b="0" i="1">
                <a:solidFill>
                  <a:srgbClr val="1F2937"/>
                </a:solidFill>
                <a:latin typeface="Calibri"/>
              </a:rPr>
              <a:t>abstain</a:t>
            </a:r>
            <a:r>
              <a:rPr sz="1300" b="0" i="0">
                <a:solidFill>
                  <a:srgbClr val="1F2937"/>
                </a:solidFill>
                <a:latin typeface="Calibri"/>
              </a:rPr>
              <a:t>, dijalankan dengan LLM tiruan</a:t>
            </a:r>
          </a:p>
        </p:txBody>
      </p:sp>
      <p:sp>
        <p:nvSpPr>
          <p:cNvPr id="15" name="Oval 14"/>
          <p:cNvSpPr/>
          <p:nvPr/>
        </p:nvSpPr>
        <p:spPr>
          <a:xfrm>
            <a:off x="777240" y="509320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6" name="TextBox 15"/>
          <p:cNvSpPr txBox="1"/>
          <p:nvPr/>
        </p:nvSpPr>
        <p:spPr>
          <a:xfrm>
            <a:off x="1188720" y="502920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Asisten KB (PDF ke rancangan aturan lewat LLM): baru diuji sekali pada PDF fiktif</a:t>
            </a:r>
          </a:p>
        </p:txBody>
      </p:sp>
      <p:sp>
        <p:nvSpPr>
          <p:cNvPr id="17" name="Rounded Rectangle 16"/>
          <p:cNvSpPr/>
          <p:nvPr/>
        </p:nvSpPr>
        <p:spPr>
          <a:xfrm>
            <a:off x="6172200" y="1554480"/>
            <a:ext cx="5468112" cy="4343400"/>
          </a:xfrm>
          <a:prstGeom prst="roundRect">
            <a:avLst>
              <a:gd name="adj" fmla="val 6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0" y="1719072"/>
            <a:ext cx="50292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MASIH RANCANGAN</a:t>
            </a:r>
          </a:p>
        </p:txBody>
      </p:sp>
      <p:sp>
        <p:nvSpPr>
          <p:cNvPr id="19" name="Oval 18"/>
          <p:cNvSpPr/>
          <p:nvPr/>
        </p:nvSpPr>
        <p:spPr>
          <a:xfrm>
            <a:off x="6400800" y="2167127"/>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0" name="TextBox 19"/>
          <p:cNvSpPr txBox="1"/>
          <p:nvPr/>
        </p:nvSpPr>
        <p:spPr>
          <a:xfrm>
            <a:off x="6812280" y="210312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Alur akuisisi dengan LLM sungguhan dan keluaran terstruktur</a:t>
            </a:r>
          </a:p>
        </p:txBody>
      </p:sp>
      <p:sp>
        <p:nvSpPr>
          <p:cNvPr id="21" name="Oval 20"/>
          <p:cNvSpPr/>
          <p:nvPr/>
        </p:nvSpPr>
        <p:spPr>
          <a:xfrm>
            <a:off x="6400800" y="2898647"/>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2" name="TextBox 21"/>
          <p:cNvSpPr txBox="1"/>
          <p:nvPr/>
        </p:nvSpPr>
        <p:spPr>
          <a:xfrm>
            <a:off x="6812280" y="2834639"/>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Korpus lengkap: PDF peristiwa nyata, pengecoh, kontrafaktual, dan perubahan tak terlihat</a:t>
            </a:r>
          </a:p>
        </p:txBody>
      </p:sp>
      <p:sp>
        <p:nvSpPr>
          <p:cNvPr id="23" name="Oval 22"/>
          <p:cNvSpPr/>
          <p:nvPr/>
        </p:nvSpPr>
        <p:spPr>
          <a:xfrm>
            <a:off x="6400800" y="363016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4" name="TextBox 23"/>
          <p:cNvSpPr txBox="1"/>
          <p:nvPr/>
        </p:nvSpPr>
        <p:spPr>
          <a:xfrm>
            <a:off x="6812280" y="356616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Korpus kebijakan nyata (kandidat: ±238 PKB publik di WageIndicator)</a:t>
            </a:r>
          </a:p>
        </p:txBody>
      </p:sp>
      <p:sp>
        <p:nvSpPr>
          <p:cNvPr id="25" name="Oval 24"/>
          <p:cNvSpPr/>
          <p:nvPr/>
        </p:nvSpPr>
        <p:spPr>
          <a:xfrm>
            <a:off x="6400800" y="436168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6" name="TextBox 25"/>
          <p:cNvSpPr txBox="1"/>
          <p:nvPr/>
        </p:nvSpPr>
        <p:spPr>
          <a:xfrm>
            <a:off x="6812280" y="429768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Pembaruan emas lengkap dan ruang uji penuh (±3.000 kasus, semua batas lapisan)</a:t>
            </a:r>
          </a:p>
        </p:txBody>
      </p:sp>
      <p:sp>
        <p:nvSpPr>
          <p:cNvPr id="27" name="Oval 26"/>
          <p:cNvSpPr/>
          <p:nvPr/>
        </p:nvSpPr>
        <p:spPr>
          <a:xfrm>
            <a:off x="6400800" y="509320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8" name="TextBox 27"/>
          <p:cNvSpPr txBox="1"/>
          <p:nvPr/>
        </p:nvSpPr>
        <p:spPr>
          <a:xfrm>
            <a:off x="6812280" y="502920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Eksperimen E0–E5 pada data sebenarnya, sesudah pra-registrasi</a:t>
            </a:r>
          </a:p>
        </p:txBody>
      </p:sp>
      <p:sp>
        <p:nvSpPr>
          <p:cNvPr id="29" name="TextBox 28"/>
          <p:cNvSpPr txBox="1"/>
          <p:nvPr/>
        </p:nvSpPr>
        <p:spPr>
          <a:xfrm>
            <a:off x="548640" y="6035040"/>
            <a:ext cx="11064240" cy="320040"/>
          </a:xfrm>
          <a:prstGeom prst="rect">
            <a:avLst/>
          </a:prstGeom>
          <a:noFill/>
        </p:spPr>
        <p:txBody>
          <a:bodyPr wrap="square" lIns="0" rIns="0" tIns="0" bIns="0" anchor="t">
            <a:noAutofit/>
          </a:bodyPr>
          <a:lstStyle/>
          <a:p>
            <a:pPr algn="l">
              <a:lnSpc>
                <a:spcPct val="100000"/>
              </a:lnSpc>
              <a:spcAft>
                <a:spcPts val="0"/>
              </a:spcAft>
            </a:pPr>
            <a:r>
              <a:rPr sz="1200" b="0" i="1">
                <a:solidFill>
                  <a:srgbClr val="5B6472"/>
                </a:solidFill>
                <a:latin typeface="Calibri"/>
              </a:rPr>
              <a:t>Angka mini demo berasal dari LLM tiruan dan 75 kasus uji, jadi bukan hasil penelitian. Aplikasi web dan demo tidak diklaim sebagai kontribusi paper.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Mini demo: temuan yang mengubah rancangan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MINI DEMO</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13</a:t>
            </a:r>
          </a:p>
        </p:txBody>
      </p:sp>
      <p:sp>
        <p:nvSpPr>
          <p:cNvPr id="5" name="Rounded Rectangle 4"/>
          <p:cNvSpPr/>
          <p:nvPr/>
        </p:nvSpPr>
        <p:spPr>
          <a:xfrm>
            <a:off x="548640" y="1481328"/>
            <a:ext cx="11091672" cy="566928"/>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481328"/>
            <a:ext cx="10698480" cy="56692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Prototipe kecil seluruh alur: KB awal 9 aturan, 3 peristiwa nyata, 1 pengecoh, 1 kontrafaktual, 1 perubahan tak terlihat, LLM tiruan. Bisa didemokan langsung di Streamlit.</a:t>
            </a:r>
          </a:p>
        </p:txBody>
      </p:sp>
      <p:sp>
        <p:nvSpPr>
          <p:cNvPr id="7" name="TextBox 6"/>
          <p:cNvSpPr txBox="1"/>
          <p:nvPr/>
        </p:nvSpPr>
        <p:spPr>
          <a:xfrm>
            <a:off x="548640" y="2212848"/>
            <a:ext cx="53949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TEMUAN DEMO</a:t>
            </a:r>
          </a:p>
        </p:txBody>
      </p:sp>
      <p:sp>
        <p:nvSpPr>
          <p:cNvPr id="8" name="TextBox 7"/>
          <p:cNvSpPr txBox="1"/>
          <p:nvPr/>
        </p:nvSpPr>
        <p:spPr>
          <a:xfrm>
            <a:off x="6400800" y="2212848"/>
            <a:ext cx="5239512" cy="274320"/>
          </a:xfrm>
          <a:prstGeom prst="rect">
            <a:avLst/>
          </a:prstGeom>
          <a:noFill/>
        </p:spPr>
        <p:txBody>
          <a:bodyPr wrap="square" lIns="0" rIns="0" tIns="0" bIns="0" anchor="t">
            <a:noAutofit/>
          </a:bodyPr>
          <a:lstStyle/>
          <a:p>
            <a:pPr algn="l">
              <a:lnSpc>
                <a:spcPct val="100000"/>
              </a:lnSpc>
              <a:spcAft>
                <a:spcPts val="0"/>
              </a:spcAft>
            </a:pPr>
            <a:r>
              <a:rPr sz="1100" b="1" i="0">
                <a:solidFill>
                  <a:srgbClr val="1D6B63"/>
                </a:solidFill>
                <a:latin typeface="Calibri"/>
              </a:rPr>
              <a:t>PERUBAHAN RANCANGAN</a:t>
            </a:r>
          </a:p>
        </p:txBody>
      </p:sp>
      <p:sp>
        <p:nvSpPr>
          <p:cNvPr id="9" name="Rounded Rectangle 8"/>
          <p:cNvSpPr/>
          <p:nvPr/>
        </p:nvSpPr>
        <p:spPr>
          <a:xfrm>
            <a:off x="548640" y="2542032"/>
            <a:ext cx="5394960" cy="621792"/>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58368" y="2670048"/>
            <a:ext cx="365760" cy="365760"/>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14213D"/>
                </a:solidFill>
                <a:latin typeface="Calibri"/>
              </a:rPr>
              <a:t>1</a:t>
            </a:r>
          </a:p>
        </p:txBody>
      </p:sp>
      <p:sp>
        <p:nvSpPr>
          <p:cNvPr id="11" name="TextBox 10"/>
          <p:cNvSpPr txBox="1"/>
          <p:nvPr/>
        </p:nvSpPr>
        <p:spPr>
          <a:xfrm>
            <a:off x="1143000" y="2542032"/>
            <a:ext cx="4709160" cy="621792"/>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Tanggal berlaku yang salah lolos semua gerbang (kesalahan senyap K1)</a:t>
            </a:r>
          </a:p>
        </p:txBody>
      </p:sp>
      <p:cxnSp>
        <p:nvCxnSpPr>
          <p:cNvPr id="12" name="Connector 11"/>
          <p:cNvCxnSpPr/>
          <p:nvPr/>
        </p:nvCxnSpPr>
        <p:spPr>
          <a:xfrm>
            <a:off x="5989320" y="2852927"/>
            <a:ext cx="36576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400800" y="2542032"/>
            <a:ext cx="5239512" cy="621792"/>
          </a:xfrm>
          <a:prstGeom prst="roundRect">
            <a:avLst>
              <a:gd name="adj" fmla="val 6000"/>
            </a:avLst>
          </a:prstGeom>
          <a:solidFill>
            <a:srgbClr val="E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583680" y="2542032"/>
            <a:ext cx="4937760" cy="621792"/>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G2 juga memeriksa bahwa setiap tanggal di Δ ada di kutipan</a:t>
            </a:r>
          </a:p>
        </p:txBody>
      </p:sp>
      <p:sp>
        <p:nvSpPr>
          <p:cNvPr id="15" name="Rounded Rectangle 14"/>
          <p:cNvSpPr/>
          <p:nvPr/>
        </p:nvSpPr>
        <p:spPr>
          <a:xfrm>
            <a:off x="548640" y="3255263"/>
            <a:ext cx="5394960" cy="621792"/>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58368" y="3383279"/>
            <a:ext cx="365760" cy="365760"/>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14213D"/>
                </a:solidFill>
                <a:latin typeface="Calibri"/>
              </a:rPr>
              <a:t>2</a:t>
            </a:r>
          </a:p>
        </p:txBody>
      </p:sp>
      <p:sp>
        <p:nvSpPr>
          <p:cNvPr id="17" name="TextBox 16"/>
          <p:cNvSpPr txBox="1"/>
          <p:nvPr/>
        </p:nvSpPr>
        <p:spPr>
          <a:xfrm>
            <a:off x="1143000" y="3255263"/>
            <a:ext cx="4709160" cy="621792"/>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LLM mencatat aturan berlaku surut pada tanggal berlaku, sehingga hasil lama berubah</a:t>
            </a:r>
          </a:p>
        </p:txBody>
      </p:sp>
      <p:cxnSp>
        <p:nvCxnSpPr>
          <p:cNvPr id="18" name="Connector 17"/>
          <p:cNvCxnSpPr/>
          <p:nvPr/>
        </p:nvCxnSpPr>
        <p:spPr>
          <a:xfrm>
            <a:off x="5989320" y="3566159"/>
            <a:ext cx="36576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400800" y="3255263"/>
            <a:ext cx="5239512" cy="621792"/>
          </a:xfrm>
          <a:prstGeom prst="roundRect">
            <a:avLst>
              <a:gd name="adj" fmla="val 6000"/>
            </a:avLst>
          </a:prstGeom>
          <a:solidFill>
            <a:srgbClr val="E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583680" y="3255263"/>
            <a:ext cx="4937760" cy="621792"/>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Tanggal pencatatan diisi sistem dengan tanggal terbit; ω berarti pengetahuan hukum</a:t>
            </a:r>
          </a:p>
        </p:txBody>
      </p:sp>
      <p:sp>
        <p:nvSpPr>
          <p:cNvPr id="21" name="Rounded Rectangle 20"/>
          <p:cNvSpPr/>
          <p:nvPr/>
        </p:nvSpPr>
        <p:spPr>
          <a:xfrm>
            <a:off x="548640" y="3968496"/>
            <a:ext cx="5394960" cy="621792"/>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58368" y="4096511"/>
            <a:ext cx="365760" cy="365760"/>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14213D"/>
                </a:solidFill>
                <a:latin typeface="Calibri"/>
              </a:rPr>
              <a:t>3</a:t>
            </a:r>
          </a:p>
        </p:txBody>
      </p:sp>
      <p:sp>
        <p:nvSpPr>
          <p:cNvPr id="23" name="TextBox 22"/>
          <p:cNvSpPr txBox="1"/>
          <p:nvPr/>
        </p:nvSpPr>
        <p:spPr>
          <a:xfrm>
            <a:off x="1143000" y="3968496"/>
            <a:ext cx="4709160" cy="621792"/>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Kebijakan yang dikalahkan aturan wajib tidak mengubah angka, padahal wajib disimpan (A4)</a:t>
            </a:r>
          </a:p>
        </p:txBody>
      </p:sp>
      <p:cxnSp>
        <p:nvCxnSpPr>
          <p:cNvPr id="24" name="Connector 23"/>
          <p:cNvCxnSpPr/>
          <p:nvPr/>
        </p:nvCxnSpPr>
        <p:spPr>
          <a:xfrm>
            <a:off x="5989320" y="4279392"/>
            <a:ext cx="36576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400800" y="3968496"/>
            <a:ext cx="5239512" cy="621792"/>
          </a:xfrm>
          <a:prstGeom prst="roundRect">
            <a:avLst>
              <a:gd name="adj" fmla="val 6000"/>
            </a:avLst>
          </a:prstGeom>
          <a:solidFill>
            <a:srgbClr val="E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83680" y="3968496"/>
            <a:ext cx="4937760" cy="621792"/>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G5 menerima konflik yang dilaporkan sebagai efek</a:t>
            </a:r>
          </a:p>
        </p:txBody>
      </p:sp>
      <p:sp>
        <p:nvSpPr>
          <p:cNvPr id="27" name="Rounded Rectangle 26"/>
          <p:cNvSpPr/>
          <p:nvPr/>
        </p:nvSpPr>
        <p:spPr>
          <a:xfrm>
            <a:off x="548640" y="4681727"/>
            <a:ext cx="5394960" cy="621792"/>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58368" y="4809743"/>
            <a:ext cx="365760" cy="365760"/>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14213D"/>
                </a:solidFill>
                <a:latin typeface="Calibri"/>
              </a:rPr>
              <a:t>4</a:t>
            </a:r>
          </a:p>
        </p:txBody>
      </p:sp>
      <p:sp>
        <p:nvSpPr>
          <p:cNvPr id="29" name="TextBox 28"/>
          <p:cNvSpPr txBox="1"/>
          <p:nvPr/>
        </p:nvSpPr>
        <p:spPr>
          <a:xfrm>
            <a:off x="1143000" y="4681727"/>
            <a:ext cx="4709160" cy="621792"/>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Konsensus bisa seri, dan hasil B3 atau AB4 bergantung pada urutan kandidat</a:t>
            </a:r>
          </a:p>
        </p:txBody>
      </p:sp>
      <p:cxnSp>
        <p:nvCxnSpPr>
          <p:cNvPr id="30" name="Connector 29"/>
          <p:cNvCxnSpPr/>
          <p:nvPr/>
        </p:nvCxnSpPr>
        <p:spPr>
          <a:xfrm>
            <a:off x="5989320" y="4992623"/>
            <a:ext cx="36576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400800" y="4681727"/>
            <a:ext cx="5239512" cy="621792"/>
          </a:xfrm>
          <a:prstGeom prst="roundRect">
            <a:avLst>
              <a:gd name="adj" fmla="val 6000"/>
            </a:avLst>
          </a:prstGeom>
          <a:solidFill>
            <a:srgbClr val="E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583680" y="4681727"/>
            <a:ext cx="4937760" cy="621792"/>
          </a:xfrm>
          <a:prstGeom prst="rect">
            <a:avLst/>
          </a:prstGeom>
          <a:noFill/>
        </p:spPr>
        <p:txBody>
          <a:bodyPr wrap="square" lIns="0" rIns="0" tIns="0" bIns="0" anchor="ctr">
            <a:noAutofit/>
          </a:bodyPr>
          <a:lstStyle/>
          <a:p>
            <a:pPr algn="l">
              <a:lnSpc>
                <a:spcPct val="100000"/>
              </a:lnSpc>
              <a:spcAft>
                <a:spcPts val="0"/>
              </a:spcAft>
            </a:pPr>
            <a:r>
              <a:rPr sz="1250" b="0" i="1">
                <a:solidFill>
                  <a:srgbClr val="1F2937"/>
                </a:solidFill>
                <a:latin typeface="Calibri"/>
              </a:rPr>
              <a:t>Abstain</a:t>
            </a:r>
            <a:r>
              <a:rPr sz="1250" b="0" i="0">
                <a:solidFill>
                  <a:srgbClr val="1F2937"/>
                </a:solidFill>
                <a:latin typeface="Calibri"/>
              </a:rPr>
              <a:t> bila seri; urutan kandidat diacak dan dicatat</a:t>
            </a:r>
          </a:p>
        </p:txBody>
      </p:sp>
      <p:sp>
        <p:nvSpPr>
          <p:cNvPr id="33" name="Rounded Rectangle 32"/>
          <p:cNvSpPr/>
          <p:nvPr/>
        </p:nvSpPr>
        <p:spPr>
          <a:xfrm>
            <a:off x="548640" y="5394960"/>
            <a:ext cx="5394960" cy="621792"/>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58368" y="5522976"/>
            <a:ext cx="365760" cy="365760"/>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14213D"/>
                </a:solidFill>
                <a:latin typeface="Calibri"/>
              </a:rPr>
              <a:t>5</a:t>
            </a:r>
          </a:p>
        </p:txBody>
      </p:sp>
      <p:sp>
        <p:nvSpPr>
          <p:cNvPr id="35" name="TextBox 34"/>
          <p:cNvSpPr txBox="1"/>
          <p:nvPr/>
        </p:nvSpPr>
        <p:spPr>
          <a:xfrm>
            <a:off x="1143000" y="5394960"/>
            <a:ext cx="4709160" cy="621792"/>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E0 gagal: kasus uji tidak menjangkau bulan berlaku (skor mutasi E1 0/5)</a:t>
            </a:r>
          </a:p>
        </p:txBody>
      </p:sp>
      <p:cxnSp>
        <p:nvCxnSpPr>
          <p:cNvPr id="36" name="Connector 35"/>
          <p:cNvCxnSpPr/>
          <p:nvPr/>
        </p:nvCxnSpPr>
        <p:spPr>
          <a:xfrm>
            <a:off x="5989320" y="5705856"/>
            <a:ext cx="36576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400800" y="5394960"/>
            <a:ext cx="5239512" cy="621792"/>
          </a:xfrm>
          <a:prstGeom prst="roundRect">
            <a:avLst>
              <a:gd name="adj" fmla="val 6000"/>
            </a:avLst>
          </a:prstGeom>
          <a:solidFill>
            <a:srgbClr val="E2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83680" y="5394960"/>
            <a:ext cx="4937760" cy="621792"/>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Generator ruang uji wajib menyasar bulan berlaku dan setiap batas lapisan</a:t>
            </a:r>
          </a:p>
        </p:txBody>
      </p:sp>
      <p:sp>
        <p:nvSpPr>
          <p:cNvPr id="39" name="TextBox 38"/>
          <p:cNvSpPr txBox="1"/>
          <p:nvPr/>
        </p:nvSpPr>
        <p:spPr>
          <a:xfrm>
            <a:off x="548640" y="6172200"/>
            <a:ext cx="11064240" cy="274320"/>
          </a:xfrm>
          <a:prstGeom prst="rect">
            <a:avLst/>
          </a:prstGeom>
          <a:noFill/>
        </p:spPr>
        <p:txBody>
          <a:bodyPr wrap="square" lIns="0" rIns="0" tIns="0" bIns="0" anchor="t">
            <a:noAutofit/>
          </a:bodyPr>
          <a:lstStyle/>
          <a:p>
            <a:pPr algn="l">
              <a:lnSpc>
                <a:spcPct val="100000"/>
              </a:lnSpc>
              <a:spcAft>
                <a:spcPts val="0"/>
              </a:spcAft>
            </a:pPr>
            <a:r>
              <a:rPr sz="1200" b="0" i="1">
                <a:solidFill>
                  <a:srgbClr val="5B6472"/>
                </a:solidFill>
                <a:latin typeface="Calibri"/>
              </a:rPr>
              <a:t>Temuan 1–4 sudah masuk draf paper v8. Angka demo memakai LLM tiruan, jadi bukan hasil penelitian.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Langkah berikutnya dan keputusan yang perlu disepakati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RENCANA</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14</a:t>
            </a:r>
          </a:p>
        </p:txBody>
      </p:sp>
      <p:sp>
        <p:nvSpPr>
          <p:cNvPr id="5" name="Oval 4"/>
          <p:cNvSpPr/>
          <p:nvPr/>
        </p:nvSpPr>
        <p:spPr>
          <a:xfrm>
            <a:off x="548640" y="164592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1</a:t>
            </a:r>
          </a:p>
        </p:txBody>
      </p:sp>
      <p:sp>
        <p:nvSpPr>
          <p:cNvPr id="6" name="TextBox 5"/>
          <p:cNvSpPr txBox="1"/>
          <p:nvPr/>
        </p:nvSpPr>
        <p:spPr>
          <a:xfrm>
            <a:off x="1280160" y="160020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0</a:t>
            </a:r>
          </a:p>
        </p:txBody>
      </p:sp>
      <p:sp>
        <p:nvSpPr>
          <p:cNvPr id="7" name="TextBox 6"/>
          <p:cNvSpPr txBox="1"/>
          <p:nvPr/>
        </p:nvSpPr>
        <p:spPr>
          <a:xfrm>
            <a:off x="1280160" y="1892807"/>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Jawab keputusan terbuka; cari paling banyak dua kolaborator untuk peran independen</a:t>
            </a:r>
          </a:p>
        </p:txBody>
      </p:sp>
      <p:sp>
        <p:nvSpPr>
          <p:cNvPr id="8" name="Oval 7"/>
          <p:cNvSpPr/>
          <p:nvPr/>
        </p:nvSpPr>
        <p:spPr>
          <a:xfrm>
            <a:off x="548640" y="274320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2</a:t>
            </a:r>
          </a:p>
        </p:txBody>
      </p:sp>
      <p:sp>
        <p:nvSpPr>
          <p:cNvPr id="9" name="TextBox 8"/>
          <p:cNvSpPr txBox="1"/>
          <p:nvPr/>
        </p:nvSpPr>
        <p:spPr>
          <a:xfrm>
            <a:off x="1280160" y="269748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1</a:t>
            </a:r>
          </a:p>
        </p:txBody>
      </p:sp>
      <p:sp>
        <p:nvSpPr>
          <p:cNvPr id="10" name="TextBox 9"/>
          <p:cNvSpPr txBox="1"/>
          <p:nvPr/>
        </p:nvSpPr>
        <p:spPr>
          <a:xfrm>
            <a:off x="1280160" y="299008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Baca utuh Gogani-Khiabani dkk., NTOL, formalisasi IRC, dan LLM ke Catala; isi tabel posisi; cek ulang </a:t>
            </a:r>
            <a:r>
              <a:rPr sz="1350" b="0" i="1">
                <a:solidFill>
                  <a:srgbClr val="1F2937"/>
                </a:solidFill>
                <a:latin typeface="Calibri"/>
              </a:rPr>
              <a:t>novelty</a:t>
            </a:r>
          </a:p>
        </p:txBody>
      </p:sp>
      <p:sp>
        <p:nvSpPr>
          <p:cNvPr id="11" name="Oval 10"/>
          <p:cNvSpPr/>
          <p:nvPr/>
        </p:nvSpPr>
        <p:spPr>
          <a:xfrm>
            <a:off x="548640" y="384048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3</a:t>
            </a:r>
          </a:p>
        </p:txBody>
      </p:sp>
      <p:sp>
        <p:nvSpPr>
          <p:cNvPr id="12" name="TextBox 11"/>
          <p:cNvSpPr txBox="1"/>
          <p:nvPr/>
        </p:nvSpPr>
        <p:spPr>
          <a:xfrm>
            <a:off x="1280160" y="379476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2</a:t>
            </a:r>
          </a:p>
        </p:txBody>
      </p:sp>
      <p:sp>
        <p:nvSpPr>
          <p:cNvPr id="13" name="TextBox 12"/>
          <p:cNvSpPr txBox="1"/>
          <p:nvPr/>
        </p:nvSpPr>
        <p:spPr>
          <a:xfrm>
            <a:off x="1280160" y="408736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Spesifikasi domain dan taksonomi perubahan, konflik, serta kesalahan LLM; cek ulang lapisan TER ke lampiran PP 58/2023</a:t>
            </a:r>
          </a:p>
        </p:txBody>
      </p:sp>
      <p:sp>
        <p:nvSpPr>
          <p:cNvPr id="14" name="Oval 13"/>
          <p:cNvSpPr/>
          <p:nvPr/>
        </p:nvSpPr>
        <p:spPr>
          <a:xfrm>
            <a:off x="548640" y="4937759"/>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4</a:t>
            </a:r>
          </a:p>
        </p:txBody>
      </p:sp>
      <p:sp>
        <p:nvSpPr>
          <p:cNvPr id="15" name="TextBox 14"/>
          <p:cNvSpPr txBox="1"/>
          <p:nvPr/>
        </p:nvSpPr>
        <p:spPr>
          <a:xfrm>
            <a:off x="1280160" y="489204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3–4</a:t>
            </a:r>
          </a:p>
        </p:txBody>
      </p:sp>
      <p:sp>
        <p:nvSpPr>
          <p:cNvPr id="16" name="TextBox 15"/>
          <p:cNvSpPr txBox="1"/>
          <p:nvPr/>
        </p:nvSpPr>
        <p:spPr>
          <a:xfrm>
            <a:off x="1280160" y="518464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Spesifikasi ontologi, bahasa ekspresi, syarat A1–A4, dan gerbang G1–G5; lalu titik periksa dosen sebelum membangun</a:t>
            </a:r>
          </a:p>
        </p:txBody>
      </p:sp>
      <p:sp>
        <p:nvSpPr>
          <p:cNvPr id="17" name="Rounded Rectangle 16"/>
          <p:cNvSpPr/>
          <p:nvPr/>
        </p:nvSpPr>
        <p:spPr>
          <a:xfrm>
            <a:off x="6629400" y="1554480"/>
            <a:ext cx="5010912" cy="434340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03720" y="1737360"/>
            <a:ext cx="44805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PERLU KEPUTUSAN DOSEN</a:t>
            </a:r>
          </a:p>
        </p:txBody>
      </p:sp>
      <p:sp>
        <p:nvSpPr>
          <p:cNvPr id="19" name="TextBox 18"/>
          <p:cNvSpPr txBox="1"/>
          <p:nvPr/>
        </p:nvSpPr>
        <p:spPr>
          <a:xfrm>
            <a:off x="6903720" y="2148840"/>
            <a:ext cx="4526280" cy="3657600"/>
          </a:xfrm>
          <a:prstGeom prst="rect">
            <a:avLst/>
          </a:prstGeom>
          <a:noFill/>
        </p:spPr>
        <p:txBody>
          <a:bodyPr wrap="square" lIns="0" rIns="0" tIns="0" bIns="0" anchor="t">
            <a:noAutofit/>
          </a:bodyPr>
          <a:lstStyle/>
          <a:p>
            <a:pPr algn="l">
              <a:lnSpc>
                <a:spcPct val="100000"/>
              </a:lnSpc>
              <a:spcAft>
                <a:spcPts val="1400"/>
              </a:spcAft>
            </a:pPr>
            <a:r>
              <a:rPr sz="1450" b="0" i="0">
                <a:solidFill>
                  <a:srgbClr val="FFFFFF"/>
                </a:solidFill>
                <a:latin typeface="Calibri"/>
              </a:rPr>
              <a:t>1.  Target publikasi: tugas mata kuliah, jurnal nasional, atau IEEE Access (naskah harus berbahasa Inggris)?</a:t>
            </a:r>
          </a:p>
          <a:p>
            <a:pPr algn="l">
              <a:lnSpc>
                <a:spcPct val="100000"/>
              </a:lnSpc>
              <a:spcAft>
                <a:spcPts val="1400"/>
              </a:spcAft>
            </a:pPr>
            <a:r>
              <a:rPr sz="1450" b="0" i="0">
                <a:solidFill>
                  <a:srgbClr val="FFFFFF"/>
                </a:solidFill>
                <a:latin typeface="Calibri"/>
              </a:rPr>
              <a:t>2.  Setujukah kriteria rujukan (2021+, ber-</a:t>
            </a:r>
            <a:r>
              <a:rPr sz="1450" b="0" i="1">
                <a:solidFill>
                  <a:srgbClr val="FFFFFF"/>
                </a:solidFill>
                <a:latin typeface="Calibri"/>
              </a:rPr>
              <a:t>peer review</a:t>
            </a:r>
            <a:r>
              <a:rPr sz="1450" b="0" i="0">
                <a:solidFill>
                  <a:srgbClr val="FFFFFF"/>
                </a:solidFill>
                <a:latin typeface="Calibri"/>
              </a:rPr>
              <a:t>, DOI Crossref) dengan 3 pengecualian?</a:t>
            </a:r>
          </a:p>
          <a:p>
            <a:pPr algn="l">
              <a:lnSpc>
                <a:spcPct val="100000"/>
              </a:lnSpc>
              <a:spcAft>
                <a:spcPts val="1400"/>
              </a:spcAft>
            </a:pPr>
            <a:r>
              <a:rPr sz="1450" b="0" i="0">
                <a:solidFill>
                  <a:srgbClr val="FFFFFF"/>
                </a:solidFill>
                <a:latin typeface="Calibri"/>
              </a:rPr>
              <a:t>3.  Perlukah pembanding B2, yaitu LLM menghitung PPh 21 langsung dari dokumen?</a:t>
            </a:r>
          </a:p>
          <a:p>
            <a:pPr algn="l">
              <a:lnSpc>
                <a:spcPct val="100000"/>
              </a:lnSpc>
              <a:spcAft>
                <a:spcPts val="1400"/>
              </a:spcAft>
            </a:pPr>
            <a:r>
              <a:rPr sz="1450" b="0" i="0">
                <a:solidFill>
                  <a:srgbClr val="FFFFFF"/>
                </a:solidFill>
                <a:latin typeface="Calibri"/>
              </a:rPr>
              <a:t>4.  Adakah akses ke praktisi pajak atau </a:t>
            </a:r>
            <a:r>
              <a:rPr sz="1450" b="0" i="1">
                <a:solidFill>
                  <a:srgbClr val="FFFFFF"/>
                </a:solidFill>
                <a:latin typeface="Calibri"/>
              </a:rPr>
              <a:t>tax center</a:t>
            </a:r>
            <a:r>
              <a:rPr sz="1450" b="0" i="0">
                <a:solidFill>
                  <a:srgbClr val="FFFFFF"/>
                </a:solidFill>
                <a:latin typeface="Calibri"/>
              </a:rPr>
              <a:t> untuk memeriksa emas peristiwa TER?</a:t>
            </a:r>
          </a:p>
          <a:p>
            <a:pPr algn="l">
              <a:lnSpc>
                <a:spcPct val="100000"/>
              </a:lnSpc>
              <a:spcAft>
                <a:spcPts val="1400"/>
              </a:spcAft>
            </a:pPr>
            <a:r>
              <a:rPr sz="1450" b="0" i="0">
                <a:solidFill>
                  <a:srgbClr val="FFFFFF"/>
                </a:solidFill>
                <a:latin typeface="Calibri"/>
              </a:rPr>
              <a:t>5.  Setujukah usulan dari mini demo: cek tanggal di G2 dan </a:t>
            </a:r>
            <a:r>
              <a:rPr sz="1450" b="0" i="1">
                <a:solidFill>
                  <a:srgbClr val="FFFFFF"/>
                </a:solidFill>
                <a:latin typeface="Calibri"/>
              </a:rPr>
              <a:t>abstain</a:t>
            </a:r>
            <a:r>
              <a:rPr sz="1450" b="0" i="0">
                <a:solidFill>
                  <a:srgbClr val="FFFFFF"/>
                </a:solidFill>
                <a:latin typeface="Calibri"/>
              </a:rPr>
              <a:t> bila konsensus seri?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