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Penghasilan bersih x·(1 − r(x))</c:v>
                </c:pt>
              </c:strCache>
            </c:strRef>
          </c:tx>
          <c:spPr>
            <a:solidFill>
              <a:srgbClr val="1D6A6B"/>
            </a:solidFill>
            <a:ln w="25400" cap="flat">
              <a:solidFill>
                <a:srgbClr val="1D6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D6A6B"/>
              </a:solidFill>
              <a:ln w="9525" cap="flat">
                <a:solidFill>
                  <a:srgbClr val="1D6A6B"/>
                </a:solidFill>
                <a:prstDash val="solid"/>
                <a:round/>
              </a:ln>
              <a:effectLst/>
            </c:spPr>
          </c:marker>
          <c:cat>
            <c:multiLvlStrRef>
              <c:f>Sheet1!$A$2:$A$9</c:f>
              <c:multiLvlStrCache>
                <c:ptCount val="8"/>
                <c:lvl>
                  <c:pt idx="0">
                    <c:v>14,6</c:v>
                  </c:pt>
                  <c:pt idx="1">
                    <c:v>14,8</c:v>
                  </c:pt>
                  <c:pt idx="2">
                    <c:v>15,0</c:v>
                  </c:pt>
                  <c:pt idx="3">
                    <c:v>15,1</c:v>
                  </c:pt>
                  <c:pt idx="4">
                    <c:v>15,1+</c:v>
                  </c:pt>
                  <c:pt idx="5">
                    <c:v>15,2</c:v>
                  </c:pt>
                  <c:pt idx="6">
                    <c:v>15,4</c:v>
                  </c:pt>
                  <c:pt idx="7">
                    <c:v>15,6</c:v>
                  </c:pt>
                </c:lvl>
              </c:multiLvlStrCache>
            </c:multiLvlStrRef>
          </c:cat>
          <c:val>
            <c:numRef>
              <c:f>Sheet1!$B$2:$B$9</c:f>
              <c:numCache>
                <c:formatCode>General</c:formatCode>
                <c:ptCount val="8"/>
                <c:pt idx="0">
                  <c:v>13.724</c:v>
                </c:pt>
                <c:pt idx="1">
                  <c:v>13.912</c:v>
                </c:pt>
                <c:pt idx="2">
                  <c:v>14.1</c:v>
                </c:pt>
                <c:pt idx="3">
                  <c:v>14.194</c:v>
                </c:pt>
                <c:pt idx="4">
                  <c:v>14.044</c:v>
                </c:pt>
                <c:pt idx="5">
                  <c:v>14.136</c:v>
                </c:pt>
                <c:pt idx="6">
                  <c:v>14.322</c:v>
                </c:pt>
                <c:pt idx="7">
                  <c:v>14.508</c:v>
                </c:pt>
              </c:numCache>
            </c:numRef>
          </c:val>
          <c:smooth val="0"/>
        </c:ser>
        <c:ser>
          <c:idx val="1"/>
          <c:order val="1"/>
          <c:tx>
            <c:strRef>
              <c:f>Sheet1!$C$1</c:f>
              <c:strCache>
                <c:ptCount val="1"/>
                <c:pt idx="0">
                  <c:v>THP dijanjikan (B = 14,1 juta)</c:v>
                </c:pt>
              </c:strCache>
            </c:strRef>
          </c:tx>
          <c:spPr>
            <a:solidFill>
              <a:srgbClr val="E8A33D"/>
            </a:solidFill>
            <a:ln w="25400" cap="flat">
              <a:solidFill>
                <a:srgbClr val="E8A3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A33D"/>
              </a:solidFill>
              <a:ln w="9525" cap="flat">
                <a:solidFill>
                  <a:srgbClr val="E8A33D"/>
                </a:solidFill>
                <a:prstDash val="solid"/>
                <a:round/>
              </a:ln>
              <a:effectLst/>
            </c:spPr>
          </c:marker>
          <c:cat>
            <c:multiLvlStrRef>
              <c:f>Sheet1!$A$2:$A$9</c:f>
              <c:multiLvlStrCache>
                <c:ptCount val="8"/>
                <c:lvl>
                  <c:pt idx="0">
                    <c:v>14,6</c:v>
                  </c:pt>
                  <c:pt idx="1">
                    <c:v>14,8</c:v>
                  </c:pt>
                  <c:pt idx="2">
                    <c:v>15,0</c:v>
                  </c:pt>
                  <c:pt idx="3">
                    <c:v>15,1</c:v>
                  </c:pt>
                  <c:pt idx="4">
                    <c:v>15,1+</c:v>
                  </c:pt>
                  <c:pt idx="5">
                    <c:v>15,2</c:v>
                  </c:pt>
                  <c:pt idx="6">
                    <c:v>15,4</c:v>
                  </c:pt>
                  <c:pt idx="7">
                    <c:v>15,6</c:v>
                  </c:pt>
                </c:lvl>
              </c:multiLvlStrCache>
            </c:multiLvlStrRef>
          </c:cat>
          <c:val>
            <c:numRef>
              <c:f>Sheet1!$C$2:$C$9</c:f>
              <c:numCache>
                <c:formatCode>General</c:formatCode>
                <c:ptCount val="8"/>
                <c:pt idx="0">
                  <c:v>14.1</c:v>
                </c:pt>
                <c:pt idx="1">
                  <c:v>14.1</c:v>
                </c:pt>
                <c:pt idx="2">
                  <c:v>14.1</c:v>
                </c:pt>
                <c:pt idx="3">
                  <c:v>14.1</c:v>
                </c:pt>
                <c:pt idx="4">
                  <c:v>14.1</c:v>
                </c:pt>
                <c:pt idx="5">
                  <c:v>14.1</c:v>
                </c:pt>
                <c:pt idx="6">
                  <c:v>14.1</c:v>
                </c:pt>
                <c:pt idx="7">
                  <c:v>14.1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Penghasilan bruto x (juta Rp)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6B"/>
                </a:solidFill>
                <a:latin typeface="Arial"/>
              </a:defRPr>
            </a:pPr>
            <a:endParaRPr lang="en-US"/>
          </a:p>
        </c:txPr>
        <c:crossAx val="2094734552"/>
        <c:crosses val="autoZero"/>
        <c:auto val="1"/>
        <c:lblAlgn val="ctr"/>
        <c:noMultiLvlLbl val="1"/>
      </c:catAx>
      <c:valAx>
        <c:axId val="2094734552"/>
        <c:scaling>
          <c:orientation val="minMax"/>
          <c:max val="14.6"/>
          <c:min val="13.6"/>
        </c:scaling>
        <c:delete val="0"/>
        <c:axPos val="l"/>
        <c:majorGridlines>
          <c:spPr>
            <a:ln w="6350" cap="flat">
              <a:solidFill>
                <a:srgbClr val="E3ECE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Juta Rp</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 ini membahas sistem perhitungan PPh 21 berbasis knowledge base. Aturan pajak dan kebijakan penggajian perusahaan disimpan sebagai pengetahuan, bukan kode, sehingga mesin perhitungan tidak perlu diubah. Kontribusi utamanya adalah analisis gross-up di bawah skema TER dan bukti empiris terhadap aplikasi payroll yang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Alurnya: masalah nyata, apa yang sudah dikerjakan orang lain, solusi yang diusulkan, temuan awal tentang gross-up, lalu rencana pelaksanaan.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PPh 21 dihitung setiap bulan oleh semua pemberi kerja untuk semua pegawai. Satu perhitungan melibatkan banyak komponen. Pemerintah belum menyediakan sistem perhitungan resmi, sehingga setiap perusahaan memakai caranya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masalah: aturan di kode membuat setiap perubahan mahal, konfigurasi per perusahaan terbatas, dan kesalahan hitung terjadi di lapangan. Contoh paling konkret adalah gross-up: rumus lama harus diturunkan dan diprogram ulang ketika TER berlaku.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ingin jujur: gagasan knowledge base untuk payroll sudah ada, termasuk di AAAI 2021 dan mesin payroll open source. Penelitian ini tidak mengklaim hal itu sebagai kontribusi. Kontribusi saya ada di bagian yang belum dibahas, terutama gross-up di bawah 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Indonesia, penelitian yang ada berupa aplikasi dan sistem pakar dengan aturan dikodekan manual, serta penelitian akuntansi deskriptif. Sejauh penelusuran, belum ada yang membangun knowledge base berlapis untuk PPh 21, menganalisis gross-up secara formal, atau menguji kesesuaian aplikasi payroll.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Arsitekturnya dua lapis. Lapisan regulasi berisi aturan pajak yang dipakai semua perusahaan. Lapisan kebijakan berisi konfigurasi masing-masing perusahaan. Mesin perhitungan menggabungkan keduanya dan tidak pernah diubah. Z3 hanya dipakai untuk analisis gross-up dan pemeriksaan konsistensi konfigurasi.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Gross-up itu definisi melingkar. Selama ini ditangani dengan rumus manual per lapisan tarif, yang harus diturunkan ulang setiap kali tarif berubah. Saya mengusulkan gross-up ditulis sebagai definisi, lalu mesin mencari nilainya. Secara matematis ini persamaan titik tetap: cari bruto x yang menghasilkan penghasilan bersih tepat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temuan awal yang menjadi inti novelty. Karena tarif TER melompat di batas lapisan, penghasilan bersih turun mendadak di batas itu. Akibatnya, garis THP yang dijanjikan bisa dipotong dua kali. Contoh: THP 14,1 juta bisa dicapai dengan bruto 15 juta pada tarif 6%, atau 15,16 juta pada tarif 7%. Keduanya sah, tetapi biaya perusahaan berbeda sekitar 161 ribu per bulan. Ini masih hipotesis yang akan dibuktikan secara formal, termasuk memperhitungkan pembulatan dan kemungkinan prosedur resmi di PMK 168.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tiga kontribusi. K1 adalah fondasi yang diadopsi dari penelitian sebelumnya. K2 adalah inti novelty: analisis formal semua komponen melingkar di PPh 21. K3 adalah bukti empiris: kesesuaian aplikasi yang beredar, biaya pemeliharaan, dan ekspresivitas.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pertanyaan penelitian, sesuai tiga kontribusi. RQ2 adalah inti penelitian.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penelitian dirangkum dalam enam luaran, dari knowledge base, analisis gross-up, sampai aplikasi perhitungan.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Novelty dipisahkan dengan tegas. Pemisahan aturan dari kode bukan novelty. Novelty ada di analisis gross-up di bawah TER dan bukti empiris di Indonesia. Penilaian jujur saya: sedang, dan bisa naik jika hipotesis gross-up terbukti.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Cakupan dikunci pada PPh 21 pegawai tetap. LLM sengaja tidak dipakai karena tidak dibutuhkan untuk tujuan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data publik: regulasi, contoh resmi, implementasi yang tersedia publik, dan data yang dibangun sendiri. Kasus uji difokuskan pada titik rawan seperti batas lapisan TER dan pita gross-up ganda.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Delapan tahap selama 12 bulan. Tahap 3, validasi knowledge base oleh ahli pajak, menjadi acuan semua evaluasi. Tahap 5, analisis formal komponen melingkar, adalah inti novelty.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Evaluasinya mencakup kebenaran knowledge base, hasil analisis gross-up, kesesuaian aplikasi yang ada, biaya pemeliharaan, ekspresivitas, dan kinerja.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Teknologinya sederhana. Python untuk mesin, YAML untuk knowledge base, Z3 hanya untuk analisis gross-up dan konsistensi, pytest untuk kasus uji, dan aplikasi web sederhana.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Jadwal 12 bulan. Batang oranye adalah tahap paling menentukan.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Risiko utama beserta mitigasinya. Yang paling penting: jika PMK 168 ternyata menetapkan prosedur gross-up tertentu, analisis tetap berjalan dengan pertanyaan apakah prosedur resmi itu konsisten dan tunggal.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realistis: tesis layak, artikel utama ke SINTA 1, dan Q2 mungkin jika hipotesis gross-up terbukti. Judul jurnal menonjolkan analisis gross-up di bawah 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Ringkasnya: masalahnya aturan di kode, solusinya knowledge base dua lapis, dan kebaruannya analisis gross-up di bawah TER yang diuji pada aplikasi nyata. Terima kasih.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slideLayout" Target="../slideLayouts/slideLayout1.xml"/><Relationship Id="rId1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Text 0"/>
          <p:cNvSpPr txBox="1"/>
          <p:nvPr/>
        </p:nvSpPr>
        <p:spPr>
          <a:xfrm>
            <a:off x="548640" y="502920"/>
            <a:ext cx="8046720" cy="320040"/>
          </a:xfrm>
          <a:prstGeom prst="rect">
            <a:avLst/>
          </a:prstGeom>
          <a:noFill/>
          <a:ln/>
        </p:spPr>
        <p:txBody>
          <a:bodyPr wrap="square" lIns="0" tIns="0" rIns="0" bIns="0" rtlCol="0" anchor="t"/>
          <a:lstStyle/>
          <a:p>
            <a:pPr indent="0" marL="0">
              <a:buNone/>
            </a:pPr>
            <a:r>
              <a:rPr lang="en-US" sz="1200" b="1" spc="300" kern="0" dirty="0">
                <a:solidFill>
                  <a:srgbClr val="E8A33D"/>
                </a:solidFill>
                <a:latin typeface="Calibri" pitchFamily="34" charset="0"/>
                <a:ea typeface="Calibri" pitchFamily="34" charset="-122"/>
                <a:cs typeface="Calibri" pitchFamily="34" charset="-120"/>
              </a:rPr>
              <a:t>SEMINAR PROPOSAL TESIS  ·  S2 INFORMATIKA</a:t>
            </a:r>
            <a:endParaRPr lang="en-US" sz="1200" dirty="0"/>
          </a:p>
        </p:txBody>
      </p:sp>
      <p:sp>
        <p:nvSpPr>
          <p:cNvPr id="3" name="Text 1"/>
          <p:cNvSpPr txBox="1"/>
          <p:nvPr/>
        </p:nvSpPr>
        <p:spPr>
          <a:xfrm>
            <a:off x="548640" y="960120"/>
            <a:ext cx="8046720" cy="1645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Sistem Perhitungan PPh Pasal 21 Berbasis Knowledge Base yang Dapat Disesuaikan dengan Kebijakan Penggajian Perusahaan Tanpa Mengubah Kode Program</a:t>
            </a:r>
            <a:endParaRPr lang="en-US" sz="2600" dirty="0"/>
          </a:p>
        </p:txBody>
      </p:sp>
      <p:sp>
        <p:nvSpPr>
          <p:cNvPr id="4" name="Text 2"/>
          <p:cNvSpPr txBox="1"/>
          <p:nvPr/>
        </p:nvSpPr>
        <p:spPr>
          <a:xfrm>
            <a:off x="548640" y="2697480"/>
            <a:ext cx="8046720" cy="320040"/>
          </a:xfrm>
          <a:prstGeom prst="rect">
            <a:avLst/>
          </a:prstGeom>
          <a:noFill/>
          <a:ln/>
        </p:spPr>
        <p:txBody>
          <a:bodyPr wrap="square" lIns="0" tIns="0" rIns="0" bIns="0" rtlCol="0" anchor="t"/>
          <a:lstStyle/>
          <a:p>
            <a:pPr indent="0" marL="0">
              <a:buNone/>
            </a:pPr>
            <a:r>
              <a:rPr lang="en-US" sz="1400" i="1" dirty="0">
                <a:solidFill>
                  <a:srgbClr val="BFE0D6"/>
                </a:solidFill>
                <a:latin typeface="Calibri" pitchFamily="34" charset="0"/>
                <a:ea typeface="Calibri" pitchFamily="34" charset="-122"/>
                <a:cs typeface="Calibri" pitchFamily="34" charset="-120"/>
              </a:rPr>
              <a:t>Knowledge-Based System  ·  Rules as Code  ·  Gross-Up di Bawah Skema TER</a:t>
            </a:r>
            <a:endParaRPr lang="en-US" sz="1400" dirty="0"/>
          </a:p>
        </p:txBody>
      </p:sp>
      <p:sp>
        <p:nvSpPr>
          <p:cNvPr id="5" name="Shape 3"/>
          <p:cNvSpPr/>
          <p:nvPr/>
        </p:nvSpPr>
        <p:spPr>
          <a:xfrm>
            <a:off x="548640" y="3840480"/>
            <a:ext cx="548640" cy="548640"/>
          </a:xfrm>
          <a:prstGeom prst="ellipse">
            <a:avLst/>
          </a:prstGeom>
          <a:solidFill>
            <a:srgbClr val="E8A33D"/>
          </a:solidFill>
          <a:ln w="12700">
            <a:solidFill>
              <a:srgbClr val="E8A33D"/>
            </a:solidFill>
            <a:prstDash val="solid"/>
          </a:ln>
        </p:spPr>
      </p:sp>
      <p:pic>
        <p:nvPicPr>
          <p:cNvPr id="6" name="Image 0" descr="preencoded.png">    </p:cNvPr>
          <p:cNvPicPr>
            <a:picLocks noChangeAspect="1"/>
          </p:cNvPicPr>
          <p:nvPr/>
        </p:nvPicPr>
        <p:blipFill>
          <a:blip r:embed="rId1"/>
          <a:stretch>
            <a:fillRect/>
          </a:stretch>
        </p:blipFill>
        <p:spPr>
          <a:xfrm>
            <a:off x="685800" y="3977640"/>
            <a:ext cx="274320" cy="274320"/>
          </a:xfrm>
          <a:prstGeom prst="rect">
            <a:avLst/>
          </a:prstGeom>
        </p:spPr>
      </p:pic>
      <p:sp>
        <p:nvSpPr>
          <p:cNvPr id="7" name="Text 4"/>
          <p:cNvSpPr txBox="1"/>
          <p:nvPr/>
        </p:nvSpPr>
        <p:spPr>
          <a:xfrm>
            <a:off x="1207008" y="3840480"/>
            <a:ext cx="128016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Lapisan regulasi</a:t>
            </a:r>
            <a:endParaRPr lang="en-US" sz="1200" dirty="0"/>
          </a:p>
        </p:txBody>
      </p:sp>
      <p:sp>
        <p:nvSpPr>
          <p:cNvPr id="8" name="Shape 5"/>
          <p:cNvSpPr/>
          <p:nvPr/>
        </p:nvSpPr>
        <p:spPr>
          <a:xfrm>
            <a:off x="2560320" y="3840480"/>
            <a:ext cx="548640" cy="548640"/>
          </a:xfrm>
          <a:prstGeom prst="ellipse">
            <a:avLst/>
          </a:prstGeom>
          <a:solidFill>
            <a:srgbClr val="E8A33D"/>
          </a:solidFill>
          <a:ln w="12700">
            <a:solidFill>
              <a:srgbClr val="E8A33D"/>
            </a:solidFill>
            <a:prstDash val="solid"/>
          </a:ln>
        </p:spPr>
      </p:sp>
      <p:pic>
        <p:nvPicPr>
          <p:cNvPr id="9" name="Image 1" descr="preencoded.png">    </p:cNvPr>
          <p:cNvPicPr>
            <a:picLocks noChangeAspect="1"/>
          </p:cNvPicPr>
          <p:nvPr/>
        </p:nvPicPr>
        <p:blipFill>
          <a:blip r:embed="rId2"/>
          <a:stretch>
            <a:fillRect/>
          </a:stretch>
        </p:blipFill>
        <p:spPr>
          <a:xfrm>
            <a:off x="2697480" y="3977640"/>
            <a:ext cx="274320" cy="274320"/>
          </a:xfrm>
          <a:prstGeom prst="rect">
            <a:avLst/>
          </a:prstGeom>
        </p:spPr>
      </p:pic>
      <p:sp>
        <p:nvSpPr>
          <p:cNvPr id="10" name="Text 6"/>
          <p:cNvSpPr txBox="1"/>
          <p:nvPr/>
        </p:nvSpPr>
        <p:spPr>
          <a:xfrm>
            <a:off x="3218688" y="3840480"/>
            <a:ext cx="128016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Kebijakan perusahaan</a:t>
            </a:r>
            <a:endParaRPr lang="en-US" sz="1200" dirty="0"/>
          </a:p>
        </p:txBody>
      </p:sp>
      <p:sp>
        <p:nvSpPr>
          <p:cNvPr id="11" name="Shape 7"/>
          <p:cNvSpPr/>
          <p:nvPr/>
        </p:nvSpPr>
        <p:spPr>
          <a:xfrm>
            <a:off x="4572000" y="3840480"/>
            <a:ext cx="548640" cy="548640"/>
          </a:xfrm>
          <a:prstGeom prst="ellipse">
            <a:avLst/>
          </a:prstGeom>
          <a:solidFill>
            <a:srgbClr val="E8A33D"/>
          </a:solidFill>
          <a:ln w="12700">
            <a:solidFill>
              <a:srgbClr val="E8A33D"/>
            </a:solidFill>
            <a:prstDash val="solid"/>
          </a:ln>
        </p:spPr>
      </p:sp>
      <p:pic>
        <p:nvPicPr>
          <p:cNvPr id="12" name="Image 2" descr="preencoded.png">    </p:cNvPr>
          <p:cNvPicPr>
            <a:picLocks noChangeAspect="1"/>
          </p:cNvPicPr>
          <p:nvPr/>
        </p:nvPicPr>
        <p:blipFill>
          <a:blip r:embed="rId3"/>
          <a:stretch>
            <a:fillRect/>
          </a:stretch>
        </p:blipFill>
        <p:spPr>
          <a:xfrm>
            <a:off x="4709160" y="3977640"/>
            <a:ext cx="274320" cy="274320"/>
          </a:xfrm>
          <a:prstGeom prst="rect">
            <a:avLst/>
          </a:prstGeom>
        </p:spPr>
      </p:pic>
      <p:sp>
        <p:nvSpPr>
          <p:cNvPr id="13" name="Text 8"/>
          <p:cNvSpPr txBox="1"/>
          <p:nvPr/>
        </p:nvSpPr>
        <p:spPr>
          <a:xfrm>
            <a:off x="5230368" y="3840480"/>
            <a:ext cx="128016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Mesin perhitungan</a:t>
            </a:r>
            <a:endParaRPr lang="en-US" sz="1200" dirty="0"/>
          </a:p>
        </p:txBody>
      </p:sp>
      <p:sp>
        <p:nvSpPr>
          <p:cNvPr id="14" name="Shape 9"/>
          <p:cNvSpPr/>
          <p:nvPr/>
        </p:nvSpPr>
        <p:spPr>
          <a:xfrm>
            <a:off x="6583680" y="3840480"/>
            <a:ext cx="548640" cy="548640"/>
          </a:xfrm>
          <a:prstGeom prst="ellipse">
            <a:avLst/>
          </a:prstGeom>
          <a:solidFill>
            <a:srgbClr val="E8A33D"/>
          </a:solidFill>
          <a:ln w="12700">
            <a:solidFill>
              <a:srgbClr val="E8A33D"/>
            </a:solidFill>
            <a:prstDash val="solid"/>
          </a:ln>
        </p:spPr>
      </p:sp>
      <p:pic>
        <p:nvPicPr>
          <p:cNvPr id="15" name="Image 3" descr="preencoded.png">    </p:cNvPr>
          <p:cNvPicPr>
            <a:picLocks noChangeAspect="1"/>
          </p:cNvPicPr>
          <p:nvPr/>
        </p:nvPicPr>
        <p:blipFill>
          <a:blip r:embed="rId4"/>
          <a:stretch>
            <a:fillRect/>
          </a:stretch>
        </p:blipFill>
        <p:spPr>
          <a:xfrm>
            <a:off x="6720840" y="3977640"/>
            <a:ext cx="274320" cy="274320"/>
          </a:xfrm>
          <a:prstGeom prst="rect">
            <a:avLst/>
          </a:prstGeom>
        </p:spPr>
      </p:pic>
      <p:sp>
        <p:nvSpPr>
          <p:cNvPr id="16" name="Text 10"/>
          <p:cNvSpPr txBox="1"/>
          <p:nvPr/>
        </p:nvSpPr>
        <p:spPr>
          <a:xfrm>
            <a:off x="7242048" y="3840480"/>
            <a:ext cx="128016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Hasil + rincian pasal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ALUR PRESENTASI</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Apa yang Akan Dibahas</a:t>
            </a:r>
            <a:endParaRPr lang="en-US" sz="2800" dirty="0"/>
          </a:p>
        </p:txBody>
      </p:sp>
      <p:sp>
        <p:nvSpPr>
          <p:cNvPr id="4" name="Shape 2"/>
          <p:cNvSpPr/>
          <p:nvPr/>
        </p:nvSpPr>
        <p:spPr>
          <a:xfrm>
            <a:off x="457200" y="1371600"/>
            <a:ext cx="4023360" cy="658368"/>
          </a:xfrm>
          <a:prstGeom prst="roundRect">
            <a:avLst>
              <a:gd name="adj" fmla="val 11111"/>
            </a:avLst>
          </a:prstGeom>
          <a:solidFill>
            <a:srgbClr val="EAF3F0"/>
          </a:solidFill>
          <a:ln w="12700">
            <a:solidFill>
              <a:srgbClr val="EAF3F0"/>
            </a:solidFill>
            <a:prstDash val="solid"/>
          </a:ln>
        </p:spPr>
      </p:sp>
      <p:sp>
        <p:nvSpPr>
          <p:cNvPr id="5" name="Shape 3"/>
          <p:cNvSpPr/>
          <p:nvPr/>
        </p:nvSpPr>
        <p:spPr>
          <a:xfrm>
            <a:off x="594360" y="1490472"/>
            <a:ext cx="420624" cy="420624"/>
          </a:xfrm>
          <a:prstGeom prst="ellipse">
            <a:avLst/>
          </a:prstGeom>
          <a:solidFill>
            <a:srgbClr val="0F3D3E"/>
          </a:solidFill>
          <a:ln w="12700">
            <a:solidFill>
              <a:srgbClr val="0F3D3E"/>
            </a:solidFill>
            <a:prstDash val="solid"/>
          </a:ln>
        </p:spPr>
      </p:sp>
      <p:sp>
        <p:nvSpPr>
          <p:cNvPr id="6" name="Text 4"/>
          <p:cNvSpPr txBox="1"/>
          <p:nvPr/>
        </p:nvSpPr>
        <p:spPr>
          <a:xfrm>
            <a:off x="594360" y="14904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70432" y="1371600"/>
            <a:ext cx="3200400" cy="658368"/>
          </a:xfrm>
          <a:prstGeom prst="rect">
            <a:avLst/>
          </a:prstGeom>
          <a:noFill/>
          <a:ln/>
        </p:spPr>
        <p:txBody>
          <a:bodyPr wrap="square" lIns="0" tIns="0" rIns="0" bIns="0" rtlCol="0" anchor="ctr"/>
          <a:lstStyle/>
          <a:p>
            <a:pPr indent="0" marL="0">
              <a:buNone/>
            </a:pPr>
            <a:r>
              <a:rPr lang="en-US" sz="1400" dirty="0">
                <a:solidFill>
                  <a:srgbClr val="1E2B2B"/>
                </a:solidFill>
                <a:latin typeface="Calibri" pitchFamily="34" charset="0"/>
                <a:ea typeface="Calibri" pitchFamily="34" charset="-122"/>
                <a:cs typeface="Calibri" pitchFamily="34" charset="-120"/>
              </a:rPr>
              <a:t>Latar belakang dan masalah</a:t>
            </a:r>
            <a:endParaRPr lang="en-US" sz="1400" dirty="0"/>
          </a:p>
        </p:txBody>
      </p:sp>
      <p:sp>
        <p:nvSpPr>
          <p:cNvPr id="8" name="Shape 6"/>
          <p:cNvSpPr/>
          <p:nvPr/>
        </p:nvSpPr>
        <p:spPr>
          <a:xfrm>
            <a:off x="457200" y="2194560"/>
            <a:ext cx="4023360" cy="658368"/>
          </a:xfrm>
          <a:prstGeom prst="roundRect">
            <a:avLst>
              <a:gd name="adj" fmla="val 11111"/>
            </a:avLst>
          </a:prstGeom>
          <a:solidFill>
            <a:srgbClr val="EAF3F0"/>
          </a:solidFill>
          <a:ln w="12700">
            <a:solidFill>
              <a:srgbClr val="EAF3F0"/>
            </a:solidFill>
            <a:prstDash val="solid"/>
          </a:ln>
        </p:spPr>
      </p:sp>
      <p:sp>
        <p:nvSpPr>
          <p:cNvPr id="9" name="Shape 7"/>
          <p:cNvSpPr/>
          <p:nvPr/>
        </p:nvSpPr>
        <p:spPr>
          <a:xfrm>
            <a:off x="594360" y="2313432"/>
            <a:ext cx="420624" cy="420624"/>
          </a:xfrm>
          <a:prstGeom prst="ellipse">
            <a:avLst/>
          </a:prstGeom>
          <a:solidFill>
            <a:srgbClr val="0F3D3E"/>
          </a:solidFill>
          <a:ln w="12700">
            <a:solidFill>
              <a:srgbClr val="0F3D3E"/>
            </a:solidFill>
            <a:prstDash val="solid"/>
          </a:ln>
        </p:spPr>
      </p:sp>
      <p:sp>
        <p:nvSpPr>
          <p:cNvPr id="10" name="Text 8"/>
          <p:cNvSpPr txBox="1"/>
          <p:nvPr/>
        </p:nvSpPr>
        <p:spPr>
          <a:xfrm>
            <a:off x="594360" y="23134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70432" y="2194560"/>
            <a:ext cx="3200400" cy="658368"/>
          </a:xfrm>
          <a:prstGeom prst="rect">
            <a:avLst/>
          </a:prstGeom>
          <a:noFill/>
          <a:ln/>
        </p:spPr>
        <p:txBody>
          <a:bodyPr wrap="square" lIns="0" tIns="0" rIns="0" bIns="0" rtlCol="0" anchor="ctr"/>
          <a:lstStyle/>
          <a:p>
            <a:pPr indent="0" marL="0">
              <a:buNone/>
            </a:pPr>
            <a:r>
              <a:rPr lang="en-US" sz="1400" dirty="0">
                <a:solidFill>
                  <a:srgbClr val="1E2B2B"/>
                </a:solidFill>
                <a:latin typeface="Calibri" pitchFamily="34" charset="0"/>
                <a:ea typeface="Calibri" pitchFamily="34" charset="-122"/>
                <a:cs typeface="Calibri" pitchFamily="34" charset="-120"/>
              </a:rPr>
              <a:t>Penelitian terkait dan posisi penelitian</a:t>
            </a:r>
            <a:endParaRPr lang="en-US" sz="1400" dirty="0"/>
          </a:p>
        </p:txBody>
      </p:sp>
      <p:sp>
        <p:nvSpPr>
          <p:cNvPr id="12" name="Shape 10"/>
          <p:cNvSpPr/>
          <p:nvPr/>
        </p:nvSpPr>
        <p:spPr>
          <a:xfrm>
            <a:off x="457200" y="3017520"/>
            <a:ext cx="4023360" cy="658368"/>
          </a:xfrm>
          <a:prstGeom prst="roundRect">
            <a:avLst>
              <a:gd name="adj" fmla="val 11111"/>
            </a:avLst>
          </a:prstGeom>
          <a:solidFill>
            <a:srgbClr val="EAF3F0"/>
          </a:solidFill>
          <a:ln w="12700">
            <a:solidFill>
              <a:srgbClr val="EAF3F0"/>
            </a:solidFill>
            <a:prstDash val="solid"/>
          </a:ln>
        </p:spPr>
      </p:sp>
      <p:sp>
        <p:nvSpPr>
          <p:cNvPr id="13" name="Shape 11"/>
          <p:cNvSpPr/>
          <p:nvPr/>
        </p:nvSpPr>
        <p:spPr>
          <a:xfrm>
            <a:off x="594360" y="3136392"/>
            <a:ext cx="420624" cy="420624"/>
          </a:xfrm>
          <a:prstGeom prst="ellipse">
            <a:avLst/>
          </a:prstGeom>
          <a:solidFill>
            <a:srgbClr val="0F3D3E"/>
          </a:solidFill>
          <a:ln w="12700">
            <a:solidFill>
              <a:srgbClr val="0F3D3E"/>
            </a:solidFill>
            <a:prstDash val="solid"/>
          </a:ln>
        </p:spPr>
      </p:sp>
      <p:sp>
        <p:nvSpPr>
          <p:cNvPr id="14" name="Text 12"/>
          <p:cNvSpPr txBox="1"/>
          <p:nvPr/>
        </p:nvSpPr>
        <p:spPr>
          <a:xfrm>
            <a:off x="594360" y="31363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170432" y="3017520"/>
            <a:ext cx="3200400" cy="658368"/>
          </a:xfrm>
          <a:prstGeom prst="rect">
            <a:avLst/>
          </a:prstGeom>
          <a:noFill/>
          <a:ln/>
        </p:spPr>
        <p:txBody>
          <a:bodyPr wrap="square" lIns="0" tIns="0" rIns="0" bIns="0" rtlCol="0" anchor="ctr"/>
          <a:lstStyle/>
          <a:p>
            <a:pPr indent="0" marL="0">
              <a:buNone/>
            </a:pPr>
            <a:r>
              <a:rPr lang="en-US" sz="1400" dirty="0">
                <a:solidFill>
                  <a:srgbClr val="1E2B2B"/>
                </a:solidFill>
                <a:latin typeface="Calibri" pitchFamily="34" charset="0"/>
                <a:ea typeface="Calibri" pitchFamily="34" charset="-122"/>
                <a:cs typeface="Calibri" pitchFamily="34" charset="-120"/>
              </a:rPr>
              <a:t>Solusi: knowledge base dua lapis</a:t>
            </a:r>
            <a:endParaRPr lang="en-US" sz="1400" dirty="0"/>
          </a:p>
        </p:txBody>
      </p:sp>
      <p:sp>
        <p:nvSpPr>
          <p:cNvPr id="16" name="Shape 14"/>
          <p:cNvSpPr/>
          <p:nvPr/>
        </p:nvSpPr>
        <p:spPr>
          <a:xfrm>
            <a:off x="457200" y="3840480"/>
            <a:ext cx="4023360" cy="658368"/>
          </a:xfrm>
          <a:prstGeom prst="roundRect">
            <a:avLst>
              <a:gd name="adj" fmla="val 11111"/>
            </a:avLst>
          </a:prstGeom>
          <a:solidFill>
            <a:srgbClr val="EAF3F0"/>
          </a:solidFill>
          <a:ln w="12700">
            <a:solidFill>
              <a:srgbClr val="EAF3F0"/>
            </a:solidFill>
            <a:prstDash val="solid"/>
          </a:ln>
        </p:spPr>
      </p:sp>
      <p:sp>
        <p:nvSpPr>
          <p:cNvPr id="17" name="Shape 15"/>
          <p:cNvSpPr/>
          <p:nvPr/>
        </p:nvSpPr>
        <p:spPr>
          <a:xfrm>
            <a:off x="594360" y="3959352"/>
            <a:ext cx="420624" cy="420624"/>
          </a:xfrm>
          <a:prstGeom prst="ellipse">
            <a:avLst/>
          </a:prstGeom>
          <a:solidFill>
            <a:srgbClr val="E8A33D"/>
          </a:solidFill>
          <a:ln w="12700">
            <a:solidFill>
              <a:srgbClr val="E8A33D"/>
            </a:solidFill>
            <a:prstDash val="solid"/>
          </a:ln>
        </p:spPr>
      </p:sp>
      <p:sp>
        <p:nvSpPr>
          <p:cNvPr id="18" name="Text 16"/>
          <p:cNvSpPr txBox="1"/>
          <p:nvPr/>
        </p:nvSpPr>
        <p:spPr>
          <a:xfrm>
            <a:off x="594360" y="3959352"/>
            <a:ext cx="420624" cy="420624"/>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170432" y="3840480"/>
            <a:ext cx="3200400" cy="658368"/>
          </a:xfrm>
          <a:prstGeom prst="rect">
            <a:avLst/>
          </a:prstGeom>
          <a:noFill/>
          <a:ln/>
        </p:spPr>
        <p:txBody>
          <a:bodyPr wrap="square" lIns="0" tIns="0" rIns="0" bIns="0" rtlCol="0" anchor="ctr"/>
          <a:lstStyle/>
          <a:p>
            <a:pPr indent="0" marL="0">
              <a:buNone/>
            </a:pPr>
            <a:r>
              <a:rPr lang="en-US" sz="1400" dirty="0">
                <a:solidFill>
                  <a:srgbClr val="1E2B2B"/>
                </a:solidFill>
                <a:latin typeface="Calibri" pitchFamily="34" charset="0"/>
                <a:ea typeface="Calibri" pitchFamily="34" charset="-122"/>
                <a:cs typeface="Calibri" pitchFamily="34" charset="-120"/>
              </a:rPr>
              <a:t>Gross-up di bawah TER: temuan awal</a:t>
            </a:r>
            <a:endParaRPr lang="en-US" sz="1400" dirty="0"/>
          </a:p>
        </p:txBody>
      </p:sp>
      <p:sp>
        <p:nvSpPr>
          <p:cNvPr id="20" name="Shape 18"/>
          <p:cNvSpPr/>
          <p:nvPr/>
        </p:nvSpPr>
        <p:spPr>
          <a:xfrm>
            <a:off x="4663440" y="1371600"/>
            <a:ext cx="4023360" cy="658368"/>
          </a:xfrm>
          <a:prstGeom prst="roundRect">
            <a:avLst>
              <a:gd name="adj" fmla="val 11111"/>
            </a:avLst>
          </a:prstGeom>
          <a:solidFill>
            <a:srgbClr val="EAF3F0"/>
          </a:solidFill>
          <a:ln w="12700">
            <a:solidFill>
              <a:srgbClr val="EAF3F0"/>
            </a:solidFill>
            <a:prstDash val="solid"/>
          </a:ln>
        </p:spPr>
      </p:sp>
      <p:sp>
        <p:nvSpPr>
          <p:cNvPr id="21" name="Shape 19"/>
          <p:cNvSpPr/>
          <p:nvPr/>
        </p:nvSpPr>
        <p:spPr>
          <a:xfrm>
            <a:off x="4800600" y="1490472"/>
            <a:ext cx="420624" cy="420624"/>
          </a:xfrm>
          <a:prstGeom prst="ellipse">
            <a:avLst/>
          </a:prstGeom>
          <a:solidFill>
            <a:srgbClr val="0F3D3E"/>
          </a:solidFill>
          <a:ln w="12700">
            <a:solidFill>
              <a:srgbClr val="0F3D3E"/>
            </a:solidFill>
            <a:prstDash val="solid"/>
          </a:ln>
        </p:spPr>
      </p:sp>
      <p:sp>
        <p:nvSpPr>
          <p:cNvPr id="22" name="Text 20"/>
          <p:cNvSpPr txBox="1"/>
          <p:nvPr/>
        </p:nvSpPr>
        <p:spPr>
          <a:xfrm>
            <a:off x="4800600" y="14904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5376672" y="1371600"/>
            <a:ext cx="3200400" cy="658368"/>
          </a:xfrm>
          <a:prstGeom prst="rect">
            <a:avLst/>
          </a:prstGeom>
          <a:noFill/>
          <a:ln/>
        </p:spPr>
        <p:txBody>
          <a:bodyPr wrap="square" lIns="0" tIns="0" rIns="0" bIns="0" rtlCol="0" anchor="ctr"/>
          <a:lstStyle/>
          <a:p>
            <a:pPr indent="0" marL="0">
              <a:buNone/>
            </a:pPr>
            <a:r>
              <a:rPr lang="en-US" sz="1400" dirty="0">
                <a:solidFill>
                  <a:srgbClr val="1E2B2B"/>
                </a:solidFill>
                <a:latin typeface="Calibri" pitchFamily="34" charset="0"/>
                <a:ea typeface="Calibri" pitchFamily="34" charset="-122"/>
                <a:cs typeface="Calibri" pitchFamily="34" charset="-120"/>
              </a:rPr>
              <a:t>Rumusan masalah, tujuan, dan novelty</a:t>
            </a:r>
            <a:endParaRPr lang="en-US" sz="1400" dirty="0"/>
          </a:p>
        </p:txBody>
      </p:sp>
      <p:sp>
        <p:nvSpPr>
          <p:cNvPr id="24" name="Shape 22"/>
          <p:cNvSpPr/>
          <p:nvPr/>
        </p:nvSpPr>
        <p:spPr>
          <a:xfrm>
            <a:off x="4663440" y="2194560"/>
            <a:ext cx="4023360" cy="658368"/>
          </a:xfrm>
          <a:prstGeom prst="roundRect">
            <a:avLst>
              <a:gd name="adj" fmla="val 11111"/>
            </a:avLst>
          </a:prstGeom>
          <a:solidFill>
            <a:srgbClr val="EAF3F0"/>
          </a:solidFill>
          <a:ln w="12700">
            <a:solidFill>
              <a:srgbClr val="EAF3F0"/>
            </a:solidFill>
            <a:prstDash val="solid"/>
          </a:ln>
        </p:spPr>
      </p:sp>
      <p:sp>
        <p:nvSpPr>
          <p:cNvPr id="25" name="Shape 23"/>
          <p:cNvSpPr/>
          <p:nvPr/>
        </p:nvSpPr>
        <p:spPr>
          <a:xfrm>
            <a:off x="4800600" y="2313432"/>
            <a:ext cx="420624" cy="420624"/>
          </a:xfrm>
          <a:prstGeom prst="ellipse">
            <a:avLst/>
          </a:prstGeom>
          <a:solidFill>
            <a:srgbClr val="0F3D3E"/>
          </a:solidFill>
          <a:ln w="12700">
            <a:solidFill>
              <a:srgbClr val="0F3D3E"/>
            </a:solidFill>
            <a:prstDash val="solid"/>
          </a:ln>
        </p:spPr>
      </p:sp>
      <p:sp>
        <p:nvSpPr>
          <p:cNvPr id="26" name="Text 24"/>
          <p:cNvSpPr txBox="1"/>
          <p:nvPr/>
        </p:nvSpPr>
        <p:spPr>
          <a:xfrm>
            <a:off x="4800600" y="23134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5376672" y="2194560"/>
            <a:ext cx="3200400" cy="658368"/>
          </a:xfrm>
          <a:prstGeom prst="rect">
            <a:avLst/>
          </a:prstGeom>
          <a:noFill/>
          <a:ln/>
        </p:spPr>
        <p:txBody>
          <a:bodyPr wrap="square" lIns="0" tIns="0" rIns="0" bIns="0" rtlCol="0" anchor="ctr"/>
          <a:lstStyle/>
          <a:p>
            <a:pPr indent="0" marL="0">
              <a:buNone/>
            </a:pPr>
            <a:r>
              <a:rPr lang="en-US" sz="1400" dirty="0">
                <a:solidFill>
                  <a:srgbClr val="1E2B2B"/>
                </a:solidFill>
                <a:latin typeface="Calibri" pitchFamily="34" charset="0"/>
                <a:ea typeface="Calibri" pitchFamily="34" charset="-122"/>
                <a:cs typeface="Calibri" pitchFamily="34" charset="-120"/>
              </a:rPr>
              <a:t>Batasan dan dataset</a:t>
            </a:r>
            <a:endParaRPr lang="en-US" sz="1400" dirty="0"/>
          </a:p>
        </p:txBody>
      </p:sp>
      <p:sp>
        <p:nvSpPr>
          <p:cNvPr id="28" name="Shape 26"/>
          <p:cNvSpPr/>
          <p:nvPr/>
        </p:nvSpPr>
        <p:spPr>
          <a:xfrm>
            <a:off x="4663440" y="3017520"/>
            <a:ext cx="4023360" cy="658368"/>
          </a:xfrm>
          <a:prstGeom prst="roundRect">
            <a:avLst>
              <a:gd name="adj" fmla="val 11111"/>
            </a:avLst>
          </a:prstGeom>
          <a:solidFill>
            <a:srgbClr val="EAF3F0"/>
          </a:solidFill>
          <a:ln w="12700">
            <a:solidFill>
              <a:srgbClr val="EAF3F0"/>
            </a:solidFill>
            <a:prstDash val="solid"/>
          </a:ln>
        </p:spPr>
      </p:sp>
      <p:sp>
        <p:nvSpPr>
          <p:cNvPr id="29" name="Shape 27"/>
          <p:cNvSpPr/>
          <p:nvPr/>
        </p:nvSpPr>
        <p:spPr>
          <a:xfrm>
            <a:off x="4800600" y="3136392"/>
            <a:ext cx="420624" cy="420624"/>
          </a:xfrm>
          <a:prstGeom prst="ellipse">
            <a:avLst/>
          </a:prstGeom>
          <a:solidFill>
            <a:srgbClr val="0F3D3E"/>
          </a:solidFill>
          <a:ln w="12700">
            <a:solidFill>
              <a:srgbClr val="0F3D3E"/>
            </a:solidFill>
            <a:prstDash val="solid"/>
          </a:ln>
        </p:spPr>
      </p:sp>
      <p:sp>
        <p:nvSpPr>
          <p:cNvPr id="30" name="Text 28"/>
          <p:cNvSpPr txBox="1"/>
          <p:nvPr/>
        </p:nvSpPr>
        <p:spPr>
          <a:xfrm>
            <a:off x="4800600" y="31363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txBox="1"/>
          <p:nvPr/>
        </p:nvSpPr>
        <p:spPr>
          <a:xfrm>
            <a:off x="5376672" y="3017520"/>
            <a:ext cx="3200400" cy="658368"/>
          </a:xfrm>
          <a:prstGeom prst="rect">
            <a:avLst/>
          </a:prstGeom>
          <a:noFill/>
          <a:ln/>
        </p:spPr>
        <p:txBody>
          <a:bodyPr wrap="square" lIns="0" tIns="0" rIns="0" bIns="0" rtlCol="0" anchor="ctr"/>
          <a:lstStyle/>
          <a:p>
            <a:pPr indent="0" marL="0">
              <a:buNone/>
            </a:pPr>
            <a:r>
              <a:rPr lang="en-US" sz="1400" dirty="0">
                <a:solidFill>
                  <a:srgbClr val="1E2B2B"/>
                </a:solidFill>
                <a:latin typeface="Calibri" pitchFamily="34" charset="0"/>
                <a:ea typeface="Calibri" pitchFamily="34" charset="-122"/>
                <a:cs typeface="Calibri" pitchFamily="34" charset="-120"/>
              </a:rPr>
              <a:t>Metode dan rancangan evaluasi</a:t>
            </a:r>
            <a:endParaRPr lang="en-US" sz="1400" dirty="0"/>
          </a:p>
        </p:txBody>
      </p:sp>
      <p:sp>
        <p:nvSpPr>
          <p:cNvPr id="32" name="Shape 30"/>
          <p:cNvSpPr/>
          <p:nvPr/>
        </p:nvSpPr>
        <p:spPr>
          <a:xfrm>
            <a:off x="4663440" y="3840480"/>
            <a:ext cx="4023360" cy="658368"/>
          </a:xfrm>
          <a:prstGeom prst="roundRect">
            <a:avLst>
              <a:gd name="adj" fmla="val 11111"/>
            </a:avLst>
          </a:prstGeom>
          <a:solidFill>
            <a:srgbClr val="EAF3F0"/>
          </a:solidFill>
          <a:ln w="12700">
            <a:solidFill>
              <a:srgbClr val="EAF3F0"/>
            </a:solidFill>
            <a:prstDash val="solid"/>
          </a:ln>
        </p:spPr>
      </p:sp>
      <p:sp>
        <p:nvSpPr>
          <p:cNvPr id="33" name="Shape 31"/>
          <p:cNvSpPr/>
          <p:nvPr/>
        </p:nvSpPr>
        <p:spPr>
          <a:xfrm>
            <a:off x="4800600" y="3959352"/>
            <a:ext cx="420624" cy="420624"/>
          </a:xfrm>
          <a:prstGeom prst="ellipse">
            <a:avLst/>
          </a:prstGeom>
          <a:solidFill>
            <a:srgbClr val="0F3D3E"/>
          </a:solidFill>
          <a:ln w="12700">
            <a:solidFill>
              <a:srgbClr val="0F3D3E"/>
            </a:solidFill>
            <a:prstDash val="solid"/>
          </a:ln>
        </p:spPr>
      </p:sp>
      <p:sp>
        <p:nvSpPr>
          <p:cNvPr id="34" name="Text 32"/>
          <p:cNvSpPr txBox="1"/>
          <p:nvPr/>
        </p:nvSpPr>
        <p:spPr>
          <a:xfrm>
            <a:off x="4800600" y="39593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5" name="Text 33"/>
          <p:cNvSpPr txBox="1"/>
          <p:nvPr/>
        </p:nvSpPr>
        <p:spPr>
          <a:xfrm>
            <a:off x="5376672" y="3840480"/>
            <a:ext cx="3200400" cy="658368"/>
          </a:xfrm>
          <a:prstGeom prst="rect">
            <a:avLst/>
          </a:prstGeom>
          <a:noFill/>
          <a:ln/>
        </p:spPr>
        <p:txBody>
          <a:bodyPr wrap="square" lIns="0" tIns="0" rIns="0" bIns="0" rtlCol="0" anchor="ctr"/>
          <a:lstStyle/>
          <a:p>
            <a:pPr indent="0" marL="0">
              <a:buNone/>
            </a:pPr>
            <a:r>
              <a:rPr lang="en-US" sz="1400" dirty="0">
                <a:solidFill>
                  <a:srgbClr val="1E2B2B"/>
                </a:solidFill>
                <a:latin typeface="Calibri" pitchFamily="34" charset="0"/>
                <a:ea typeface="Calibri" pitchFamily="34" charset="-122"/>
                <a:cs typeface="Calibri" pitchFamily="34" charset="-120"/>
              </a:rPr>
              <a:t>Jadwal, risiko, dan target publikasi</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01 · LATAR BELAKANG</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PPh 21: Dipakai Masif, Perhitungannya Rumit</a:t>
            </a:r>
            <a:endParaRPr lang="en-US" sz="2800" dirty="0"/>
          </a:p>
        </p:txBody>
      </p:sp>
      <p:sp>
        <p:nvSpPr>
          <p:cNvPr id="4" name="Shape 2"/>
          <p:cNvSpPr/>
          <p:nvPr/>
        </p:nvSpPr>
        <p:spPr>
          <a:xfrm>
            <a:off x="457200" y="1280160"/>
            <a:ext cx="2624328" cy="914400"/>
          </a:xfrm>
          <a:prstGeom prst="roundRect">
            <a:avLst>
              <a:gd name="adj" fmla="val 8000"/>
            </a:avLst>
          </a:prstGeom>
          <a:solidFill>
            <a:srgbClr val="EAF3F0"/>
          </a:solidFill>
          <a:ln w="12700">
            <a:solidFill>
              <a:srgbClr val="EAF3F0"/>
            </a:solidFill>
            <a:prstDash val="solid"/>
          </a:ln>
        </p:spPr>
      </p:sp>
      <p:sp>
        <p:nvSpPr>
          <p:cNvPr id="5" name="Shape 3"/>
          <p:cNvSpPr/>
          <p:nvPr/>
        </p:nvSpPr>
        <p:spPr>
          <a:xfrm>
            <a:off x="594360" y="1481328"/>
            <a:ext cx="502920" cy="502920"/>
          </a:xfrm>
          <a:prstGeom prst="ellipse">
            <a:avLst/>
          </a:prstGeom>
          <a:solidFill>
            <a:srgbClr val="0F3D3E"/>
          </a:solidFill>
          <a:ln w="12700">
            <a:solidFill>
              <a:srgbClr val="0F3D3E"/>
            </a:solidFill>
            <a:prstDash val="solid"/>
          </a:ln>
        </p:spPr>
      </p:sp>
      <p:pic>
        <p:nvPicPr>
          <p:cNvPr id="6" name="Image 0" descr="preencoded.png">    </p:cNvPr>
          <p:cNvPicPr>
            <a:picLocks noChangeAspect="1"/>
          </p:cNvPicPr>
          <p:nvPr/>
        </p:nvPicPr>
        <p:blipFill>
          <a:blip r:embed="rId1"/>
          <a:stretch>
            <a:fillRect/>
          </a:stretch>
        </p:blipFill>
        <p:spPr>
          <a:xfrm>
            <a:off x="720090" y="1607058"/>
            <a:ext cx="251460" cy="251460"/>
          </a:xfrm>
          <a:prstGeom prst="rect">
            <a:avLst/>
          </a:prstGeom>
        </p:spPr>
      </p:pic>
      <p:sp>
        <p:nvSpPr>
          <p:cNvPr id="7" name="Text 4"/>
          <p:cNvSpPr txBox="1"/>
          <p:nvPr/>
        </p:nvSpPr>
        <p:spPr>
          <a:xfrm>
            <a:off x="1207008" y="1280160"/>
            <a:ext cx="1783080" cy="914400"/>
          </a:xfrm>
          <a:prstGeom prst="rect">
            <a:avLst/>
          </a:prstGeom>
          <a:noFill/>
          <a:ln/>
        </p:spPr>
        <p:txBody>
          <a:bodyPr wrap="square" lIns="0" tIns="0" rIns="0" bIns="0" rtlCol="0" anchor="ctr"/>
          <a:lstStyle/>
          <a:p>
            <a:pPr indent="0" marL="0">
              <a:buNone/>
            </a:pPr>
            <a:r>
              <a:rPr lang="en-US" sz="1200" dirty="0">
                <a:solidFill>
                  <a:srgbClr val="1E2B2B"/>
                </a:solidFill>
                <a:latin typeface="Calibri" pitchFamily="34" charset="0"/>
                <a:ea typeface="Calibri" pitchFamily="34" charset="-122"/>
                <a:cs typeface="Calibri" pitchFamily="34" charset="-120"/>
              </a:rPr>
              <a:t>Tarif TER bulanan + Pasal 17 di masa pajak terakhir</a:t>
            </a:r>
            <a:endParaRPr lang="en-US" sz="1200" dirty="0"/>
          </a:p>
        </p:txBody>
      </p:sp>
      <p:sp>
        <p:nvSpPr>
          <p:cNvPr id="8" name="Shape 5"/>
          <p:cNvSpPr/>
          <p:nvPr/>
        </p:nvSpPr>
        <p:spPr>
          <a:xfrm>
            <a:off x="3264408" y="1280160"/>
            <a:ext cx="2624328" cy="914400"/>
          </a:xfrm>
          <a:prstGeom prst="roundRect">
            <a:avLst>
              <a:gd name="adj" fmla="val 8000"/>
            </a:avLst>
          </a:prstGeom>
          <a:solidFill>
            <a:srgbClr val="EAF3F0"/>
          </a:solidFill>
          <a:ln w="12700">
            <a:solidFill>
              <a:srgbClr val="EAF3F0"/>
            </a:solidFill>
            <a:prstDash val="solid"/>
          </a:ln>
        </p:spPr>
      </p:sp>
      <p:sp>
        <p:nvSpPr>
          <p:cNvPr id="9" name="Shape 6"/>
          <p:cNvSpPr/>
          <p:nvPr/>
        </p:nvSpPr>
        <p:spPr>
          <a:xfrm>
            <a:off x="3401568" y="1481328"/>
            <a:ext cx="502920" cy="502920"/>
          </a:xfrm>
          <a:prstGeom prst="ellipse">
            <a:avLst/>
          </a:prstGeom>
          <a:solidFill>
            <a:srgbClr val="0F3D3E"/>
          </a:solidFill>
          <a:ln w="12700">
            <a:solidFill>
              <a:srgbClr val="0F3D3E"/>
            </a:solidFill>
            <a:prstDash val="solid"/>
          </a:ln>
        </p:spPr>
      </p:sp>
      <p:pic>
        <p:nvPicPr>
          <p:cNvPr id="10" name="Image 1" descr="preencoded.png">    </p:cNvPr>
          <p:cNvPicPr>
            <a:picLocks noChangeAspect="1"/>
          </p:cNvPicPr>
          <p:nvPr/>
        </p:nvPicPr>
        <p:blipFill>
          <a:blip r:embed="rId2"/>
          <a:stretch>
            <a:fillRect/>
          </a:stretch>
        </p:blipFill>
        <p:spPr>
          <a:xfrm>
            <a:off x="3527298" y="1607058"/>
            <a:ext cx="251460" cy="251460"/>
          </a:xfrm>
          <a:prstGeom prst="rect">
            <a:avLst/>
          </a:prstGeom>
        </p:spPr>
      </p:pic>
      <p:sp>
        <p:nvSpPr>
          <p:cNvPr id="11" name="Text 7"/>
          <p:cNvSpPr txBox="1"/>
          <p:nvPr/>
        </p:nvSpPr>
        <p:spPr>
          <a:xfrm>
            <a:off x="4014216" y="1280160"/>
            <a:ext cx="1783080" cy="914400"/>
          </a:xfrm>
          <a:prstGeom prst="rect">
            <a:avLst/>
          </a:prstGeom>
          <a:noFill/>
          <a:ln/>
        </p:spPr>
        <p:txBody>
          <a:bodyPr wrap="square" lIns="0" tIns="0" rIns="0" bIns="0" rtlCol="0" anchor="ctr"/>
          <a:lstStyle/>
          <a:p>
            <a:pPr indent="0" marL="0">
              <a:buNone/>
            </a:pPr>
            <a:r>
              <a:rPr lang="en-US" sz="1200" dirty="0">
                <a:solidFill>
                  <a:srgbClr val="1E2B2B"/>
                </a:solidFill>
                <a:latin typeface="Calibri" pitchFamily="34" charset="0"/>
                <a:ea typeface="Calibri" pitchFamily="34" charset="-122"/>
                <a:cs typeface="Calibri" pitchFamily="34" charset="-120"/>
              </a:rPr>
              <a:t>Status PTKP menentukan kategori TER A, B, C</a:t>
            </a:r>
            <a:endParaRPr lang="en-US" sz="1200" dirty="0"/>
          </a:p>
        </p:txBody>
      </p:sp>
      <p:sp>
        <p:nvSpPr>
          <p:cNvPr id="12" name="Shape 8"/>
          <p:cNvSpPr/>
          <p:nvPr/>
        </p:nvSpPr>
        <p:spPr>
          <a:xfrm>
            <a:off x="6071616" y="1280160"/>
            <a:ext cx="2624328" cy="914400"/>
          </a:xfrm>
          <a:prstGeom prst="roundRect">
            <a:avLst>
              <a:gd name="adj" fmla="val 8000"/>
            </a:avLst>
          </a:prstGeom>
          <a:solidFill>
            <a:srgbClr val="EAF3F0"/>
          </a:solidFill>
          <a:ln w="12700">
            <a:solidFill>
              <a:srgbClr val="EAF3F0"/>
            </a:solidFill>
            <a:prstDash val="solid"/>
          </a:ln>
        </p:spPr>
      </p:sp>
      <p:sp>
        <p:nvSpPr>
          <p:cNvPr id="13" name="Shape 9"/>
          <p:cNvSpPr/>
          <p:nvPr/>
        </p:nvSpPr>
        <p:spPr>
          <a:xfrm>
            <a:off x="6208776" y="1481328"/>
            <a:ext cx="502920" cy="502920"/>
          </a:xfrm>
          <a:prstGeom prst="ellipse">
            <a:avLst/>
          </a:prstGeom>
          <a:solidFill>
            <a:srgbClr val="0F3D3E"/>
          </a:solidFill>
          <a:ln w="12700">
            <a:solidFill>
              <a:srgbClr val="0F3D3E"/>
            </a:solidFill>
            <a:prstDash val="solid"/>
          </a:ln>
        </p:spPr>
      </p:sp>
      <p:pic>
        <p:nvPicPr>
          <p:cNvPr id="14" name="Image 2" descr="preencoded.png">    </p:cNvPr>
          <p:cNvPicPr>
            <a:picLocks noChangeAspect="1"/>
          </p:cNvPicPr>
          <p:nvPr/>
        </p:nvPicPr>
        <p:blipFill>
          <a:blip r:embed="rId3"/>
          <a:stretch>
            <a:fillRect/>
          </a:stretch>
        </p:blipFill>
        <p:spPr>
          <a:xfrm>
            <a:off x="6334506" y="1607058"/>
            <a:ext cx="251460" cy="251460"/>
          </a:xfrm>
          <a:prstGeom prst="rect">
            <a:avLst/>
          </a:prstGeom>
        </p:spPr>
      </p:pic>
      <p:sp>
        <p:nvSpPr>
          <p:cNvPr id="15" name="Text 10"/>
          <p:cNvSpPr txBox="1"/>
          <p:nvPr/>
        </p:nvSpPr>
        <p:spPr>
          <a:xfrm>
            <a:off x="6821424" y="1280160"/>
            <a:ext cx="1783080" cy="914400"/>
          </a:xfrm>
          <a:prstGeom prst="rect">
            <a:avLst/>
          </a:prstGeom>
          <a:noFill/>
          <a:ln/>
        </p:spPr>
        <p:txBody>
          <a:bodyPr wrap="square" lIns="0" tIns="0" rIns="0" bIns="0" rtlCol="0" anchor="ctr"/>
          <a:lstStyle/>
          <a:p>
            <a:pPr indent="0" marL="0">
              <a:buNone/>
            </a:pPr>
            <a:r>
              <a:rPr lang="en-US" sz="1200" dirty="0">
                <a:solidFill>
                  <a:srgbClr val="1E2B2B"/>
                </a:solidFill>
                <a:latin typeface="Calibri" pitchFamily="34" charset="0"/>
                <a:ea typeface="Calibri" pitchFamily="34" charset="-122"/>
                <a:cs typeface="Calibri" pitchFamily="34" charset="-120"/>
              </a:rPr>
              <a:t>Gaji, tunjangan, lembur, THR, bonus, natura</a:t>
            </a:r>
            <a:endParaRPr lang="en-US" sz="1200" dirty="0"/>
          </a:p>
        </p:txBody>
      </p:sp>
      <p:sp>
        <p:nvSpPr>
          <p:cNvPr id="16" name="Shape 11"/>
          <p:cNvSpPr/>
          <p:nvPr/>
        </p:nvSpPr>
        <p:spPr>
          <a:xfrm>
            <a:off x="457200" y="2377440"/>
            <a:ext cx="2624328" cy="914400"/>
          </a:xfrm>
          <a:prstGeom prst="roundRect">
            <a:avLst>
              <a:gd name="adj" fmla="val 8000"/>
            </a:avLst>
          </a:prstGeom>
          <a:solidFill>
            <a:srgbClr val="EAF3F0"/>
          </a:solidFill>
          <a:ln w="12700">
            <a:solidFill>
              <a:srgbClr val="EAF3F0"/>
            </a:solidFill>
            <a:prstDash val="solid"/>
          </a:ln>
        </p:spPr>
      </p:sp>
      <p:sp>
        <p:nvSpPr>
          <p:cNvPr id="17" name="Shape 12"/>
          <p:cNvSpPr/>
          <p:nvPr/>
        </p:nvSpPr>
        <p:spPr>
          <a:xfrm>
            <a:off x="594360" y="2578608"/>
            <a:ext cx="502920" cy="502920"/>
          </a:xfrm>
          <a:prstGeom prst="ellipse">
            <a:avLst/>
          </a:prstGeom>
          <a:solidFill>
            <a:srgbClr val="0F3D3E"/>
          </a:solidFill>
          <a:ln w="12700">
            <a:solidFill>
              <a:srgbClr val="0F3D3E"/>
            </a:solidFill>
            <a:prstDash val="solid"/>
          </a:ln>
        </p:spPr>
      </p:sp>
      <p:pic>
        <p:nvPicPr>
          <p:cNvPr id="18" name="Image 3" descr="preencoded.png">    </p:cNvPr>
          <p:cNvPicPr>
            <a:picLocks noChangeAspect="1"/>
          </p:cNvPicPr>
          <p:nvPr/>
        </p:nvPicPr>
        <p:blipFill>
          <a:blip r:embed="rId4"/>
          <a:stretch>
            <a:fillRect/>
          </a:stretch>
        </p:blipFill>
        <p:spPr>
          <a:xfrm>
            <a:off x="720090" y="2704338"/>
            <a:ext cx="251460" cy="251460"/>
          </a:xfrm>
          <a:prstGeom prst="rect">
            <a:avLst/>
          </a:prstGeom>
        </p:spPr>
      </p:pic>
      <p:sp>
        <p:nvSpPr>
          <p:cNvPr id="19" name="Text 13"/>
          <p:cNvSpPr txBox="1"/>
          <p:nvPr/>
        </p:nvSpPr>
        <p:spPr>
          <a:xfrm>
            <a:off x="1207008" y="2377440"/>
            <a:ext cx="1783080" cy="914400"/>
          </a:xfrm>
          <a:prstGeom prst="rect">
            <a:avLst/>
          </a:prstGeom>
          <a:noFill/>
          <a:ln/>
        </p:spPr>
        <p:txBody>
          <a:bodyPr wrap="square" lIns="0" tIns="0" rIns="0" bIns="0" rtlCol="0" anchor="ctr"/>
          <a:lstStyle/>
          <a:p>
            <a:pPr indent="0" marL="0">
              <a:buNone/>
            </a:pPr>
            <a:r>
              <a:rPr lang="en-US" sz="1200" dirty="0">
                <a:solidFill>
                  <a:srgbClr val="1E2B2B"/>
                </a:solidFill>
                <a:latin typeface="Calibri" pitchFamily="34" charset="0"/>
                <a:ea typeface="Calibri" pitchFamily="34" charset="-122"/>
                <a:cs typeface="Calibri" pitchFamily="34" charset="-120"/>
              </a:rPr>
              <a:t>Pengurang: biaya jabatan, iuran pensiun, zakat</a:t>
            </a:r>
            <a:endParaRPr lang="en-US" sz="1200" dirty="0"/>
          </a:p>
        </p:txBody>
      </p:sp>
      <p:sp>
        <p:nvSpPr>
          <p:cNvPr id="20" name="Shape 14"/>
          <p:cNvSpPr/>
          <p:nvPr/>
        </p:nvSpPr>
        <p:spPr>
          <a:xfrm>
            <a:off x="3264408" y="2377440"/>
            <a:ext cx="2624328" cy="914400"/>
          </a:xfrm>
          <a:prstGeom prst="roundRect">
            <a:avLst>
              <a:gd name="adj" fmla="val 8000"/>
            </a:avLst>
          </a:prstGeom>
          <a:solidFill>
            <a:srgbClr val="EAF3F0"/>
          </a:solidFill>
          <a:ln w="12700">
            <a:solidFill>
              <a:srgbClr val="EAF3F0"/>
            </a:solidFill>
            <a:prstDash val="solid"/>
          </a:ln>
        </p:spPr>
      </p:sp>
      <p:sp>
        <p:nvSpPr>
          <p:cNvPr id="21" name="Shape 15"/>
          <p:cNvSpPr/>
          <p:nvPr/>
        </p:nvSpPr>
        <p:spPr>
          <a:xfrm>
            <a:off x="3401568" y="2578608"/>
            <a:ext cx="502920" cy="502920"/>
          </a:xfrm>
          <a:prstGeom prst="ellipse">
            <a:avLst/>
          </a:prstGeom>
          <a:solidFill>
            <a:srgbClr val="0F3D3E"/>
          </a:solidFill>
          <a:ln w="12700">
            <a:solidFill>
              <a:srgbClr val="0F3D3E"/>
            </a:solidFill>
            <a:prstDash val="solid"/>
          </a:ln>
        </p:spPr>
      </p:sp>
      <p:pic>
        <p:nvPicPr>
          <p:cNvPr id="22" name="Image 4" descr="preencoded.png">    </p:cNvPr>
          <p:cNvPicPr>
            <a:picLocks noChangeAspect="1"/>
          </p:cNvPicPr>
          <p:nvPr/>
        </p:nvPicPr>
        <p:blipFill>
          <a:blip r:embed="rId5"/>
          <a:stretch>
            <a:fillRect/>
          </a:stretch>
        </p:blipFill>
        <p:spPr>
          <a:xfrm>
            <a:off x="3527298" y="2704338"/>
            <a:ext cx="251460" cy="251460"/>
          </a:xfrm>
          <a:prstGeom prst="rect">
            <a:avLst/>
          </a:prstGeom>
        </p:spPr>
      </p:pic>
      <p:sp>
        <p:nvSpPr>
          <p:cNvPr id="23" name="Text 16"/>
          <p:cNvSpPr txBox="1"/>
          <p:nvPr/>
        </p:nvSpPr>
        <p:spPr>
          <a:xfrm>
            <a:off x="4014216" y="2377440"/>
            <a:ext cx="1783080" cy="914400"/>
          </a:xfrm>
          <a:prstGeom prst="rect">
            <a:avLst/>
          </a:prstGeom>
          <a:noFill/>
          <a:ln/>
        </p:spPr>
        <p:txBody>
          <a:bodyPr wrap="square" lIns="0" tIns="0" rIns="0" bIns="0" rtlCol="0" anchor="ctr"/>
          <a:lstStyle/>
          <a:p>
            <a:pPr indent="0" marL="0">
              <a:buNone/>
            </a:pPr>
            <a:r>
              <a:rPr lang="en-US" sz="1200" dirty="0">
                <a:solidFill>
                  <a:srgbClr val="1E2B2B"/>
                </a:solidFill>
                <a:latin typeface="Calibri" pitchFamily="34" charset="0"/>
                <a:ea typeface="Calibri" pitchFamily="34" charset="-122"/>
                <a:cs typeface="Calibri" pitchFamily="34" charset="-120"/>
              </a:rPr>
              <a:t>Metode gross atau gross-up</a:t>
            </a:r>
            <a:endParaRPr lang="en-US" sz="1200" dirty="0"/>
          </a:p>
        </p:txBody>
      </p:sp>
      <p:sp>
        <p:nvSpPr>
          <p:cNvPr id="24" name="Shape 17"/>
          <p:cNvSpPr/>
          <p:nvPr/>
        </p:nvSpPr>
        <p:spPr>
          <a:xfrm>
            <a:off x="6071616" y="2377440"/>
            <a:ext cx="2624328" cy="914400"/>
          </a:xfrm>
          <a:prstGeom prst="roundRect">
            <a:avLst>
              <a:gd name="adj" fmla="val 8000"/>
            </a:avLst>
          </a:prstGeom>
          <a:solidFill>
            <a:srgbClr val="EAF3F0"/>
          </a:solidFill>
          <a:ln w="12700">
            <a:solidFill>
              <a:srgbClr val="EAF3F0"/>
            </a:solidFill>
            <a:prstDash val="solid"/>
          </a:ln>
        </p:spPr>
      </p:sp>
      <p:sp>
        <p:nvSpPr>
          <p:cNvPr id="25" name="Shape 18"/>
          <p:cNvSpPr/>
          <p:nvPr/>
        </p:nvSpPr>
        <p:spPr>
          <a:xfrm>
            <a:off x="6208776" y="2578608"/>
            <a:ext cx="502920" cy="502920"/>
          </a:xfrm>
          <a:prstGeom prst="ellipse">
            <a:avLst/>
          </a:prstGeom>
          <a:solidFill>
            <a:srgbClr val="0F3D3E"/>
          </a:solidFill>
          <a:ln w="12700">
            <a:solidFill>
              <a:srgbClr val="0F3D3E"/>
            </a:solidFill>
            <a:prstDash val="solid"/>
          </a:ln>
        </p:spPr>
      </p:sp>
      <p:pic>
        <p:nvPicPr>
          <p:cNvPr id="26" name="Image 5" descr="preencoded.png">    </p:cNvPr>
          <p:cNvPicPr>
            <a:picLocks noChangeAspect="1"/>
          </p:cNvPicPr>
          <p:nvPr/>
        </p:nvPicPr>
        <p:blipFill>
          <a:blip r:embed="rId6"/>
          <a:stretch>
            <a:fillRect/>
          </a:stretch>
        </p:blipFill>
        <p:spPr>
          <a:xfrm>
            <a:off x="6334506" y="2704338"/>
            <a:ext cx="251460" cy="251460"/>
          </a:xfrm>
          <a:prstGeom prst="rect">
            <a:avLst/>
          </a:prstGeom>
        </p:spPr>
      </p:pic>
      <p:sp>
        <p:nvSpPr>
          <p:cNvPr id="27" name="Text 19"/>
          <p:cNvSpPr txBox="1"/>
          <p:nvPr/>
        </p:nvSpPr>
        <p:spPr>
          <a:xfrm>
            <a:off x="6821424" y="2377440"/>
            <a:ext cx="1783080" cy="914400"/>
          </a:xfrm>
          <a:prstGeom prst="rect">
            <a:avLst/>
          </a:prstGeom>
          <a:noFill/>
          <a:ln/>
        </p:spPr>
        <p:txBody>
          <a:bodyPr wrap="square" lIns="0" tIns="0" rIns="0" bIns="0" rtlCol="0" anchor="ctr"/>
          <a:lstStyle/>
          <a:p>
            <a:pPr indent="0" marL="0">
              <a:buNone/>
            </a:pPr>
            <a:r>
              <a:rPr lang="en-US" sz="1200" dirty="0">
                <a:solidFill>
                  <a:srgbClr val="1E2B2B"/>
                </a:solidFill>
                <a:latin typeface="Calibri" pitchFamily="34" charset="0"/>
                <a:ea typeface="Calibri" pitchFamily="34" charset="-122"/>
                <a:cs typeface="Calibri" pitchFamily="34" charset="-120"/>
              </a:rPr>
              <a:t>Insentif DTP untuk sektor tertentu</a:t>
            </a:r>
            <a:endParaRPr lang="en-US" sz="1200" dirty="0"/>
          </a:p>
        </p:txBody>
      </p:sp>
      <p:sp>
        <p:nvSpPr>
          <p:cNvPr id="28" name="Shape 20"/>
          <p:cNvSpPr/>
          <p:nvPr/>
        </p:nvSpPr>
        <p:spPr>
          <a:xfrm>
            <a:off x="457200" y="3611880"/>
            <a:ext cx="8229600" cy="1005840"/>
          </a:xfrm>
          <a:prstGeom prst="roundRect">
            <a:avLst>
              <a:gd name="adj" fmla="val 7273"/>
            </a:avLst>
          </a:prstGeom>
          <a:solidFill>
            <a:srgbClr val="0F3D3E"/>
          </a:solidFill>
          <a:ln w="12700">
            <a:solidFill>
              <a:srgbClr val="0F3D3E"/>
            </a:solidFill>
            <a:prstDash val="solid"/>
          </a:ln>
        </p:spPr>
      </p:sp>
      <p:sp>
        <p:nvSpPr>
          <p:cNvPr id="29" name="Shape 21"/>
          <p:cNvSpPr/>
          <p:nvPr/>
        </p:nvSpPr>
        <p:spPr>
          <a:xfrm>
            <a:off x="640080" y="3840480"/>
            <a:ext cx="548640" cy="548640"/>
          </a:xfrm>
          <a:prstGeom prst="ellipse">
            <a:avLst/>
          </a:prstGeom>
          <a:solidFill>
            <a:srgbClr val="E8A33D"/>
          </a:solidFill>
          <a:ln w="12700">
            <a:solidFill>
              <a:srgbClr val="E8A33D"/>
            </a:solidFill>
            <a:prstDash val="solid"/>
          </a:ln>
        </p:spPr>
      </p:sp>
      <p:pic>
        <p:nvPicPr>
          <p:cNvPr id="30" name="Image 6" descr="preencoded.png">    </p:cNvPr>
          <p:cNvPicPr>
            <a:picLocks noChangeAspect="1"/>
          </p:cNvPicPr>
          <p:nvPr/>
        </p:nvPicPr>
        <p:blipFill>
          <a:blip r:embed="rId7"/>
          <a:stretch>
            <a:fillRect/>
          </a:stretch>
        </p:blipFill>
        <p:spPr>
          <a:xfrm>
            <a:off x="777240" y="3977640"/>
            <a:ext cx="274320" cy="274320"/>
          </a:xfrm>
          <a:prstGeom prst="rect">
            <a:avLst/>
          </a:prstGeom>
        </p:spPr>
      </p:pic>
      <p:sp>
        <p:nvSpPr>
          <p:cNvPr id="31" name="Text 22"/>
          <p:cNvSpPr txBox="1"/>
          <p:nvPr/>
        </p:nvSpPr>
        <p:spPr>
          <a:xfrm>
            <a:off x="1371600" y="3611880"/>
            <a:ext cx="7132320" cy="10058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Belum ada sistem resmi pemerintah untuk menghitung PPh 21. </a:t>
            </a:r>
            <a:pPr indent="0" marL="0">
              <a:buNone/>
            </a:pPr>
            <a:r>
              <a:rPr lang="en-US" sz="1300" dirty="0">
                <a:solidFill>
                  <a:srgbClr val="FFFFFF"/>
                </a:solidFill>
                <a:latin typeface="Calibri" pitchFamily="34" charset="0"/>
                <a:ea typeface="Calibri" pitchFamily="34" charset="-122"/>
                <a:cs typeface="Calibri" pitchFamily="34" charset="-120"/>
              </a:rPr>
              <a:t>DJP Online dan Coretax hanya untuk pelaporan. Pemberi kerja bergantung pada aplikasi payroll, library, spreadsheet, atau hitung manual.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01 · MASALAH</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Masalah Aturan yang Ditanam di Kode</a:t>
            </a:r>
            <a:endParaRPr lang="en-US" sz="2800" dirty="0"/>
          </a:p>
        </p:txBody>
      </p:sp>
      <p:sp>
        <p:nvSpPr>
          <p:cNvPr id="4" name="Shape 2"/>
          <p:cNvSpPr/>
          <p:nvPr/>
        </p:nvSpPr>
        <p:spPr>
          <a:xfrm>
            <a:off x="457200" y="1325880"/>
            <a:ext cx="548640" cy="548640"/>
          </a:xfrm>
          <a:prstGeom prst="ellipse">
            <a:avLst/>
          </a:prstGeom>
          <a:solidFill>
            <a:srgbClr val="0F3D3E"/>
          </a:solidFill>
          <a:ln w="12700">
            <a:solidFill>
              <a:srgbClr val="0F3D3E"/>
            </a:solidFill>
            <a:prstDash val="solid"/>
          </a:ln>
        </p:spPr>
      </p:sp>
      <p:pic>
        <p:nvPicPr>
          <p:cNvPr id="5" name="Image 0" descr="preencoded.png">    </p:cNvPr>
          <p:cNvPicPr>
            <a:picLocks noChangeAspect="1"/>
          </p:cNvPicPr>
          <p:nvPr/>
        </p:nvPicPr>
        <p:blipFill>
          <a:blip r:embed="rId1"/>
          <a:stretch>
            <a:fillRect/>
          </a:stretch>
        </p:blipFill>
        <p:spPr>
          <a:xfrm>
            <a:off x="594360" y="1463040"/>
            <a:ext cx="274320" cy="274320"/>
          </a:xfrm>
          <a:prstGeom prst="rect">
            <a:avLst/>
          </a:prstGeom>
        </p:spPr>
      </p:pic>
      <p:sp>
        <p:nvSpPr>
          <p:cNvPr id="6" name="Text 3"/>
          <p:cNvSpPr txBox="1"/>
          <p:nvPr/>
        </p:nvSpPr>
        <p:spPr>
          <a:xfrm>
            <a:off x="1188720" y="1280160"/>
            <a:ext cx="3931920" cy="320040"/>
          </a:xfrm>
          <a:prstGeom prst="rect">
            <a:avLst/>
          </a:prstGeom>
          <a:noFill/>
          <a:ln/>
        </p:spPr>
        <p:txBody>
          <a:bodyPr wrap="square" lIns="0" tIns="0" rIns="0" bIns="0" rtlCol="0" anchor="t"/>
          <a:lstStyle/>
          <a:p>
            <a:pPr indent="0" marL="0">
              <a:buNone/>
            </a:pPr>
            <a:r>
              <a:rPr lang="en-US" sz="1500" b="1" dirty="0">
                <a:solidFill>
                  <a:srgbClr val="0F3D3E"/>
                </a:solidFill>
                <a:latin typeface="Calibri" pitchFamily="34" charset="0"/>
                <a:ea typeface="Calibri" pitchFamily="34" charset="-122"/>
                <a:cs typeface="Calibri" pitchFamily="34" charset="-120"/>
              </a:rPr>
              <a:t>Perubahan aturan = perubahan kode</a:t>
            </a:r>
            <a:endParaRPr lang="en-US" sz="1500" dirty="0"/>
          </a:p>
        </p:txBody>
      </p:sp>
      <p:sp>
        <p:nvSpPr>
          <p:cNvPr id="7" name="Text 4"/>
          <p:cNvSpPr txBox="1"/>
          <p:nvPr/>
        </p:nvSpPr>
        <p:spPr>
          <a:xfrm>
            <a:off x="1188720" y="1627632"/>
            <a:ext cx="3931920" cy="731520"/>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Saat TER berlaku (2024), rumus gross-up lama per lapisan tarif, misalnya (PKP − 0) × 5/95, tidak relevan dan harus diprogram ulang di setiap aplikasi.</a:t>
            </a:r>
            <a:endParaRPr lang="en-US" sz="1150" dirty="0"/>
          </a:p>
        </p:txBody>
      </p:sp>
      <p:sp>
        <p:nvSpPr>
          <p:cNvPr id="8" name="Shape 5"/>
          <p:cNvSpPr/>
          <p:nvPr/>
        </p:nvSpPr>
        <p:spPr>
          <a:xfrm>
            <a:off x="457200" y="2441448"/>
            <a:ext cx="548640" cy="548640"/>
          </a:xfrm>
          <a:prstGeom prst="ellipse">
            <a:avLst/>
          </a:prstGeom>
          <a:solidFill>
            <a:srgbClr val="0F3D3E"/>
          </a:solidFill>
          <a:ln w="12700">
            <a:solidFill>
              <a:srgbClr val="0F3D3E"/>
            </a:solidFill>
            <a:prstDash val="solid"/>
          </a:ln>
        </p:spPr>
      </p:sp>
      <p:pic>
        <p:nvPicPr>
          <p:cNvPr id="9" name="Image 1" descr="preencoded.png">    </p:cNvPr>
          <p:cNvPicPr>
            <a:picLocks noChangeAspect="1"/>
          </p:cNvPicPr>
          <p:nvPr/>
        </p:nvPicPr>
        <p:blipFill>
          <a:blip r:embed="rId2"/>
          <a:stretch>
            <a:fillRect/>
          </a:stretch>
        </p:blipFill>
        <p:spPr>
          <a:xfrm>
            <a:off x="594360" y="2578608"/>
            <a:ext cx="274320" cy="274320"/>
          </a:xfrm>
          <a:prstGeom prst="rect">
            <a:avLst/>
          </a:prstGeom>
        </p:spPr>
      </p:pic>
      <p:sp>
        <p:nvSpPr>
          <p:cNvPr id="10" name="Text 6"/>
          <p:cNvSpPr txBox="1"/>
          <p:nvPr/>
        </p:nvSpPr>
        <p:spPr>
          <a:xfrm>
            <a:off x="1188720" y="2395728"/>
            <a:ext cx="3931920" cy="320040"/>
          </a:xfrm>
          <a:prstGeom prst="rect">
            <a:avLst/>
          </a:prstGeom>
          <a:noFill/>
          <a:ln/>
        </p:spPr>
        <p:txBody>
          <a:bodyPr wrap="square" lIns="0" tIns="0" rIns="0" bIns="0" rtlCol="0" anchor="t"/>
          <a:lstStyle/>
          <a:p>
            <a:pPr indent="0" marL="0">
              <a:buNone/>
            </a:pPr>
            <a:r>
              <a:rPr lang="en-US" sz="1500" b="1" dirty="0">
                <a:solidFill>
                  <a:srgbClr val="0F3D3E"/>
                </a:solidFill>
                <a:latin typeface="Calibri" pitchFamily="34" charset="0"/>
                <a:ea typeface="Calibri" pitchFamily="34" charset="-122"/>
                <a:cs typeface="Calibri" pitchFamily="34" charset="-120"/>
              </a:rPr>
              <a:t>Konfigurasi terbatas</a:t>
            </a:r>
            <a:endParaRPr lang="en-US" sz="1500" dirty="0"/>
          </a:p>
        </p:txBody>
      </p:sp>
      <p:sp>
        <p:nvSpPr>
          <p:cNvPr id="11" name="Text 7"/>
          <p:cNvSpPr txBox="1"/>
          <p:nvPr/>
        </p:nvSpPr>
        <p:spPr>
          <a:xfrm>
            <a:off x="1188720" y="2743200"/>
            <a:ext cx="3931920" cy="731520"/>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Aplikasi payroll hanya bisa diatur dalam pilihan yang sudah dikodekan pengembang. Kebijakan di luar itu tetap butuh ubah kode.</a:t>
            </a:r>
            <a:endParaRPr lang="en-US" sz="1150" dirty="0"/>
          </a:p>
        </p:txBody>
      </p:sp>
      <p:sp>
        <p:nvSpPr>
          <p:cNvPr id="12" name="Shape 8"/>
          <p:cNvSpPr/>
          <p:nvPr/>
        </p:nvSpPr>
        <p:spPr>
          <a:xfrm>
            <a:off x="457200" y="3557016"/>
            <a:ext cx="548640" cy="548640"/>
          </a:xfrm>
          <a:prstGeom prst="ellipse">
            <a:avLst/>
          </a:prstGeom>
          <a:solidFill>
            <a:srgbClr val="B5543C"/>
          </a:solidFill>
          <a:ln w="12700">
            <a:solidFill>
              <a:srgbClr val="B5543C"/>
            </a:solidFill>
            <a:prstDash val="solid"/>
          </a:ln>
        </p:spPr>
      </p:sp>
      <p:pic>
        <p:nvPicPr>
          <p:cNvPr id="13" name="Image 2" descr="preencoded.png">    </p:cNvPr>
          <p:cNvPicPr>
            <a:picLocks noChangeAspect="1"/>
          </p:cNvPicPr>
          <p:nvPr/>
        </p:nvPicPr>
        <p:blipFill>
          <a:blip r:embed="rId3"/>
          <a:stretch>
            <a:fillRect/>
          </a:stretch>
        </p:blipFill>
        <p:spPr>
          <a:xfrm>
            <a:off x="594360" y="3694176"/>
            <a:ext cx="274320" cy="274320"/>
          </a:xfrm>
          <a:prstGeom prst="rect">
            <a:avLst/>
          </a:prstGeom>
        </p:spPr>
      </p:pic>
      <p:sp>
        <p:nvSpPr>
          <p:cNvPr id="14" name="Text 9"/>
          <p:cNvSpPr txBox="1"/>
          <p:nvPr/>
        </p:nvSpPr>
        <p:spPr>
          <a:xfrm>
            <a:off x="1188720" y="3511296"/>
            <a:ext cx="3931920" cy="320040"/>
          </a:xfrm>
          <a:prstGeom prst="rect">
            <a:avLst/>
          </a:prstGeom>
          <a:noFill/>
          <a:ln/>
        </p:spPr>
        <p:txBody>
          <a:bodyPr wrap="square" lIns="0" tIns="0" rIns="0" bIns="0" rtlCol="0" anchor="t"/>
          <a:lstStyle/>
          <a:p>
            <a:pPr indent="0" marL="0">
              <a:buNone/>
            </a:pPr>
            <a:r>
              <a:rPr lang="en-US" sz="1500" b="1" dirty="0">
                <a:solidFill>
                  <a:srgbClr val="0F3D3E"/>
                </a:solidFill>
                <a:latin typeface="Calibri" pitchFamily="34" charset="0"/>
                <a:ea typeface="Calibri" pitchFamily="34" charset="-122"/>
                <a:cs typeface="Calibri" pitchFamily="34" charset="-120"/>
              </a:rPr>
              <a:t>Kesalahan hitung nyata</a:t>
            </a:r>
            <a:endParaRPr lang="en-US" sz="1500" dirty="0"/>
          </a:p>
        </p:txBody>
      </p:sp>
      <p:sp>
        <p:nvSpPr>
          <p:cNvPr id="15" name="Text 10"/>
          <p:cNvSpPr txBox="1"/>
          <p:nvPr/>
        </p:nvSpPr>
        <p:spPr>
          <a:xfrm>
            <a:off x="1188720" y="3858768"/>
            <a:ext cx="3931920" cy="731520"/>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Studi di sebuah dinas pemerintah daerah menemukan PTKP tidak memperhitungkan status kawin dan tanggungan.</a:t>
            </a:r>
            <a:endParaRPr lang="en-US" sz="1150" dirty="0"/>
          </a:p>
        </p:txBody>
      </p:sp>
      <p:sp>
        <p:nvSpPr>
          <p:cNvPr id="16" name="Shape 11"/>
          <p:cNvSpPr/>
          <p:nvPr/>
        </p:nvSpPr>
        <p:spPr>
          <a:xfrm>
            <a:off x="5440680" y="1325880"/>
            <a:ext cx="3246120" cy="3291840"/>
          </a:xfrm>
          <a:prstGeom prst="roundRect">
            <a:avLst>
              <a:gd name="adj" fmla="val 2254"/>
            </a:avLst>
          </a:prstGeom>
          <a:solidFill>
            <a:srgbClr val="0F3D3E"/>
          </a:solidFill>
          <a:ln w="12700">
            <a:solidFill>
              <a:srgbClr val="0F3D3E"/>
            </a:solidFill>
            <a:prstDash val="solid"/>
          </a:ln>
        </p:spPr>
      </p:sp>
      <p:sp>
        <p:nvSpPr>
          <p:cNvPr id="17" name="Shape 12"/>
          <p:cNvSpPr/>
          <p:nvPr/>
        </p:nvSpPr>
        <p:spPr>
          <a:xfrm>
            <a:off x="5715000" y="1600200"/>
            <a:ext cx="548640" cy="548640"/>
          </a:xfrm>
          <a:prstGeom prst="ellipse">
            <a:avLst/>
          </a:prstGeom>
          <a:solidFill>
            <a:srgbClr val="E8A33D"/>
          </a:solidFill>
          <a:ln w="12700">
            <a:solidFill>
              <a:srgbClr val="E8A33D"/>
            </a:solidFill>
            <a:prstDash val="solid"/>
          </a:ln>
        </p:spPr>
      </p:sp>
      <p:pic>
        <p:nvPicPr>
          <p:cNvPr id="18" name="Image 3" descr="preencoded.png">    </p:cNvPr>
          <p:cNvPicPr>
            <a:picLocks noChangeAspect="1"/>
          </p:cNvPicPr>
          <p:nvPr/>
        </p:nvPicPr>
        <p:blipFill>
          <a:blip r:embed="rId4"/>
          <a:stretch>
            <a:fillRect/>
          </a:stretch>
        </p:blipFill>
        <p:spPr>
          <a:xfrm>
            <a:off x="5852160" y="1737360"/>
            <a:ext cx="274320" cy="274320"/>
          </a:xfrm>
          <a:prstGeom prst="rect">
            <a:avLst/>
          </a:prstGeom>
        </p:spPr>
      </p:pic>
      <p:sp>
        <p:nvSpPr>
          <p:cNvPr id="19" name="Text 13"/>
          <p:cNvSpPr txBox="1"/>
          <p:nvPr/>
        </p:nvSpPr>
        <p:spPr>
          <a:xfrm>
            <a:off x="5715000" y="2286000"/>
            <a:ext cx="2743200" cy="320040"/>
          </a:xfrm>
          <a:prstGeom prst="rect">
            <a:avLst/>
          </a:prstGeom>
          <a:noFill/>
          <a:ln/>
        </p:spPr>
        <p:txBody>
          <a:bodyPr wrap="square" lIns="0" tIns="0" rIns="0" bIns="0" rtlCol="0" anchor="t"/>
          <a:lstStyle/>
          <a:p>
            <a:pPr indent="0" marL="0">
              <a:buNone/>
            </a:pPr>
            <a:r>
              <a:rPr lang="en-US" sz="1300" b="1" dirty="0">
                <a:solidFill>
                  <a:srgbClr val="E8A33D"/>
                </a:solidFill>
                <a:latin typeface="Calibri" pitchFamily="34" charset="0"/>
                <a:ea typeface="Calibri" pitchFamily="34" charset="-122"/>
                <a:cs typeface="Calibri" pitchFamily="34" charset="-120"/>
              </a:rPr>
              <a:t>Pertanyaan inti</a:t>
            </a:r>
            <a:endParaRPr lang="en-US" sz="1300" dirty="0"/>
          </a:p>
        </p:txBody>
      </p:sp>
      <p:sp>
        <p:nvSpPr>
          <p:cNvPr id="20" name="Text 14"/>
          <p:cNvSpPr txBox="1"/>
          <p:nvPr/>
        </p:nvSpPr>
        <p:spPr>
          <a:xfrm>
            <a:off x="5715000" y="2651760"/>
            <a:ext cx="2788920" cy="182880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Bagaimana membangun sistem PPh 21 yang aturan dan kebijakannya bisa diubah tanpa menyentuh kode, dan tetap terbukti benar?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02 · PENELITIAN TERKAIT</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Yang Sudah Ada di Tingkat Internasional</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286000"/>
                <a:gridCol w="3657600"/>
                <a:gridCol w="22860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Penelitian / sistem</a:t>
                      </a:r>
                      <a:endParaRPr lang="en-US" sz="12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Yang dilakukan</a:t>
                      </a:r>
                      <a:endParaRPr lang="en-US" sz="12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Yang belum dibahas</a:t>
                      </a:r>
                      <a:endParaRPr lang="en-US" sz="12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0F3D3E"/>
                    </a:solidFill>
                  </a:tcPr>
                </a:tc>
              </a:tr>
              <a:tr h="566928">
                <a:tc>
                  <a:txBody>
                    <a:bodyPr/>
                    <a:lstStyle/>
                    <a:p>
                      <a:pPr indent="0" marL="0">
                        <a:buNone/>
                      </a:pPr>
                      <a:r>
                        <a:rPr lang="en-US" sz="1100" b="1" dirty="0">
                          <a:solidFill>
                            <a:srgbClr val="1E2B2B"/>
                          </a:solidFill>
                          <a:latin typeface="Calibri" pitchFamily="34" charset="0"/>
                          <a:ea typeface="Calibri" pitchFamily="34" charset="-122"/>
                          <a:cs typeface="Calibri" pitchFamily="34" charset="-120"/>
                        </a:rPr>
                        <a:t>Dumancic dkk., AAAI 2021</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1E2B2B"/>
                          </a:solidFill>
                          <a:latin typeface="Calibri" pitchFamily="34" charset="0"/>
                          <a:ea typeface="Calibri" pitchFamily="34" charset="-122"/>
                          <a:cs typeface="Calibri" pitchFamily="34" charset="-120"/>
                        </a:rPr>
                        <a:t>Hukum pajak Belgia dalam satu knowledge base, dikompilasi ke solver untuk mencari kebijakan payroll optimal</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1E2B2B"/>
                          </a:solidFill>
                          <a:latin typeface="Calibri" pitchFamily="34" charset="0"/>
                          <a:ea typeface="Calibri" pitchFamily="34" charset="-122"/>
                          <a:cs typeface="Calibri" pitchFamily="34" charset="-120"/>
                        </a:rPr>
                        <a:t>Komponen melingkar; PPh 21</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502920">
                <a:tc>
                  <a:txBody>
                    <a:bodyPr/>
                    <a:lstStyle/>
                    <a:p>
                      <a:pPr indent="0" marL="0">
                        <a:buNone/>
                      </a:pPr>
                      <a:r>
                        <a:rPr lang="en-US" sz="1100" b="1" dirty="0">
                          <a:solidFill>
                            <a:srgbClr val="1E2B2B"/>
                          </a:solidFill>
                          <a:latin typeface="Calibri" pitchFamily="34" charset="0"/>
                          <a:ea typeface="Calibri" pitchFamily="34" charset="-122"/>
                          <a:cs typeface="Calibri" pitchFamily="34" charset="-120"/>
                        </a:rPr>
                        <a:t>Rules engine penggajian (2011)</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1E2B2B"/>
                          </a:solidFill>
                          <a:latin typeface="Calibri" pitchFamily="34" charset="0"/>
                          <a:ea typeface="Calibri" pitchFamily="34" charset="-122"/>
                          <a:cs typeface="Calibri" pitchFamily="34" charset="-120"/>
                        </a:rPr>
                        <a:t>Memisahkan logika penggajian dari aplikasi agar perubahan aturan tidak mengubah kode</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1E2B2B"/>
                          </a:solidFill>
                          <a:latin typeface="Calibri" pitchFamily="34" charset="0"/>
                          <a:ea typeface="Calibri" pitchFamily="34" charset="-122"/>
                          <a:cs typeface="Calibri" pitchFamily="34" charset="-120"/>
                        </a:rPr>
                        <a:t>Analisis formal; evaluasi empiris</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566928">
                <a:tc>
                  <a:txBody>
                    <a:bodyPr/>
                    <a:lstStyle/>
                    <a:p>
                      <a:pPr indent="0" marL="0">
                        <a:buNone/>
                      </a:pPr>
                      <a:r>
                        <a:rPr lang="en-US" sz="1100" b="1" dirty="0">
                          <a:solidFill>
                            <a:srgbClr val="1E2B2B"/>
                          </a:solidFill>
                          <a:latin typeface="Calibri" pitchFamily="34" charset="0"/>
                          <a:ea typeface="Calibri" pitchFamily="34" charset="-122"/>
                          <a:cs typeface="Calibri" pitchFamily="34" charset="-120"/>
                        </a:rPr>
                        <a:t>Payroll Engine, HRMQ (open source)</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1E2B2B"/>
                          </a:solidFill>
                          <a:latin typeface="Calibri" pitchFamily="34" charset="0"/>
                          <a:ea typeface="Calibri" pitchFamily="34" charset="-122"/>
                          <a:cs typeface="Calibri" pitchFamily="34" charset="-120"/>
                        </a:rPr>
                        <a:t>Lapisan regulasi yang bisa ditumpuk, ditimpa per penyewa; DSL deklaratif per negara</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1E2B2B"/>
                          </a:solidFill>
                          <a:latin typeface="Calibri" pitchFamily="34" charset="0"/>
                          <a:ea typeface="Calibri" pitchFamily="34" charset="-122"/>
                          <a:cs typeface="Calibri" pitchFamily="34" charset="-120"/>
                        </a:rPr>
                        <a:t>Gross-up di bawah tarif rata bertingkat seperti TER</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457200">
                <a:tc>
                  <a:txBody>
                    <a:bodyPr/>
                    <a:lstStyle/>
                    <a:p>
                      <a:pPr indent="0" marL="0">
                        <a:buNone/>
                      </a:pPr>
                      <a:r>
                        <a:rPr lang="en-US" sz="1100" b="1" dirty="0">
                          <a:solidFill>
                            <a:srgbClr val="1E2B2B"/>
                          </a:solidFill>
                          <a:latin typeface="Calibri" pitchFamily="34" charset="0"/>
                          <a:ea typeface="Calibri" pitchFamily="34" charset="-122"/>
                          <a:cs typeface="Calibri" pitchFamily="34" charset="-120"/>
                        </a:rPr>
                        <a:t>Catala, OpenFisca</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1E2B2B"/>
                          </a:solidFill>
                          <a:latin typeface="Calibri" pitchFamily="34" charset="0"/>
                          <a:ea typeface="Calibri" pitchFamily="34" charset="-122"/>
                          <a:cs typeface="Calibri" pitchFamily="34" charset="-120"/>
                        </a:rPr>
                        <a:t>Rules as Code untuk pajak dan tunjangan pemerintah</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1E2B2B"/>
                          </a:solidFill>
                          <a:latin typeface="Calibri" pitchFamily="34" charset="0"/>
                          <a:ea typeface="Calibri" pitchFamily="34" charset="-122"/>
                          <a:cs typeface="Calibri" pitchFamily="34" charset="-120"/>
                        </a:rPr>
                        <a:t>Kebijakan pemberi kerja</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bl>
          </a:graphicData>
        </a:graphic>
      </p:graphicFrame>
      <p:sp>
        <p:nvSpPr>
          <p:cNvPr id="5" name="Shape 2"/>
          <p:cNvSpPr/>
          <p:nvPr/>
        </p:nvSpPr>
        <p:spPr>
          <a:xfrm>
            <a:off x="457200" y="3931920"/>
            <a:ext cx="502920" cy="502920"/>
          </a:xfrm>
          <a:prstGeom prst="ellipse">
            <a:avLst/>
          </a:prstGeom>
          <a:solidFill>
            <a:srgbClr val="E8A33D"/>
          </a:solidFill>
          <a:ln w="12700">
            <a:solidFill>
              <a:srgbClr val="E8A33D"/>
            </a:solidFill>
            <a:prstDash val="solid"/>
          </a:ln>
        </p:spPr>
      </p:sp>
      <p:pic>
        <p:nvPicPr>
          <p:cNvPr id="6" name="Image 0" descr="preencoded.png">    </p:cNvPr>
          <p:cNvPicPr>
            <a:picLocks noChangeAspect="1"/>
          </p:cNvPicPr>
          <p:nvPr/>
        </p:nvPicPr>
        <p:blipFill>
          <a:blip r:embed="rId1"/>
          <a:stretch>
            <a:fillRect/>
          </a:stretch>
        </p:blipFill>
        <p:spPr>
          <a:xfrm>
            <a:off x="582930" y="4057650"/>
            <a:ext cx="251460" cy="251460"/>
          </a:xfrm>
          <a:prstGeom prst="rect">
            <a:avLst/>
          </a:prstGeom>
        </p:spPr>
      </p:pic>
      <p:sp>
        <p:nvSpPr>
          <p:cNvPr id="7" name="Text 3"/>
          <p:cNvSpPr txBox="1"/>
          <p:nvPr/>
        </p:nvSpPr>
        <p:spPr>
          <a:xfrm>
            <a:off x="1097280" y="3886200"/>
            <a:ext cx="7589520" cy="640080"/>
          </a:xfrm>
          <a:prstGeom prst="rect">
            <a:avLst/>
          </a:prstGeom>
          <a:noFill/>
          <a:ln/>
        </p:spPr>
        <p:txBody>
          <a:bodyPr wrap="square" lIns="0" tIns="0" rIns="0" bIns="0" rtlCol="0" anchor="ctr"/>
          <a:lstStyle/>
          <a:p>
            <a:pPr indent="0" marL="0">
              <a:buNone/>
            </a:pPr>
            <a:r>
              <a:rPr lang="en-US" sz="1250" b="1" dirty="0">
                <a:solidFill>
                  <a:srgbClr val="0F3D3E"/>
                </a:solidFill>
                <a:latin typeface="Calibri" pitchFamily="34" charset="0"/>
                <a:ea typeface="Calibri" pitchFamily="34" charset="-122"/>
                <a:cs typeface="Calibri" pitchFamily="34" charset="-120"/>
              </a:rPr>
              <a:t>Kesimpulan: </a:t>
            </a:r>
            <a:pPr indent="0" marL="0">
              <a:buNone/>
            </a:pPr>
            <a:r>
              <a:rPr lang="en-US" sz="1250" dirty="0">
                <a:solidFill>
                  <a:srgbClr val="1E2B2B"/>
                </a:solidFill>
                <a:latin typeface="Calibri" pitchFamily="34" charset="0"/>
                <a:ea typeface="Calibri" pitchFamily="34" charset="-122"/>
                <a:cs typeface="Calibri" pitchFamily="34" charset="-120"/>
              </a:rPr>
              <a:t>pemisahan aturan dari kode dan lapisan yang bisa ditimpa sudah ada. Penelitian ini mengadopsinya sebagai fondasi, bukan mengklaimnya sebagai kebaruan.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02 · PENELITIAN TERKAIT</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Di Indonesia dan Posisi Penelitian</a:t>
            </a:r>
            <a:endParaRPr lang="en-US" sz="2800" dirty="0"/>
          </a:p>
        </p:txBody>
      </p:sp>
      <p:sp>
        <p:nvSpPr>
          <p:cNvPr id="4" name="Text 2"/>
          <p:cNvSpPr txBox="1"/>
          <p:nvPr/>
        </p:nvSpPr>
        <p:spPr>
          <a:xfrm>
            <a:off x="457200" y="1188720"/>
            <a:ext cx="4114800" cy="320040"/>
          </a:xfrm>
          <a:prstGeom prst="rect">
            <a:avLst/>
          </a:prstGeom>
          <a:noFill/>
          <a:ln/>
        </p:spPr>
        <p:txBody>
          <a:bodyPr wrap="square" lIns="0" tIns="0" rIns="0" bIns="0" rtlCol="0" anchor="t"/>
          <a:lstStyle/>
          <a:p>
            <a:pPr indent="0" marL="0">
              <a:buNone/>
            </a:pPr>
            <a:r>
              <a:rPr lang="en-US" sz="1400" b="1" dirty="0">
                <a:solidFill>
                  <a:srgbClr val="0F3D3E"/>
                </a:solidFill>
                <a:latin typeface="Calibri" pitchFamily="34" charset="0"/>
                <a:ea typeface="Calibri" pitchFamily="34" charset="-122"/>
                <a:cs typeface="Calibri" pitchFamily="34" charset="-120"/>
              </a:rPr>
              <a:t>Yang ada di Indonesia</a:t>
            </a:r>
            <a:endParaRPr lang="en-US" sz="1400" dirty="0"/>
          </a:p>
        </p:txBody>
      </p:sp>
      <p:sp>
        <p:nvSpPr>
          <p:cNvPr id="5" name="Shape 3"/>
          <p:cNvSpPr/>
          <p:nvPr/>
        </p:nvSpPr>
        <p:spPr>
          <a:xfrm>
            <a:off x="457200" y="1600200"/>
            <a:ext cx="4114800" cy="640080"/>
          </a:xfrm>
          <a:prstGeom prst="roundRect">
            <a:avLst>
              <a:gd name="adj" fmla="val 11429"/>
            </a:avLst>
          </a:prstGeom>
          <a:solidFill>
            <a:srgbClr val="EAF3F0"/>
          </a:solidFill>
          <a:ln w="12700">
            <a:solidFill>
              <a:srgbClr val="EAF3F0"/>
            </a:solidFill>
            <a:prstDash val="solid"/>
          </a:ln>
        </p:spPr>
      </p:sp>
      <p:sp>
        <p:nvSpPr>
          <p:cNvPr id="6" name="Text 4"/>
          <p:cNvSpPr txBox="1"/>
          <p:nvPr/>
        </p:nvSpPr>
        <p:spPr>
          <a:xfrm>
            <a:off x="594360" y="1600200"/>
            <a:ext cx="3886200" cy="640080"/>
          </a:xfrm>
          <a:prstGeom prst="rect">
            <a:avLst/>
          </a:prstGeom>
          <a:noFill/>
          <a:ln/>
        </p:spPr>
        <p:txBody>
          <a:bodyPr wrap="square" lIns="0" tIns="0" rIns="0" bIns="0" rtlCol="0" anchor="ctr"/>
          <a:lstStyle/>
          <a:p>
            <a:pPr indent="0" marL="0">
              <a:buNone/>
            </a:pPr>
            <a:r>
              <a:rPr lang="en-US" sz="1250" b="1" dirty="0">
                <a:solidFill>
                  <a:srgbClr val="0F3D3E"/>
                </a:solidFill>
                <a:latin typeface="Calibri" pitchFamily="34" charset="0"/>
                <a:ea typeface="Calibri" pitchFamily="34" charset="-122"/>
                <a:cs typeface="Calibri" pitchFamily="34" charset="-120"/>
              </a:rPr>
              <a:t>Sistem pakar &amp; aplikasi PPh 21</a:t>
            </a:r>
            <a:endParaRPr lang="en-US" sz="1250" dirty="0"/>
          </a:p>
          <a:p>
            <a:pPr indent="0" marL="0">
              <a:buNone/>
            </a:pPr>
            <a:r>
              <a:rPr lang="en-US" sz="1100" dirty="0">
                <a:solidFill>
                  <a:srgbClr val="5B6B6B"/>
                </a:solidFill>
                <a:latin typeface="Calibri" pitchFamily="34" charset="0"/>
                <a:ea typeface="Calibri" pitchFamily="34" charset="-122"/>
                <a:cs typeface="Calibri" pitchFamily="34" charset="-120"/>
              </a:rPr>
              <a:t>Aturan dikodekan manual (Android, VB, mobile, Excel)</a:t>
            </a:r>
            <a:endParaRPr lang="en-US" sz="1250" dirty="0"/>
          </a:p>
        </p:txBody>
      </p:sp>
      <p:sp>
        <p:nvSpPr>
          <p:cNvPr id="7" name="Shape 5"/>
          <p:cNvSpPr/>
          <p:nvPr/>
        </p:nvSpPr>
        <p:spPr>
          <a:xfrm>
            <a:off x="457200" y="2350008"/>
            <a:ext cx="4114800" cy="640080"/>
          </a:xfrm>
          <a:prstGeom prst="roundRect">
            <a:avLst>
              <a:gd name="adj" fmla="val 11429"/>
            </a:avLst>
          </a:prstGeom>
          <a:solidFill>
            <a:srgbClr val="EAF3F0"/>
          </a:solidFill>
          <a:ln w="12700">
            <a:solidFill>
              <a:srgbClr val="EAF3F0"/>
            </a:solidFill>
            <a:prstDash val="solid"/>
          </a:ln>
        </p:spPr>
      </p:sp>
      <p:sp>
        <p:nvSpPr>
          <p:cNvPr id="8" name="Text 6"/>
          <p:cNvSpPr txBox="1"/>
          <p:nvPr/>
        </p:nvSpPr>
        <p:spPr>
          <a:xfrm>
            <a:off x="594360" y="2350008"/>
            <a:ext cx="3886200" cy="640080"/>
          </a:xfrm>
          <a:prstGeom prst="rect">
            <a:avLst/>
          </a:prstGeom>
          <a:noFill/>
          <a:ln/>
        </p:spPr>
        <p:txBody>
          <a:bodyPr wrap="square" lIns="0" tIns="0" rIns="0" bIns="0" rtlCol="0" anchor="ctr"/>
          <a:lstStyle/>
          <a:p>
            <a:pPr indent="0" marL="0">
              <a:buNone/>
            </a:pPr>
            <a:r>
              <a:rPr lang="en-US" sz="1250" b="1" dirty="0">
                <a:solidFill>
                  <a:srgbClr val="0F3D3E"/>
                </a:solidFill>
                <a:latin typeface="Calibri" pitchFamily="34" charset="0"/>
                <a:ea typeface="Calibri" pitchFamily="34" charset="-122"/>
                <a:cs typeface="Calibri" pitchFamily="34" charset="-120"/>
              </a:rPr>
              <a:t>Penelitian akuntansi TER &amp; gross-up</a:t>
            </a:r>
            <a:endParaRPr lang="en-US" sz="1250" dirty="0"/>
          </a:p>
          <a:p>
            <a:pPr indent="0" marL="0">
              <a:buNone/>
            </a:pPr>
            <a:r>
              <a:rPr lang="en-US" sz="1100" dirty="0">
                <a:solidFill>
                  <a:srgbClr val="5B6B6B"/>
                </a:solidFill>
                <a:latin typeface="Calibri" pitchFamily="34" charset="0"/>
                <a:ea typeface="Calibri" pitchFamily="34" charset="-122"/>
                <a:cs typeface="Calibri" pitchFamily="34" charset="-120"/>
              </a:rPr>
              <a:t>Studi kasus deskriptif, tanpa sistem</a:t>
            </a:r>
            <a:endParaRPr lang="en-US" sz="1250" dirty="0"/>
          </a:p>
        </p:txBody>
      </p:sp>
      <p:sp>
        <p:nvSpPr>
          <p:cNvPr id="9" name="Shape 7"/>
          <p:cNvSpPr/>
          <p:nvPr/>
        </p:nvSpPr>
        <p:spPr>
          <a:xfrm>
            <a:off x="457200" y="3099816"/>
            <a:ext cx="4114800" cy="640080"/>
          </a:xfrm>
          <a:prstGeom prst="roundRect">
            <a:avLst>
              <a:gd name="adj" fmla="val 11429"/>
            </a:avLst>
          </a:prstGeom>
          <a:solidFill>
            <a:srgbClr val="EAF3F0"/>
          </a:solidFill>
          <a:ln w="12700">
            <a:solidFill>
              <a:srgbClr val="EAF3F0"/>
            </a:solidFill>
            <a:prstDash val="solid"/>
          </a:ln>
        </p:spPr>
      </p:sp>
      <p:sp>
        <p:nvSpPr>
          <p:cNvPr id="10" name="Text 8"/>
          <p:cNvSpPr txBox="1"/>
          <p:nvPr/>
        </p:nvSpPr>
        <p:spPr>
          <a:xfrm>
            <a:off x="594360" y="3099816"/>
            <a:ext cx="3886200" cy="640080"/>
          </a:xfrm>
          <a:prstGeom prst="rect">
            <a:avLst/>
          </a:prstGeom>
          <a:noFill/>
          <a:ln/>
        </p:spPr>
        <p:txBody>
          <a:bodyPr wrap="square" lIns="0" tIns="0" rIns="0" bIns="0" rtlCol="0" anchor="ctr"/>
          <a:lstStyle/>
          <a:p>
            <a:pPr indent="0" marL="0">
              <a:buNone/>
            </a:pPr>
            <a:r>
              <a:rPr lang="en-US" sz="1250" b="1" dirty="0">
                <a:solidFill>
                  <a:srgbClr val="0F3D3E"/>
                </a:solidFill>
                <a:latin typeface="Calibri" pitchFamily="34" charset="0"/>
                <a:ea typeface="Calibri" pitchFamily="34" charset="-122"/>
                <a:cs typeface="Calibri" pitchFamily="34" charset="-120"/>
              </a:rPr>
              <a:t>LexID (UI, 2023)</a:t>
            </a:r>
            <a:endParaRPr lang="en-US" sz="1250" dirty="0"/>
          </a:p>
          <a:p>
            <a:pPr indent="0" marL="0">
              <a:buNone/>
            </a:pPr>
            <a:r>
              <a:rPr lang="en-US" sz="1100" dirty="0">
                <a:solidFill>
                  <a:srgbClr val="5B6B6B"/>
                </a:solidFill>
                <a:latin typeface="Calibri" pitchFamily="34" charset="0"/>
                <a:ea typeface="Calibri" pitchFamily="34" charset="-122"/>
                <a:cs typeface="Calibri" pitchFamily="34" charset="-120"/>
              </a:rPr>
              <a:t>Knowledge graph hukum untuk pencarian, bukan perhitungan</a:t>
            </a:r>
            <a:endParaRPr lang="en-US" sz="1250" dirty="0"/>
          </a:p>
        </p:txBody>
      </p:sp>
      <p:sp>
        <p:nvSpPr>
          <p:cNvPr id="11" name="Shape 9"/>
          <p:cNvSpPr/>
          <p:nvPr/>
        </p:nvSpPr>
        <p:spPr>
          <a:xfrm>
            <a:off x="457200" y="3849624"/>
            <a:ext cx="4114800" cy="640080"/>
          </a:xfrm>
          <a:prstGeom prst="roundRect">
            <a:avLst>
              <a:gd name="adj" fmla="val 11429"/>
            </a:avLst>
          </a:prstGeom>
          <a:solidFill>
            <a:srgbClr val="EAF3F0"/>
          </a:solidFill>
          <a:ln w="12700">
            <a:solidFill>
              <a:srgbClr val="EAF3F0"/>
            </a:solidFill>
            <a:prstDash val="solid"/>
          </a:ln>
        </p:spPr>
      </p:sp>
      <p:sp>
        <p:nvSpPr>
          <p:cNvPr id="12" name="Text 10"/>
          <p:cNvSpPr txBox="1"/>
          <p:nvPr/>
        </p:nvSpPr>
        <p:spPr>
          <a:xfrm>
            <a:off x="594360" y="3849624"/>
            <a:ext cx="3886200" cy="640080"/>
          </a:xfrm>
          <a:prstGeom prst="rect">
            <a:avLst/>
          </a:prstGeom>
          <a:noFill/>
          <a:ln/>
        </p:spPr>
        <p:txBody>
          <a:bodyPr wrap="square" lIns="0" tIns="0" rIns="0" bIns="0" rtlCol="0" anchor="ctr"/>
          <a:lstStyle/>
          <a:p>
            <a:pPr indent="0" marL="0">
              <a:buNone/>
            </a:pPr>
            <a:r>
              <a:rPr lang="en-US" sz="1250" b="1" dirty="0">
                <a:solidFill>
                  <a:srgbClr val="0F3D3E"/>
                </a:solidFill>
                <a:latin typeface="Calibri" pitchFamily="34" charset="0"/>
                <a:ea typeface="Calibri" pitchFamily="34" charset="-122"/>
                <a:cs typeface="Calibri" pitchFamily="34" charset="-120"/>
              </a:rPr>
              <a:t>Aplikasi payroll komersial</a:t>
            </a:r>
            <a:endParaRPr lang="en-US" sz="1250" dirty="0"/>
          </a:p>
          <a:p>
            <a:pPr indent="0" marL="0">
              <a:buNone/>
            </a:pPr>
            <a:r>
              <a:rPr lang="en-US" sz="1100" dirty="0">
                <a:solidFill>
                  <a:srgbClr val="5B6B6B"/>
                </a:solidFill>
                <a:latin typeface="Calibri" pitchFamily="34" charset="0"/>
                <a:ea typeface="Calibri" pitchFamily="34" charset="-122"/>
                <a:cs typeface="Calibri" pitchFamily="34" charset="-120"/>
              </a:rPr>
              <a:t>Tertutup, konfigurasi terbatas pada pilihan</a:t>
            </a:r>
            <a:endParaRPr lang="en-US" sz="1250" dirty="0"/>
          </a:p>
        </p:txBody>
      </p:sp>
      <p:sp>
        <p:nvSpPr>
          <p:cNvPr id="13" name="Shape 11"/>
          <p:cNvSpPr/>
          <p:nvPr/>
        </p:nvSpPr>
        <p:spPr>
          <a:xfrm>
            <a:off x="4846320" y="1188720"/>
            <a:ext cx="3840480" cy="1371600"/>
          </a:xfrm>
          <a:prstGeom prst="roundRect">
            <a:avLst>
              <a:gd name="adj" fmla="val 5333"/>
            </a:avLst>
          </a:prstGeom>
          <a:solidFill>
            <a:srgbClr val="EAF3F0"/>
          </a:solidFill>
          <a:ln w="12700">
            <a:solidFill>
              <a:srgbClr val="EAF3F0"/>
            </a:solidFill>
            <a:prstDash val="solid"/>
          </a:ln>
        </p:spPr>
      </p:sp>
      <p:sp>
        <p:nvSpPr>
          <p:cNvPr id="14" name="Shape 12"/>
          <p:cNvSpPr/>
          <p:nvPr/>
        </p:nvSpPr>
        <p:spPr>
          <a:xfrm>
            <a:off x="5029200" y="1325880"/>
            <a:ext cx="411480" cy="411480"/>
          </a:xfrm>
          <a:prstGeom prst="ellipse">
            <a:avLst/>
          </a:prstGeom>
          <a:solidFill>
            <a:srgbClr val="5B6B6B"/>
          </a:solidFill>
          <a:ln w="12700">
            <a:solidFill>
              <a:srgbClr val="5B6B6B"/>
            </a:solidFill>
            <a:prstDash val="solid"/>
          </a:ln>
        </p:spPr>
      </p:sp>
      <p:pic>
        <p:nvPicPr>
          <p:cNvPr id="15" name="Image 0" descr="preencoded.png">    </p:cNvPr>
          <p:cNvPicPr>
            <a:picLocks noChangeAspect="1"/>
          </p:cNvPicPr>
          <p:nvPr/>
        </p:nvPicPr>
        <p:blipFill>
          <a:blip r:embed="rId1"/>
          <a:stretch>
            <a:fillRect/>
          </a:stretch>
        </p:blipFill>
        <p:spPr>
          <a:xfrm>
            <a:off x="5132070" y="1428750"/>
            <a:ext cx="205740" cy="205740"/>
          </a:xfrm>
          <a:prstGeom prst="rect">
            <a:avLst/>
          </a:prstGeom>
        </p:spPr>
      </p:pic>
      <p:sp>
        <p:nvSpPr>
          <p:cNvPr id="16" name="Text 13"/>
          <p:cNvSpPr txBox="1"/>
          <p:nvPr/>
        </p:nvSpPr>
        <p:spPr>
          <a:xfrm>
            <a:off x="5532120" y="1325880"/>
            <a:ext cx="3017520" cy="411480"/>
          </a:xfrm>
          <a:prstGeom prst="rect">
            <a:avLst/>
          </a:prstGeom>
          <a:noFill/>
          <a:ln/>
        </p:spPr>
        <p:txBody>
          <a:bodyPr wrap="square" lIns="0" tIns="0" rIns="0" bIns="0" rtlCol="0" anchor="ctr"/>
          <a:lstStyle/>
          <a:p>
            <a:pPr indent="0" marL="0">
              <a:buNone/>
            </a:pPr>
            <a:r>
              <a:rPr lang="en-US" sz="1300" b="1" dirty="0">
                <a:solidFill>
                  <a:srgbClr val="5B6B6B"/>
                </a:solidFill>
                <a:latin typeface="Calibri" pitchFamily="34" charset="0"/>
                <a:ea typeface="Calibri" pitchFamily="34" charset="-122"/>
                <a:cs typeface="Calibri" pitchFamily="34" charset="-120"/>
              </a:rPr>
              <a:t>Diadopsi (bukan novelty)</a:t>
            </a:r>
            <a:endParaRPr lang="en-US" sz="1300" dirty="0"/>
          </a:p>
        </p:txBody>
      </p:sp>
      <p:sp>
        <p:nvSpPr>
          <p:cNvPr id="17" name="Text 14"/>
          <p:cNvSpPr txBox="1"/>
          <p:nvPr/>
        </p:nvSpPr>
        <p:spPr>
          <a:xfrm>
            <a:off x="5074920" y="1828800"/>
            <a:ext cx="3474720" cy="640080"/>
          </a:xfrm>
          <a:prstGeom prst="rect">
            <a:avLst/>
          </a:prstGeom>
          <a:noFill/>
          <a:ln/>
        </p:spPr>
        <p:txBody>
          <a:bodyPr wrap="square" lIns="0" tIns="0" rIns="0" bIns="0" rtlCol="0" anchor="t"/>
          <a:lstStyle/>
          <a:p>
            <a:pPr marL="342900" indent="-342900">
              <a:buSzPct val="100000"/>
              <a:buChar char="•"/>
            </a:pPr>
            <a:r>
              <a:rPr lang="en-US" sz="1200" dirty="0">
                <a:solidFill>
                  <a:srgbClr val="1E2B2B"/>
                </a:solidFill>
                <a:latin typeface="Calibri" pitchFamily="34" charset="0"/>
                <a:ea typeface="Calibri" pitchFamily="34" charset="-122"/>
                <a:cs typeface="Calibri" pitchFamily="34" charset="-120"/>
              </a:rPr>
              <a:t>Pemisahan aturan dari kode</a:t>
            </a:r>
            <a:endParaRPr lang="en-US" sz="1200" dirty="0"/>
          </a:p>
          <a:p>
            <a:pPr marL="342900" indent="-342900">
              <a:buSzPct val="100000"/>
              <a:buChar char="•"/>
            </a:pPr>
            <a:r>
              <a:rPr lang="en-US" sz="1200" dirty="0">
                <a:solidFill>
                  <a:srgbClr val="1E2B2B"/>
                </a:solidFill>
                <a:latin typeface="Calibri" pitchFamily="34" charset="0"/>
                <a:ea typeface="Calibri" pitchFamily="34" charset="-122"/>
                <a:cs typeface="Calibri" pitchFamily="34" charset="-120"/>
              </a:rPr>
              <a:t>Lapisan yang bisa ditimpa</a:t>
            </a:r>
            <a:endParaRPr lang="en-US" sz="1200" dirty="0"/>
          </a:p>
        </p:txBody>
      </p:sp>
      <p:sp>
        <p:nvSpPr>
          <p:cNvPr id="18" name="Shape 15"/>
          <p:cNvSpPr/>
          <p:nvPr/>
        </p:nvSpPr>
        <p:spPr>
          <a:xfrm>
            <a:off x="4846320" y="2697480"/>
            <a:ext cx="3840480" cy="1920240"/>
          </a:xfrm>
          <a:prstGeom prst="roundRect">
            <a:avLst>
              <a:gd name="adj" fmla="val 3810"/>
            </a:avLst>
          </a:prstGeom>
          <a:solidFill>
            <a:srgbClr val="0F3D3E"/>
          </a:solidFill>
          <a:ln w="12700">
            <a:solidFill>
              <a:srgbClr val="0F3D3E"/>
            </a:solidFill>
            <a:prstDash val="solid"/>
          </a:ln>
        </p:spPr>
      </p:sp>
      <p:sp>
        <p:nvSpPr>
          <p:cNvPr id="19" name="Shape 16"/>
          <p:cNvSpPr/>
          <p:nvPr/>
        </p:nvSpPr>
        <p:spPr>
          <a:xfrm>
            <a:off x="5029200" y="2834640"/>
            <a:ext cx="411480" cy="411480"/>
          </a:xfrm>
          <a:prstGeom prst="ellipse">
            <a:avLst/>
          </a:prstGeom>
          <a:solidFill>
            <a:srgbClr val="E8A33D"/>
          </a:solidFill>
          <a:ln w="12700">
            <a:solidFill>
              <a:srgbClr val="E8A33D"/>
            </a:solidFill>
            <a:prstDash val="solid"/>
          </a:ln>
        </p:spPr>
      </p:sp>
      <p:pic>
        <p:nvPicPr>
          <p:cNvPr id="20" name="Image 1" descr="preencoded.png">    </p:cNvPr>
          <p:cNvPicPr>
            <a:picLocks noChangeAspect="1"/>
          </p:cNvPicPr>
          <p:nvPr/>
        </p:nvPicPr>
        <p:blipFill>
          <a:blip r:embed="rId2"/>
          <a:stretch>
            <a:fillRect/>
          </a:stretch>
        </p:blipFill>
        <p:spPr>
          <a:xfrm>
            <a:off x="5132070" y="2937510"/>
            <a:ext cx="205740" cy="205740"/>
          </a:xfrm>
          <a:prstGeom prst="rect">
            <a:avLst/>
          </a:prstGeom>
        </p:spPr>
      </p:pic>
      <p:sp>
        <p:nvSpPr>
          <p:cNvPr id="21" name="Text 17"/>
          <p:cNvSpPr txBox="1"/>
          <p:nvPr/>
        </p:nvSpPr>
        <p:spPr>
          <a:xfrm>
            <a:off x="5532120" y="2834640"/>
            <a:ext cx="30175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Kontribusi penelitian ini</a:t>
            </a:r>
            <a:endParaRPr lang="en-US" sz="1300" dirty="0"/>
          </a:p>
        </p:txBody>
      </p:sp>
      <p:sp>
        <p:nvSpPr>
          <p:cNvPr id="22" name="Text 18"/>
          <p:cNvSpPr txBox="1"/>
          <p:nvPr/>
        </p:nvSpPr>
        <p:spPr>
          <a:xfrm>
            <a:off x="5074920" y="3337560"/>
            <a:ext cx="3474720" cy="11887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Analisis formal gross-up di bawah TER</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Studi kesesuaian aplikasi PPh 21 di Indonesia</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Biaya pemeliharaan &amp; ekspresivitas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03 · SOLUSI</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Knowledge Base Dua Lapis</a:t>
            </a:r>
            <a:endParaRPr lang="en-US" sz="2800" dirty="0"/>
          </a:p>
        </p:txBody>
      </p:sp>
      <p:sp>
        <p:nvSpPr>
          <p:cNvPr id="4" name="Shape 2"/>
          <p:cNvSpPr/>
          <p:nvPr/>
        </p:nvSpPr>
        <p:spPr>
          <a:xfrm>
            <a:off x="457200" y="1280160"/>
            <a:ext cx="2834640" cy="1234440"/>
          </a:xfrm>
          <a:prstGeom prst="roundRect">
            <a:avLst>
              <a:gd name="adj" fmla="val 5926"/>
            </a:avLst>
          </a:prstGeom>
          <a:solidFill>
            <a:srgbClr val="EAF3F0"/>
          </a:solidFill>
          <a:ln w="12700">
            <a:solidFill>
              <a:srgbClr val="EAF3F0"/>
            </a:solidFill>
            <a:prstDash val="solid"/>
          </a:ln>
        </p:spPr>
      </p:sp>
      <p:sp>
        <p:nvSpPr>
          <p:cNvPr id="5" name="Shape 3"/>
          <p:cNvSpPr/>
          <p:nvPr/>
        </p:nvSpPr>
        <p:spPr>
          <a:xfrm>
            <a:off x="640080" y="1417320"/>
            <a:ext cx="457200" cy="457200"/>
          </a:xfrm>
          <a:prstGeom prst="ellipse">
            <a:avLst/>
          </a:prstGeom>
          <a:solidFill>
            <a:srgbClr val="0F3D3E"/>
          </a:solidFill>
          <a:ln w="12700">
            <a:solidFill>
              <a:srgbClr val="0F3D3E"/>
            </a:solidFill>
            <a:prstDash val="solid"/>
          </a:ln>
        </p:spPr>
      </p:sp>
      <p:pic>
        <p:nvPicPr>
          <p:cNvPr id="6" name="Image 0" descr="preencoded.png">    </p:cNvPr>
          <p:cNvPicPr>
            <a:picLocks noChangeAspect="1"/>
          </p:cNvPicPr>
          <p:nvPr/>
        </p:nvPicPr>
        <p:blipFill>
          <a:blip r:embed="rId1"/>
          <a:stretch>
            <a:fillRect/>
          </a:stretch>
        </p:blipFill>
        <p:spPr>
          <a:xfrm>
            <a:off x="754380" y="1531620"/>
            <a:ext cx="228600" cy="228600"/>
          </a:xfrm>
          <a:prstGeom prst="rect">
            <a:avLst/>
          </a:prstGeom>
        </p:spPr>
      </p:pic>
      <p:sp>
        <p:nvSpPr>
          <p:cNvPr id="7" name="Text 4"/>
          <p:cNvSpPr txBox="1"/>
          <p:nvPr/>
        </p:nvSpPr>
        <p:spPr>
          <a:xfrm>
            <a:off x="1188720" y="1417320"/>
            <a:ext cx="2011680" cy="457200"/>
          </a:xfrm>
          <a:prstGeom prst="rect">
            <a:avLst/>
          </a:prstGeom>
          <a:noFill/>
          <a:ln/>
        </p:spPr>
        <p:txBody>
          <a:bodyPr wrap="square" lIns="0" tIns="0" rIns="0" bIns="0" rtlCol="0" anchor="ctr"/>
          <a:lstStyle/>
          <a:p>
            <a:pPr indent="0" marL="0">
              <a:buNone/>
            </a:pPr>
            <a:r>
              <a:rPr lang="en-US" sz="1400" b="1" dirty="0">
                <a:solidFill>
                  <a:srgbClr val="0F3D3E"/>
                </a:solidFill>
                <a:latin typeface="Calibri" pitchFamily="34" charset="0"/>
                <a:ea typeface="Calibri" pitchFamily="34" charset="-122"/>
                <a:cs typeface="Calibri" pitchFamily="34" charset="-120"/>
              </a:rPr>
              <a:t>Lapisan regulasi</a:t>
            </a:r>
            <a:endParaRPr lang="en-US" sz="1400" dirty="0"/>
          </a:p>
        </p:txBody>
      </p:sp>
      <p:sp>
        <p:nvSpPr>
          <p:cNvPr id="8" name="Text 5"/>
          <p:cNvSpPr txBox="1"/>
          <p:nvPr/>
        </p:nvSpPr>
        <p:spPr>
          <a:xfrm>
            <a:off x="640080" y="1920240"/>
            <a:ext cx="2560320" cy="548640"/>
          </a:xfrm>
          <a:prstGeom prst="rect">
            <a:avLst/>
          </a:prstGeom>
          <a:noFill/>
          <a:ln/>
        </p:spPr>
        <p:txBody>
          <a:bodyPr wrap="square" lIns="0" tIns="0" rIns="0" bIns="0" rtlCol="0" anchor="t"/>
          <a:lstStyle/>
          <a:p>
            <a:pPr indent="0" marL="0">
              <a:buNone/>
            </a:pPr>
            <a:r>
              <a:rPr lang="en-US" sz="1050" dirty="0">
                <a:solidFill>
                  <a:srgbClr val="5B6B6B"/>
                </a:solidFill>
                <a:latin typeface="Calibri" pitchFamily="34" charset="0"/>
                <a:ea typeface="Calibri" pitchFamily="34" charset="-122"/>
                <a:cs typeface="Calibri" pitchFamily="34" charset="-120"/>
              </a:rPr>
              <a:t>TER, PTKP, Pasal 17, DTP, biaya jabatan + masa berlaku + pasal sumber</a:t>
            </a:r>
            <a:endParaRPr lang="en-US" sz="1050" dirty="0"/>
          </a:p>
        </p:txBody>
      </p:sp>
      <p:sp>
        <p:nvSpPr>
          <p:cNvPr id="9" name="Shape 6"/>
          <p:cNvSpPr/>
          <p:nvPr/>
        </p:nvSpPr>
        <p:spPr>
          <a:xfrm>
            <a:off x="457200" y="2743200"/>
            <a:ext cx="2834640" cy="1234440"/>
          </a:xfrm>
          <a:prstGeom prst="roundRect">
            <a:avLst>
              <a:gd name="adj" fmla="val 5926"/>
            </a:avLst>
          </a:prstGeom>
          <a:solidFill>
            <a:srgbClr val="EAF3F0"/>
          </a:solidFill>
          <a:ln w="12700">
            <a:solidFill>
              <a:srgbClr val="EAF3F0"/>
            </a:solidFill>
            <a:prstDash val="solid"/>
          </a:ln>
        </p:spPr>
      </p:sp>
      <p:sp>
        <p:nvSpPr>
          <p:cNvPr id="10" name="Shape 7"/>
          <p:cNvSpPr/>
          <p:nvPr/>
        </p:nvSpPr>
        <p:spPr>
          <a:xfrm>
            <a:off x="640080" y="2880360"/>
            <a:ext cx="457200" cy="457200"/>
          </a:xfrm>
          <a:prstGeom prst="ellipse">
            <a:avLst/>
          </a:prstGeom>
          <a:solidFill>
            <a:srgbClr val="0F3D3E"/>
          </a:solidFill>
          <a:ln w="12700">
            <a:solidFill>
              <a:srgbClr val="0F3D3E"/>
            </a:solidFill>
            <a:prstDash val="solid"/>
          </a:ln>
        </p:spPr>
      </p:sp>
      <p:pic>
        <p:nvPicPr>
          <p:cNvPr id="11" name="Image 1" descr="preencoded.png">    </p:cNvPr>
          <p:cNvPicPr>
            <a:picLocks noChangeAspect="1"/>
          </p:cNvPicPr>
          <p:nvPr/>
        </p:nvPicPr>
        <p:blipFill>
          <a:blip r:embed="rId2"/>
          <a:stretch>
            <a:fillRect/>
          </a:stretch>
        </p:blipFill>
        <p:spPr>
          <a:xfrm>
            <a:off x="754380" y="2994660"/>
            <a:ext cx="228600" cy="228600"/>
          </a:xfrm>
          <a:prstGeom prst="rect">
            <a:avLst/>
          </a:prstGeom>
        </p:spPr>
      </p:pic>
      <p:sp>
        <p:nvSpPr>
          <p:cNvPr id="12" name="Text 8"/>
          <p:cNvSpPr txBox="1"/>
          <p:nvPr/>
        </p:nvSpPr>
        <p:spPr>
          <a:xfrm>
            <a:off x="1188720" y="2880360"/>
            <a:ext cx="2011680" cy="457200"/>
          </a:xfrm>
          <a:prstGeom prst="rect">
            <a:avLst/>
          </a:prstGeom>
          <a:noFill/>
          <a:ln/>
        </p:spPr>
        <p:txBody>
          <a:bodyPr wrap="square" lIns="0" tIns="0" rIns="0" bIns="0" rtlCol="0" anchor="ctr"/>
          <a:lstStyle/>
          <a:p>
            <a:pPr indent="0" marL="0">
              <a:buNone/>
            </a:pPr>
            <a:r>
              <a:rPr lang="en-US" sz="1400" b="1" dirty="0">
                <a:solidFill>
                  <a:srgbClr val="0F3D3E"/>
                </a:solidFill>
                <a:latin typeface="Calibri" pitchFamily="34" charset="0"/>
                <a:ea typeface="Calibri" pitchFamily="34" charset="-122"/>
                <a:cs typeface="Calibri" pitchFamily="34" charset="-120"/>
              </a:rPr>
              <a:t>Kebijakan perusahaan</a:t>
            </a:r>
            <a:endParaRPr lang="en-US" sz="1400" dirty="0"/>
          </a:p>
        </p:txBody>
      </p:sp>
      <p:sp>
        <p:nvSpPr>
          <p:cNvPr id="13" name="Text 9"/>
          <p:cNvSpPr txBox="1"/>
          <p:nvPr/>
        </p:nvSpPr>
        <p:spPr>
          <a:xfrm>
            <a:off x="640080" y="3383280"/>
            <a:ext cx="2560320" cy="548640"/>
          </a:xfrm>
          <a:prstGeom prst="rect">
            <a:avLst/>
          </a:prstGeom>
          <a:noFill/>
          <a:ln/>
        </p:spPr>
        <p:txBody>
          <a:bodyPr wrap="square" lIns="0" tIns="0" rIns="0" bIns="0" rtlCol="0" anchor="t"/>
          <a:lstStyle/>
          <a:p>
            <a:pPr indent="0" marL="0">
              <a:buNone/>
            </a:pPr>
            <a:r>
              <a:rPr lang="en-US" sz="1050" dirty="0">
                <a:solidFill>
                  <a:srgbClr val="5B6B6B"/>
                </a:solidFill>
                <a:latin typeface="Calibri" pitchFamily="34" charset="0"/>
                <a:ea typeface="Calibri" pitchFamily="34" charset="-122"/>
                <a:cs typeface="Calibri" pitchFamily="34" charset="-120"/>
              </a:rPr>
              <a:t>Metode gross/gross-up, komponen gaji, jadwal THR &amp; bonus, natura</a:t>
            </a:r>
            <a:endParaRPr lang="en-US" sz="1050" dirty="0"/>
          </a:p>
        </p:txBody>
      </p:sp>
      <p:sp>
        <p:nvSpPr>
          <p:cNvPr id="14" name="Shape 10"/>
          <p:cNvSpPr/>
          <p:nvPr/>
        </p:nvSpPr>
        <p:spPr>
          <a:xfrm>
            <a:off x="3337560" y="1892808"/>
            <a:ext cx="502920" cy="548640"/>
          </a:xfrm>
          <a:prstGeom prst="line">
            <a:avLst/>
          </a:prstGeom>
          <a:noFill/>
          <a:ln w="19050">
            <a:solidFill>
              <a:srgbClr val="1D6A6B"/>
            </a:solidFill>
            <a:prstDash val="solid"/>
            <a:tailEnd type="triangle"/>
          </a:ln>
        </p:spPr>
      </p:sp>
      <p:sp>
        <p:nvSpPr>
          <p:cNvPr id="15" name="Shape 11"/>
          <p:cNvSpPr/>
          <p:nvPr/>
        </p:nvSpPr>
        <p:spPr>
          <a:xfrm flipV="1">
            <a:off x="3337560" y="2834640"/>
            <a:ext cx="502920" cy="521208"/>
          </a:xfrm>
          <a:prstGeom prst="line">
            <a:avLst/>
          </a:prstGeom>
          <a:noFill/>
          <a:ln w="19050">
            <a:solidFill>
              <a:srgbClr val="1D6A6B"/>
            </a:solidFill>
            <a:prstDash val="solid"/>
            <a:tailEnd type="triangle"/>
          </a:ln>
        </p:spPr>
      </p:sp>
      <p:sp>
        <p:nvSpPr>
          <p:cNvPr id="16" name="Shape 12"/>
          <p:cNvSpPr/>
          <p:nvPr/>
        </p:nvSpPr>
        <p:spPr>
          <a:xfrm>
            <a:off x="3886200" y="1920240"/>
            <a:ext cx="2103120" cy="1463040"/>
          </a:xfrm>
          <a:prstGeom prst="roundRect">
            <a:avLst>
              <a:gd name="adj" fmla="val 5000"/>
            </a:avLst>
          </a:prstGeom>
          <a:solidFill>
            <a:srgbClr val="0F3D3E"/>
          </a:solidFill>
          <a:ln w="12700">
            <a:solidFill>
              <a:srgbClr val="0F3D3E"/>
            </a:solidFill>
            <a:prstDash val="solid"/>
          </a:ln>
        </p:spPr>
      </p:sp>
      <p:sp>
        <p:nvSpPr>
          <p:cNvPr id="17" name="Shape 13"/>
          <p:cNvSpPr/>
          <p:nvPr/>
        </p:nvSpPr>
        <p:spPr>
          <a:xfrm>
            <a:off x="4709160" y="2029968"/>
            <a:ext cx="457200" cy="457200"/>
          </a:xfrm>
          <a:prstGeom prst="ellipse">
            <a:avLst/>
          </a:prstGeom>
          <a:solidFill>
            <a:srgbClr val="E8A33D"/>
          </a:solidFill>
          <a:ln w="12700">
            <a:solidFill>
              <a:srgbClr val="E8A33D"/>
            </a:solidFill>
            <a:prstDash val="solid"/>
          </a:ln>
        </p:spPr>
      </p:sp>
      <p:pic>
        <p:nvPicPr>
          <p:cNvPr id="18" name="Image 2" descr="preencoded.png">    </p:cNvPr>
          <p:cNvPicPr>
            <a:picLocks noChangeAspect="1"/>
          </p:cNvPicPr>
          <p:nvPr/>
        </p:nvPicPr>
        <p:blipFill>
          <a:blip r:embed="rId3"/>
          <a:stretch>
            <a:fillRect/>
          </a:stretch>
        </p:blipFill>
        <p:spPr>
          <a:xfrm>
            <a:off x="4823460" y="2144268"/>
            <a:ext cx="228600" cy="228600"/>
          </a:xfrm>
          <a:prstGeom prst="rect">
            <a:avLst/>
          </a:prstGeom>
        </p:spPr>
      </p:pic>
      <p:sp>
        <p:nvSpPr>
          <p:cNvPr id="19" name="Text 14"/>
          <p:cNvSpPr txBox="1"/>
          <p:nvPr/>
        </p:nvSpPr>
        <p:spPr>
          <a:xfrm>
            <a:off x="3977640" y="2542032"/>
            <a:ext cx="192024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Mesin perhitungan</a:t>
            </a:r>
            <a:endParaRPr lang="en-US" sz="1300" dirty="0"/>
          </a:p>
        </p:txBody>
      </p:sp>
      <p:sp>
        <p:nvSpPr>
          <p:cNvPr id="20" name="Text 15"/>
          <p:cNvSpPr txBox="1"/>
          <p:nvPr/>
        </p:nvSpPr>
        <p:spPr>
          <a:xfrm>
            <a:off x="3977640" y="2852928"/>
            <a:ext cx="1920240" cy="274320"/>
          </a:xfrm>
          <a:prstGeom prst="rect">
            <a:avLst/>
          </a:prstGeom>
          <a:noFill/>
          <a:ln/>
        </p:spPr>
        <p:txBody>
          <a:bodyPr wrap="square" lIns="0" tIns="0" rIns="0" bIns="0" rtlCol="0" anchor="t"/>
          <a:lstStyle/>
          <a:p>
            <a:pPr algn="ctr" indent="0" marL="0">
              <a:buNone/>
            </a:pPr>
            <a:r>
              <a:rPr lang="en-US" sz="1050" i="1" dirty="0">
                <a:solidFill>
                  <a:srgbClr val="BFE0D6"/>
                </a:solidFill>
                <a:latin typeface="Calibri" pitchFamily="34" charset="0"/>
                <a:ea typeface="Calibri" pitchFamily="34" charset="-122"/>
                <a:cs typeface="Calibri" pitchFamily="34" charset="-120"/>
              </a:rPr>
              <a:t>tidak pernah diubah</a:t>
            </a:r>
            <a:endParaRPr lang="en-US" sz="1050" dirty="0"/>
          </a:p>
        </p:txBody>
      </p:sp>
      <p:sp>
        <p:nvSpPr>
          <p:cNvPr id="21" name="Shape 16"/>
          <p:cNvSpPr/>
          <p:nvPr/>
        </p:nvSpPr>
        <p:spPr>
          <a:xfrm>
            <a:off x="6035040" y="2651760"/>
            <a:ext cx="411480" cy="0"/>
          </a:xfrm>
          <a:prstGeom prst="line">
            <a:avLst/>
          </a:prstGeom>
          <a:noFill/>
          <a:ln w="19050">
            <a:solidFill>
              <a:srgbClr val="1D6A6B"/>
            </a:solidFill>
            <a:prstDash val="solid"/>
            <a:tailEnd type="triangle"/>
          </a:ln>
        </p:spPr>
      </p:sp>
      <p:sp>
        <p:nvSpPr>
          <p:cNvPr id="22" name="Shape 17"/>
          <p:cNvSpPr/>
          <p:nvPr/>
        </p:nvSpPr>
        <p:spPr>
          <a:xfrm>
            <a:off x="6492240" y="1920240"/>
            <a:ext cx="2194560" cy="1463040"/>
          </a:xfrm>
          <a:prstGeom prst="roundRect">
            <a:avLst>
              <a:gd name="adj" fmla="val 5000"/>
            </a:avLst>
          </a:prstGeom>
          <a:solidFill>
            <a:srgbClr val="EAF3F0"/>
          </a:solidFill>
          <a:ln w="12700">
            <a:solidFill>
              <a:srgbClr val="EAF3F0"/>
            </a:solidFill>
            <a:prstDash val="solid"/>
          </a:ln>
        </p:spPr>
      </p:sp>
      <p:sp>
        <p:nvSpPr>
          <p:cNvPr id="23" name="Shape 18"/>
          <p:cNvSpPr/>
          <p:nvPr/>
        </p:nvSpPr>
        <p:spPr>
          <a:xfrm>
            <a:off x="7360920" y="2029968"/>
            <a:ext cx="457200" cy="457200"/>
          </a:xfrm>
          <a:prstGeom prst="ellipse">
            <a:avLst/>
          </a:prstGeom>
          <a:solidFill>
            <a:srgbClr val="0F3D3E"/>
          </a:solidFill>
          <a:ln w="12700">
            <a:solidFill>
              <a:srgbClr val="0F3D3E"/>
            </a:solidFill>
            <a:prstDash val="solid"/>
          </a:ln>
        </p:spPr>
      </p:sp>
      <p:pic>
        <p:nvPicPr>
          <p:cNvPr id="24" name="Image 3" descr="preencoded.png">    </p:cNvPr>
          <p:cNvPicPr>
            <a:picLocks noChangeAspect="1"/>
          </p:cNvPicPr>
          <p:nvPr/>
        </p:nvPicPr>
        <p:blipFill>
          <a:blip r:embed="rId4"/>
          <a:stretch>
            <a:fillRect/>
          </a:stretch>
        </p:blipFill>
        <p:spPr>
          <a:xfrm>
            <a:off x="7475220" y="2144268"/>
            <a:ext cx="228600" cy="228600"/>
          </a:xfrm>
          <a:prstGeom prst="rect">
            <a:avLst/>
          </a:prstGeom>
        </p:spPr>
      </p:pic>
      <p:sp>
        <p:nvSpPr>
          <p:cNvPr id="25" name="Text 19"/>
          <p:cNvSpPr txBox="1"/>
          <p:nvPr/>
        </p:nvSpPr>
        <p:spPr>
          <a:xfrm>
            <a:off x="6583680" y="2542032"/>
            <a:ext cx="2011680" cy="731520"/>
          </a:xfrm>
          <a:prstGeom prst="rect">
            <a:avLst/>
          </a:prstGeom>
          <a:noFill/>
          <a:ln/>
        </p:spPr>
        <p:txBody>
          <a:bodyPr wrap="square" lIns="0" tIns="0" rIns="0" bIns="0" rtlCol="0" anchor="t"/>
          <a:lstStyle/>
          <a:p>
            <a:pPr algn="ctr" indent="0" marL="0">
              <a:buNone/>
            </a:pPr>
            <a:r>
              <a:rPr lang="en-US" sz="1200" b="1" dirty="0">
                <a:solidFill>
                  <a:srgbClr val="0F3D3E"/>
                </a:solidFill>
                <a:latin typeface="Calibri" pitchFamily="34" charset="0"/>
                <a:ea typeface="Calibri" pitchFamily="34" charset="-122"/>
                <a:cs typeface="Calibri" pitchFamily="34" charset="-120"/>
              </a:rPr>
              <a:t>PPh 21 + rincian aturan &amp; pasal</a:t>
            </a:r>
            <a:endParaRPr lang="en-US" sz="1200" dirty="0"/>
          </a:p>
        </p:txBody>
      </p:sp>
      <p:sp>
        <p:nvSpPr>
          <p:cNvPr id="26" name="Shape 20"/>
          <p:cNvSpPr/>
          <p:nvPr/>
        </p:nvSpPr>
        <p:spPr>
          <a:xfrm>
            <a:off x="3886200" y="3611880"/>
            <a:ext cx="4800600" cy="457200"/>
          </a:xfrm>
          <a:prstGeom prst="roundRect">
            <a:avLst>
              <a:gd name="adj" fmla="val 16000"/>
            </a:avLst>
          </a:prstGeom>
          <a:solidFill>
            <a:srgbClr val="F8E3BD"/>
          </a:solidFill>
          <a:ln w="12700">
            <a:solidFill>
              <a:srgbClr val="E8A33D"/>
            </a:solidFill>
            <a:prstDash val="solid"/>
          </a:ln>
        </p:spPr>
      </p:sp>
      <p:sp>
        <p:nvSpPr>
          <p:cNvPr id="27" name="Text 21"/>
          <p:cNvSpPr txBox="1"/>
          <p:nvPr/>
        </p:nvSpPr>
        <p:spPr>
          <a:xfrm>
            <a:off x="4023360" y="3611880"/>
            <a:ext cx="4572000" cy="457200"/>
          </a:xfrm>
          <a:prstGeom prst="rect">
            <a:avLst/>
          </a:prstGeom>
          <a:noFill/>
          <a:ln/>
        </p:spPr>
        <p:txBody>
          <a:bodyPr wrap="square" lIns="0" tIns="0" rIns="0" bIns="0" rtlCol="0" anchor="ctr"/>
          <a:lstStyle/>
          <a:p>
            <a:pPr indent="0" marL="0">
              <a:buNone/>
            </a:pPr>
            <a:r>
              <a:rPr lang="en-US" sz="1150" b="1" dirty="0">
                <a:solidFill>
                  <a:srgbClr val="1E2B2B"/>
                </a:solidFill>
                <a:latin typeface="Calibri" pitchFamily="34" charset="0"/>
                <a:ea typeface="Calibri" pitchFamily="34" charset="-122"/>
                <a:cs typeface="Calibri" pitchFamily="34" charset="-120"/>
              </a:rPr>
              <a:t>Z3: </a:t>
            </a:r>
            <a:pPr indent="0" marL="0">
              <a:buNone/>
            </a:pPr>
            <a:r>
              <a:rPr lang="en-US" sz="1150" dirty="0">
                <a:solidFill>
                  <a:srgbClr val="1E2B2B"/>
                </a:solidFill>
                <a:latin typeface="Calibri" pitchFamily="34" charset="0"/>
                <a:ea typeface="Calibri" pitchFamily="34" charset="-122"/>
                <a:cs typeface="Calibri" pitchFamily="34" charset="-120"/>
              </a:rPr>
              <a:t>analisis gross-up &amp; cek konsistensi konfigurasi</a:t>
            </a:r>
            <a:endParaRPr lang="en-US" sz="1150" dirty="0"/>
          </a:p>
        </p:txBody>
      </p:sp>
      <p:sp>
        <p:nvSpPr>
          <p:cNvPr id="28" name="Shape 22"/>
          <p:cNvSpPr/>
          <p:nvPr/>
        </p:nvSpPr>
        <p:spPr>
          <a:xfrm>
            <a:off x="457200" y="4206240"/>
            <a:ext cx="8229600" cy="457200"/>
          </a:xfrm>
          <a:prstGeom prst="roundRect">
            <a:avLst>
              <a:gd name="adj" fmla="val 16000"/>
            </a:avLst>
          </a:prstGeom>
          <a:solidFill>
            <a:srgbClr val="EAF3F0"/>
          </a:solidFill>
          <a:ln w="12700">
            <a:solidFill>
              <a:srgbClr val="EAF3F0"/>
            </a:solidFill>
            <a:prstDash val="solid"/>
          </a:ln>
        </p:spPr>
      </p:sp>
      <p:sp>
        <p:nvSpPr>
          <p:cNvPr id="29" name="Text 23"/>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250" b="1" dirty="0">
                <a:solidFill>
                  <a:srgbClr val="0F3D3E"/>
                </a:solidFill>
                <a:latin typeface="Calibri" pitchFamily="34" charset="0"/>
                <a:ea typeface="Calibri" pitchFamily="34" charset="-122"/>
                <a:cs typeface="Calibri" pitchFamily="34" charset="-120"/>
              </a:rPr>
              <a:t>Aturan berubah → ubah lapisan regulasi. Perusahaan baru → tambah konfigurasi. Kode mesin tetap.</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03 · SOLUSI</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Gross-Up adalah Definisi Melingkar</a:t>
            </a:r>
            <a:endParaRPr lang="en-US" sz="2800" dirty="0"/>
          </a:p>
        </p:txBody>
      </p:sp>
      <p:sp>
        <p:nvSpPr>
          <p:cNvPr id="4" name="Text 2"/>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300" dirty="0">
                <a:solidFill>
                  <a:srgbClr val="5B6B6B"/>
                </a:solidFill>
                <a:latin typeface="Calibri" pitchFamily="34" charset="0"/>
                <a:ea typeface="Calibri" pitchFamily="34" charset="-122"/>
                <a:cs typeface="Calibri" pitchFamily="34" charset="-120"/>
              </a:rPr>
              <a:t>Tunjangan pajak harus sama dengan pajak yang dipotong, padahal pajak itu dihitung dari gaji ditambah tunjangan pajak itu sendiri.</a:t>
            </a:r>
            <a:endParaRPr lang="en-US" sz="1300" dirty="0"/>
          </a:p>
        </p:txBody>
      </p:sp>
      <p:sp>
        <p:nvSpPr>
          <p:cNvPr id="5" name="Shape 3"/>
          <p:cNvSpPr/>
          <p:nvPr/>
        </p:nvSpPr>
        <p:spPr>
          <a:xfrm>
            <a:off x="457200" y="1691640"/>
            <a:ext cx="3977640" cy="2148840"/>
          </a:xfrm>
          <a:prstGeom prst="roundRect">
            <a:avLst>
              <a:gd name="adj" fmla="val 3404"/>
            </a:avLst>
          </a:prstGeom>
          <a:solidFill>
            <a:srgbClr val="EAF3F0"/>
          </a:solidFill>
          <a:ln w="12700">
            <a:solidFill>
              <a:srgbClr val="EAF3F0"/>
            </a:solidFill>
            <a:prstDash val="solid"/>
          </a:ln>
        </p:spPr>
      </p:sp>
      <p:sp>
        <p:nvSpPr>
          <p:cNvPr id="6" name="Shape 4"/>
          <p:cNvSpPr/>
          <p:nvPr/>
        </p:nvSpPr>
        <p:spPr>
          <a:xfrm>
            <a:off x="640080" y="1828800"/>
            <a:ext cx="457200" cy="457200"/>
          </a:xfrm>
          <a:prstGeom prst="ellipse">
            <a:avLst/>
          </a:prstGeom>
          <a:solidFill>
            <a:srgbClr val="5B6B6B"/>
          </a:solidFill>
          <a:ln w="12700">
            <a:solidFill>
              <a:srgbClr val="5B6B6B"/>
            </a:solidFill>
            <a:prstDash val="solid"/>
          </a:ln>
        </p:spPr>
      </p:sp>
      <p:pic>
        <p:nvPicPr>
          <p:cNvPr id="7" name="Image 0" descr="preencoded.png">    </p:cNvPr>
          <p:cNvPicPr>
            <a:picLocks noChangeAspect="1"/>
          </p:cNvPicPr>
          <p:nvPr/>
        </p:nvPicPr>
        <p:blipFill>
          <a:blip r:embed="rId1"/>
          <a:stretch>
            <a:fillRect/>
          </a:stretch>
        </p:blipFill>
        <p:spPr>
          <a:xfrm>
            <a:off x="754380" y="1943100"/>
            <a:ext cx="228600" cy="228600"/>
          </a:xfrm>
          <a:prstGeom prst="rect">
            <a:avLst/>
          </a:prstGeom>
        </p:spPr>
      </p:pic>
      <p:sp>
        <p:nvSpPr>
          <p:cNvPr id="8" name="Text 5"/>
          <p:cNvSpPr txBox="1"/>
          <p:nvPr/>
        </p:nvSpPr>
        <p:spPr>
          <a:xfrm>
            <a:off x="1188720" y="1828800"/>
            <a:ext cx="3108960" cy="457200"/>
          </a:xfrm>
          <a:prstGeom prst="rect">
            <a:avLst/>
          </a:prstGeom>
          <a:noFill/>
          <a:ln/>
        </p:spPr>
        <p:txBody>
          <a:bodyPr wrap="square" lIns="0" tIns="0" rIns="0" bIns="0" rtlCol="0" anchor="ctr"/>
          <a:lstStyle/>
          <a:p>
            <a:pPr indent="0" marL="0">
              <a:buNone/>
            </a:pPr>
            <a:r>
              <a:rPr lang="en-US" sz="1500" b="1" dirty="0">
                <a:solidFill>
                  <a:srgbClr val="5B6B6B"/>
                </a:solidFill>
                <a:latin typeface="Calibri" pitchFamily="34" charset="0"/>
                <a:ea typeface="Calibri" pitchFamily="34" charset="-122"/>
                <a:cs typeface="Calibri" pitchFamily="34" charset="-120"/>
              </a:rPr>
              <a:t>Cara saat ini</a:t>
            </a:r>
            <a:endParaRPr lang="en-US" sz="1500" dirty="0"/>
          </a:p>
        </p:txBody>
      </p:sp>
      <p:sp>
        <p:nvSpPr>
          <p:cNvPr id="9" name="Text 6"/>
          <p:cNvSpPr txBox="1"/>
          <p:nvPr/>
        </p:nvSpPr>
        <p:spPr>
          <a:xfrm>
            <a:off x="685800" y="2377440"/>
            <a:ext cx="361188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B2B"/>
                </a:solidFill>
                <a:latin typeface="Calibri" pitchFamily="34" charset="0"/>
                <a:ea typeface="Calibri" pitchFamily="34" charset="-122"/>
                <a:cs typeface="Calibri" pitchFamily="34" charset="-120"/>
              </a:rPr>
              <a:t>Rumus diturunkan manual per lapisan tarif, misalnya (PKP − 0) × 5/95</a:t>
            </a:r>
            <a:endParaRPr lang="en-US" sz="1200" dirty="0"/>
          </a:p>
          <a:p>
            <a:pPr marL="342900" indent="-342900">
              <a:spcAft>
                <a:spcPts val="400"/>
              </a:spcAft>
              <a:buSzPct val="100000"/>
              <a:buChar char="•"/>
            </a:pPr>
            <a:r>
              <a:rPr lang="en-US" sz="1200" dirty="0">
                <a:solidFill>
                  <a:srgbClr val="1E2B2B"/>
                </a:solidFill>
                <a:latin typeface="Calibri" pitchFamily="34" charset="0"/>
                <a:ea typeface="Calibri" pitchFamily="34" charset="-122"/>
                <a:cs typeface="Calibri" pitchFamily="34" charset="-120"/>
              </a:rPr>
              <a:t>Rumus ditanam di kode</a:t>
            </a:r>
            <a:endParaRPr lang="en-US" sz="1200" dirty="0"/>
          </a:p>
          <a:p>
            <a:pPr marL="342900" indent="-342900">
              <a:spcAft>
                <a:spcPts val="400"/>
              </a:spcAft>
              <a:buSzPct val="100000"/>
              <a:buChar char="•"/>
            </a:pPr>
            <a:r>
              <a:rPr lang="en-US" sz="1200" dirty="0">
                <a:solidFill>
                  <a:srgbClr val="1E2B2B"/>
                </a:solidFill>
                <a:latin typeface="Calibri" pitchFamily="34" charset="0"/>
                <a:ea typeface="Calibri" pitchFamily="34" charset="-122"/>
                <a:cs typeface="Calibri" pitchFamily="34" charset="-120"/>
              </a:rPr>
              <a:t>Struktur tarif berubah (TER) → rumus harus diturunkan dan diprogram ulang</a:t>
            </a:r>
            <a:endParaRPr lang="en-US" sz="1200" dirty="0"/>
          </a:p>
        </p:txBody>
      </p:sp>
      <p:sp>
        <p:nvSpPr>
          <p:cNvPr id="10" name="Shape 7"/>
          <p:cNvSpPr/>
          <p:nvPr/>
        </p:nvSpPr>
        <p:spPr>
          <a:xfrm>
            <a:off x="4709160" y="1691640"/>
            <a:ext cx="3977640" cy="2148840"/>
          </a:xfrm>
          <a:prstGeom prst="roundRect">
            <a:avLst>
              <a:gd name="adj" fmla="val 3404"/>
            </a:avLst>
          </a:prstGeom>
          <a:solidFill>
            <a:srgbClr val="0F3D3E"/>
          </a:solidFill>
          <a:ln w="12700">
            <a:solidFill>
              <a:srgbClr val="0F3D3E"/>
            </a:solidFill>
            <a:prstDash val="solid"/>
          </a:ln>
        </p:spPr>
      </p:sp>
      <p:sp>
        <p:nvSpPr>
          <p:cNvPr id="11" name="Shape 8"/>
          <p:cNvSpPr/>
          <p:nvPr/>
        </p:nvSpPr>
        <p:spPr>
          <a:xfrm>
            <a:off x="4892040" y="1828800"/>
            <a:ext cx="457200" cy="457200"/>
          </a:xfrm>
          <a:prstGeom prst="ellipse">
            <a:avLst/>
          </a:prstGeom>
          <a:solidFill>
            <a:srgbClr val="E8A33D"/>
          </a:solidFill>
          <a:ln w="12700">
            <a:solidFill>
              <a:srgbClr val="E8A33D"/>
            </a:solidFill>
            <a:prstDash val="solid"/>
          </a:ln>
        </p:spPr>
      </p:sp>
      <p:pic>
        <p:nvPicPr>
          <p:cNvPr id="12" name="Image 1" descr="preencoded.png">    </p:cNvPr>
          <p:cNvPicPr>
            <a:picLocks noChangeAspect="1"/>
          </p:cNvPicPr>
          <p:nvPr/>
        </p:nvPicPr>
        <p:blipFill>
          <a:blip r:embed="rId2"/>
          <a:stretch>
            <a:fillRect/>
          </a:stretch>
        </p:blipFill>
        <p:spPr>
          <a:xfrm>
            <a:off x="5006340" y="1943100"/>
            <a:ext cx="228600" cy="228600"/>
          </a:xfrm>
          <a:prstGeom prst="rect">
            <a:avLst/>
          </a:prstGeom>
        </p:spPr>
      </p:pic>
      <p:sp>
        <p:nvSpPr>
          <p:cNvPr id="13" name="Text 9"/>
          <p:cNvSpPr txBox="1"/>
          <p:nvPr/>
        </p:nvSpPr>
        <p:spPr>
          <a:xfrm>
            <a:off x="5440680" y="1828800"/>
            <a:ext cx="31089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Cara yang diusulkan</a:t>
            </a:r>
            <a:endParaRPr lang="en-US" sz="1500" dirty="0"/>
          </a:p>
        </p:txBody>
      </p:sp>
      <p:sp>
        <p:nvSpPr>
          <p:cNvPr id="14" name="Text 10"/>
          <p:cNvSpPr txBox="1"/>
          <p:nvPr/>
        </p:nvSpPr>
        <p:spPr>
          <a:xfrm>
            <a:off x="4937760" y="2377440"/>
            <a:ext cx="361188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Ditulis sebagai definisi: T = pajak(B + 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Mesin mencari sendiri nilai 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Tarif berubah → tidak perlu rumus baru</a:t>
            </a:r>
            <a:endParaRPr lang="en-US" sz="1200" dirty="0"/>
          </a:p>
        </p:txBody>
      </p:sp>
      <p:sp>
        <p:nvSpPr>
          <p:cNvPr id="15" name="Shape 11"/>
          <p:cNvSpPr/>
          <p:nvPr/>
        </p:nvSpPr>
        <p:spPr>
          <a:xfrm>
            <a:off x="457200" y="3977640"/>
            <a:ext cx="8229600" cy="685800"/>
          </a:xfrm>
          <a:prstGeom prst="roundRect">
            <a:avLst>
              <a:gd name="adj" fmla="val 10667"/>
            </a:avLst>
          </a:prstGeom>
          <a:solidFill>
            <a:srgbClr val="F8E3BD"/>
          </a:solidFill>
          <a:ln w="12700">
            <a:solidFill>
              <a:srgbClr val="E8A33D"/>
            </a:solidFill>
            <a:prstDash val="solid"/>
          </a:ln>
        </p:spPr>
      </p:sp>
      <p:sp>
        <p:nvSpPr>
          <p:cNvPr id="16" name="Text 12"/>
          <p:cNvSpPr txBox="1"/>
          <p:nvPr/>
        </p:nvSpPr>
        <p:spPr>
          <a:xfrm>
            <a:off x="640080" y="3977640"/>
            <a:ext cx="7863840" cy="685800"/>
          </a:xfrm>
          <a:prstGeom prst="rect">
            <a:avLst/>
          </a:prstGeom>
          <a:noFill/>
          <a:ln/>
        </p:spPr>
        <p:txBody>
          <a:bodyPr wrap="square" lIns="0" tIns="0" rIns="0" bIns="0" rtlCol="0" anchor="ctr"/>
          <a:lstStyle/>
          <a:p>
            <a:pPr indent="0" marL="0">
              <a:buNone/>
            </a:pPr>
            <a:r>
              <a:rPr lang="en-US" sz="1250" b="1" dirty="0">
                <a:solidFill>
                  <a:srgbClr val="1E2B2B"/>
                </a:solidFill>
                <a:latin typeface="Calibri" pitchFamily="34" charset="0"/>
                <a:ea typeface="Calibri" pitchFamily="34" charset="-122"/>
                <a:cs typeface="Calibri" pitchFamily="34" charset="-120"/>
              </a:rPr>
              <a:t>Bentuk matematis: </a:t>
            </a:r>
            <a:pPr indent="0" marL="0">
              <a:buNone/>
            </a:pPr>
            <a:r>
              <a:rPr lang="en-US" sz="1250" dirty="0">
                <a:solidFill>
                  <a:srgbClr val="1E2B2B"/>
                </a:solidFill>
                <a:latin typeface="Calibri" pitchFamily="34" charset="0"/>
                <a:ea typeface="Calibri" pitchFamily="34" charset="-122"/>
                <a:cs typeface="Calibri" pitchFamily="34" charset="-120"/>
              </a:rPr>
              <a:t>cari penghasilan bruto x sehingga  x × (1 − r(x)) = B,  dengan B = penghasilan bersih yang dijanjikan dan r(x) = tarif TER.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04 · TEMUAN AWAL</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Di Bawah TER, Gross-Up Bisa Punya Dua Solusi</a:t>
            </a:r>
            <a:endParaRPr lang="en-US" sz="2800" dirty="0"/>
          </a:p>
        </p:txBody>
      </p:sp>
      <p:graphicFrame>
        <p:nvGraphicFramePr>
          <p:cNvPr id="4" name="Chart 0" descr=""/>
          <p:cNvGraphicFramePr/>
          <p:nvPr/>
        </p:nvGraphicFramePr>
        <p:xfrm>
          <a:off x="365760" y="1143000"/>
          <a:ext cx="484632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434840"/>
            <a:ext cx="4754880" cy="320040"/>
          </a:xfrm>
          <a:prstGeom prst="rect">
            <a:avLst/>
          </a:prstGeom>
          <a:noFill/>
          <a:ln/>
        </p:spPr>
        <p:txBody>
          <a:bodyPr wrap="square" lIns="0" tIns="0" rIns="0" bIns="0" rtlCol="0" anchor="t"/>
          <a:lstStyle/>
          <a:p>
            <a:pPr indent="0" marL="0">
              <a:buNone/>
            </a:pPr>
            <a:r>
              <a:rPr lang="en-US" sz="950" i="1" dirty="0">
                <a:solidFill>
                  <a:srgbClr val="5B6B6B"/>
                </a:solidFill>
                <a:latin typeface="Calibri" pitchFamily="34" charset="0"/>
                <a:ea typeface="Calibri" pitchFamily="34" charset="-122"/>
                <a:cs typeface="Calibri" pitchFamily="34" charset="-120"/>
              </a:rPr>
              <a:t>Ilustrasi TER kategori A: 6% s.d. Rp15,1 juta, 7% di atasnya (diverifikasi dengan lampiran resmi).</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40680" y="1188720"/>
          <a:ext cx="3246120" cy="914400"/>
        </p:xfrm>
        <a:graphic>
          <a:graphicData uri="http://schemas.openxmlformats.org/drawingml/2006/table">
            <a:tbl>
              <a:tblPr/>
              <a:tblGrid>
                <a:gridCol w="1234440"/>
                <a:gridCol w="1005840"/>
                <a:gridCol w="1005840"/>
              </a:tblGrid>
              <a:tr h="329184">
                <a:tc>
                  <a:txBody>
                    <a:bodyPr/>
                    <a:lstStyle/>
                    <a:p>
                      <a:pP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0F3D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Solusi 1</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0F3D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Solusi 2</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0F3D3E"/>
                    </a:solidFill>
                  </a:tcPr>
                </a:tc>
              </a:tr>
              <a:tr h="329184">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Bruto x</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15.000.000</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15.161.290</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329184">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Tarif TER</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329184">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Tunjangan = PPh</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900.000</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1.061.290</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329184">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THP</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14.100.000</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14.100.000</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bl>
          </a:graphicData>
        </a:graphic>
      </p:graphicFrame>
      <p:sp>
        <p:nvSpPr>
          <p:cNvPr id="7" name="Shape 3"/>
          <p:cNvSpPr/>
          <p:nvPr/>
        </p:nvSpPr>
        <p:spPr>
          <a:xfrm>
            <a:off x="5440680" y="3017520"/>
            <a:ext cx="3246120" cy="1691640"/>
          </a:xfrm>
          <a:prstGeom prst="roundRect">
            <a:avLst>
              <a:gd name="adj" fmla="val 4324"/>
            </a:avLst>
          </a:prstGeom>
          <a:solidFill>
            <a:srgbClr val="0F3D3E"/>
          </a:solidFill>
          <a:ln w="12700">
            <a:solidFill>
              <a:srgbClr val="0F3D3E"/>
            </a:solidFill>
            <a:prstDash val="solid"/>
          </a:ln>
        </p:spPr>
      </p:sp>
      <p:sp>
        <p:nvSpPr>
          <p:cNvPr id="8" name="Text 4"/>
          <p:cNvSpPr txBox="1"/>
          <p:nvPr/>
        </p:nvSpPr>
        <p:spPr>
          <a:xfrm>
            <a:off x="5577840" y="3090672"/>
            <a:ext cx="3017520" cy="1554480"/>
          </a:xfrm>
          <a:prstGeom prst="rect">
            <a:avLst/>
          </a:prstGeom>
          <a:noFill/>
          <a:ln/>
        </p:spPr>
        <p:txBody>
          <a:bodyPr wrap="square" lIns="0" tIns="0" rIns="0" bIns="0" rtlCol="0" anchor="t"/>
          <a:lstStyle/>
          <a:p>
            <a:pPr indent="0" marL="0">
              <a:spcAft>
                <a:spcPts val="300"/>
              </a:spcAft>
              <a:buNone/>
            </a:pPr>
            <a:r>
              <a:rPr lang="en-US" sz="1050" b="1" dirty="0">
                <a:solidFill>
                  <a:srgbClr val="E8A33D"/>
                </a:solidFill>
                <a:latin typeface="Calibri" pitchFamily="34" charset="0"/>
                <a:ea typeface="Calibri" pitchFamily="34" charset="-122"/>
                <a:cs typeface="Calibri" pitchFamily="34" charset="-120"/>
              </a:rPr>
              <a:t>Hipotesis</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H1: solusi selalu ada, tetapi ganda di pita sekitar tiap batas lapisan</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H2: aplikasi berbeda memilih solusi berbeda</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H3: di masa pajak terakhir (Pasal 17) solusinya tunggal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05 · KONTRIBUSI</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Tiga Kontribusi Penelitian</a:t>
            </a:r>
            <a:endParaRPr lang="en-US" sz="2800" dirty="0"/>
          </a:p>
        </p:txBody>
      </p:sp>
      <p:sp>
        <p:nvSpPr>
          <p:cNvPr id="4" name="Shape 2"/>
          <p:cNvSpPr/>
          <p:nvPr/>
        </p:nvSpPr>
        <p:spPr>
          <a:xfrm>
            <a:off x="457200" y="1280160"/>
            <a:ext cx="2560320" cy="3337560"/>
          </a:xfrm>
          <a:prstGeom prst="roundRect">
            <a:avLst>
              <a:gd name="adj" fmla="val 2857"/>
            </a:avLst>
          </a:prstGeom>
          <a:solidFill>
            <a:srgbClr val="EAF3F0"/>
          </a:solidFill>
          <a:ln w="12700">
            <a:solidFill>
              <a:srgbClr val="EAF3F0"/>
            </a:solidFill>
            <a:prstDash val="solid"/>
          </a:ln>
        </p:spPr>
      </p:sp>
      <p:sp>
        <p:nvSpPr>
          <p:cNvPr id="5" name="Shape 3"/>
          <p:cNvSpPr/>
          <p:nvPr/>
        </p:nvSpPr>
        <p:spPr>
          <a:xfrm>
            <a:off x="640080" y="1463040"/>
            <a:ext cx="502920" cy="502920"/>
          </a:xfrm>
          <a:prstGeom prst="ellipse">
            <a:avLst/>
          </a:prstGeom>
          <a:solidFill>
            <a:srgbClr val="0F3D3E"/>
          </a:solidFill>
          <a:ln w="12700">
            <a:solidFill>
              <a:srgbClr val="0F3D3E"/>
            </a:solidFill>
            <a:prstDash val="solid"/>
          </a:ln>
        </p:spPr>
      </p:sp>
      <p:pic>
        <p:nvPicPr>
          <p:cNvPr id="6" name="Image 0" descr="preencoded.png">    </p:cNvPr>
          <p:cNvPicPr>
            <a:picLocks noChangeAspect="1"/>
          </p:cNvPicPr>
          <p:nvPr/>
        </p:nvPicPr>
        <p:blipFill>
          <a:blip r:embed="rId1"/>
          <a:stretch>
            <a:fillRect/>
          </a:stretch>
        </p:blipFill>
        <p:spPr>
          <a:xfrm>
            <a:off x="765810" y="1588770"/>
            <a:ext cx="251460" cy="251460"/>
          </a:xfrm>
          <a:prstGeom prst="rect">
            <a:avLst/>
          </a:prstGeom>
        </p:spPr>
      </p:pic>
      <p:sp>
        <p:nvSpPr>
          <p:cNvPr id="7" name="Text 4"/>
          <p:cNvSpPr txBox="1"/>
          <p:nvPr/>
        </p:nvSpPr>
        <p:spPr>
          <a:xfrm>
            <a:off x="1261872" y="1444752"/>
            <a:ext cx="1645920" cy="548640"/>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K1 · Knowledge base dua lapis</a:t>
            </a:r>
            <a:endParaRPr lang="en-US" sz="1350" dirty="0"/>
          </a:p>
        </p:txBody>
      </p:sp>
      <p:sp>
        <p:nvSpPr>
          <p:cNvPr id="8" name="Text 5"/>
          <p:cNvSpPr txBox="1"/>
          <p:nvPr/>
        </p:nvSpPr>
        <p:spPr>
          <a:xfrm>
            <a:off x="640080" y="2103120"/>
            <a:ext cx="2194560" cy="228600"/>
          </a:xfrm>
          <a:prstGeom prst="rect">
            <a:avLst/>
          </a:prstGeom>
          <a:noFill/>
          <a:ln/>
        </p:spPr>
        <p:txBody>
          <a:bodyPr wrap="square" lIns="0" tIns="0" rIns="0" bIns="0" rtlCol="0" anchor="t"/>
          <a:lstStyle/>
          <a:p>
            <a:pPr indent="0" marL="0">
              <a:buNone/>
            </a:pPr>
            <a:r>
              <a:rPr lang="en-US" sz="950" b="1" spc="150" kern="0" dirty="0">
                <a:solidFill>
                  <a:srgbClr val="1D6A6B"/>
                </a:solidFill>
                <a:latin typeface="Calibri" pitchFamily="34" charset="0"/>
                <a:ea typeface="Calibri" pitchFamily="34" charset="-122"/>
                <a:cs typeface="Calibri" pitchFamily="34" charset="-120"/>
              </a:rPr>
              <a:t>FONDASI (DIADOPSI)</a:t>
            </a:r>
            <a:endParaRPr lang="en-US" sz="950" dirty="0"/>
          </a:p>
        </p:txBody>
      </p:sp>
      <p:sp>
        <p:nvSpPr>
          <p:cNvPr id="9" name="Text 6"/>
          <p:cNvSpPr txBox="1"/>
          <p:nvPr/>
        </p:nvSpPr>
        <p:spPr>
          <a:xfrm>
            <a:off x="640080" y="242316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B2B"/>
                </a:solidFill>
                <a:latin typeface="Calibri" pitchFamily="34" charset="0"/>
                <a:ea typeface="Calibri" pitchFamily="34" charset="-122"/>
                <a:cs typeface="Calibri" pitchFamily="34" charset="-120"/>
              </a:rPr>
              <a:t>Lapisan regulasi + kebijakan perusahaan</a:t>
            </a:r>
            <a:endParaRPr lang="en-US" sz="1200" dirty="0"/>
          </a:p>
          <a:p>
            <a:pPr marL="342900" indent="-342900">
              <a:spcAft>
                <a:spcPts val="600"/>
              </a:spcAft>
              <a:buSzPct val="100000"/>
              <a:buChar char="•"/>
            </a:pPr>
            <a:r>
              <a:rPr lang="en-US" sz="1200" dirty="0">
                <a:solidFill>
                  <a:srgbClr val="1E2B2B"/>
                </a:solidFill>
                <a:latin typeface="Calibri" pitchFamily="34" charset="0"/>
                <a:ea typeface="Calibri" pitchFamily="34" charset="-122"/>
                <a:cs typeface="Calibri" pitchFamily="34" charset="-120"/>
              </a:rPr>
              <a:t>Mesin tidak berubah</a:t>
            </a:r>
            <a:endParaRPr lang="en-US" sz="1200" dirty="0"/>
          </a:p>
          <a:p>
            <a:pPr marL="342900" indent="-342900">
              <a:spcAft>
                <a:spcPts val="600"/>
              </a:spcAft>
              <a:buSzPct val="100000"/>
              <a:buChar char="•"/>
            </a:pPr>
            <a:r>
              <a:rPr lang="en-US" sz="1200" dirty="0">
                <a:solidFill>
                  <a:srgbClr val="1E2B2B"/>
                </a:solidFill>
                <a:latin typeface="Calibri" pitchFamily="34" charset="0"/>
                <a:ea typeface="Calibri" pitchFamily="34" charset="-122"/>
                <a:cs typeface="Calibri" pitchFamily="34" charset="-120"/>
              </a:rPr>
              <a:t>Rincian aturan &amp; pasal</a:t>
            </a:r>
            <a:endParaRPr lang="en-US" sz="1200" dirty="0"/>
          </a:p>
        </p:txBody>
      </p:sp>
      <p:sp>
        <p:nvSpPr>
          <p:cNvPr id="10" name="Shape 7"/>
          <p:cNvSpPr/>
          <p:nvPr/>
        </p:nvSpPr>
        <p:spPr>
          <a:xfrm>
            <a:off x="3291840" y="1280160"/>
            <a:ext cx="2560320" cy="3337560"/>
          </a:xfrm>
          <a:prstGeom prst="roundRect">
            <a:avLst>
              <a:gd name="adj" fmla="val 2857"/>
            </a:avLst>
          </a:prstGeom>
          <a:solidFill>
            <a:srgbClr val="0F3D3E"/>
          </a:solidFill>
          <a:ln w="12700">
            <a:solidFill>
              <a:srgbClr val="0F3D3E"/>
            </a:solidFill>
            <a:prstDash val="solid"/>
          </a:ln>
        </p:spPr>
      </p:sp>
      <p:sp>
        <p:nvSpPr>
          <p:cNvPr id="11" name="Shape 8"/>
          <p:cNvSpPr/>
          <p:nvPr/>
        </p:nvSpPr>
        <p:spPr>
          <a:xfrm>
            <a:off x="3474720" y="1463040"/>
            <a:ext cx="502920" cy="502920"/>
          </a:xfrm>
          <a:prstGeom prst="ellipse">
            <a:avLst/>
          </a:prstGeom>
          <a:solidFill>
            <a:srgbClr val="E8A33D"/>
          </a:solidFill>
          <a:ln w="12700">
            <a:solidFill>
              <a:srgbClr val="E8A33D"/>
            </a:solidFill>
            <a:prstDash val="solid"/>
          </a:ln>
        </p:spPr>
      </p:sp>
      <p:pic>
        <p:nvPicPr>
          <p:cNvPr id="12" name="Image 1" descr="preencoded.png">    </p:cNvPr>
          <p:cNvPicPr>
            <a:picLocks noChangeAspect="1"/>
          </p:cNvPicPr>
          <p:nvPr/>
        </p:nvPicPr>
        <p:blipFill>
          <a:blip r:embed="rId2"/>
          <a:stretch>
            <a:fillRect/>
          </a:stretch>
        </p:blipFill>
        <p:spPr>
          <a:xfrm>
            <a:off x="3600450" y="1588770"/>
            <a:ext cx="251460" cy="251460"/>
          </a:xfrm>
          <a:prstGeom prst="rect">
            <a:avLst/>
          </a:prstGeom>
        </p:spPr>
      </p:pic>
      <p:sp>
        <p:nvSpPr>
          <p:cNvPr id="13" name="Text 9"/>
          <p:cNvSpPr txBox="1"/>
          <p:nvPr/>
        </p:nvSpPr>
        <p:spPr>
          <a:xfrm>
            <a:off x="4096512" y="1444752"/>
            <a:ext cx="164592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K2 · Komponen melingkar</a:t>
            </a:r>
            <a:endParaRPr lang="en-US" sz="1350" dirty="0"/>
          </a:p>
        </p:txBody>
      </p:sp>
      <p:sp>
        <p:nvSpPr>
          <p:cNvPr id="14" name="Text 10"/>
          <p:cNvSpPr txBox="1"/>
          <p:nvPr/>
        </p:nvSpPr>
        <p:spPr>
          <a:xfrm>
            <a:off x="3474720" y="2103120"/>
            <a:ext cx="2194560" cy="228600"/>
          </a:xfrm>
          <a:prstGeom prst="rect">
            <a:avLst/>
          </a:prstGeom>
          <a:noFill/>
          <a:ln/>
        </p:spPr>
        <p:txBody>
          <a:bodyPr wrap="square" lIns="0" tIns="0" rIns="0" bIns="0" rtlCol="0" anchor="t"/>
          <a:lstStyle/>
          <a:p>
            <a:pPr indent="0" marL="0">
              <a:buNone/>
            </a:pPr>
            <a:r>
              <a:rPr lang="en-US" sz="950" b="1" spc="150" kern="0" dirty="0">
                <a:solidFill>
                  <a:srgbClr val="E8A33D"/>
                </a:solidFill>
                <a:latin typeface="Calibri" pitchFamily="34" charset="0"/>
                <a:ea typeface="Calibri" pitchFamily="34" charset="-122"/>
                <a:cs typeface="Calibri" pitchFamily="34" charset="-120"/>
              </a:rPr>
              <a:t>INTI NOVELTY</a:t>
            </a:r>
            <a:endParaRPr lang="en-US" sz="950" dirty="0"/>
          </a:p>
        </p:txBody>
      </p:sp>
      <p:sp>
        <p:nvSpPr>
          <p:cNvPr id="15" name="Text 11"/>
          <p:cNvSpPr txBox="1"/>
          <p:nvPr/>
        </p:nvSpPr>
        <p:spPr>
          <a:xfrm>
            <a:off x="3474720" y="242316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Gross-up gaji, THR, bonus, natura sebagai titik tetap</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Karakterisasi solusi tunggal/ganda di bawah TER</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Aturan penyelesaian konsisten</a:t>
            </a:r>
            <a:endParaRPr lang="en-US" sz="1200" dirty="0"/>
          </a:p>
        </p:txBody>
      </p:sp>
      <p:sp>
        <p:nvSpPr>
          <p:cNvPr id="16" name="Shape 12"/>
          <p:cNvSpPr/>
          <p:nvPr/>
        </p:nvSpPr>
        <p:spPr>
          <a:xfrm>
            <a:off x="6126480" y="1280160"/>
            <a:ext cx="2560320" cy="3337560"/>
          </a:xfrm>
          <a:prstGeom prst="roundRect">
            <a:avLst>
              <a:gd name="adj" fmla="val 2857"/>
            </a:avLst>
          </a:prstGeom>
          <a:solidFill>
            <a:srgbClr val="EAF3F0"/>
          </a:solidFill>
          <a:ln w="12700">
            <a:solidFill>
              <a:srgbClr val="EAF3F0"/>
            </a:solidFill>
            <a:prstDash val="solid"/>
          </a:ln>
        </p:spPr>
      </p:sp>
      <p:sp>
        <p:nvSpPr>
          <p:cNvPr id="17" name="Shape 13"/>
          <p:cNvSpPr/>
          <p:nvPr/>
        </p:nvSpPr>
        <p:spPr>
          <a:xfrm>
            <a:off x="6309360" y="1463040"/>
            <a:ext cx="502920" cy="502920"/>
          </a:xfrm>
          <a:prstGeom prst="ellipse">
            <a:avLst/>
          </a:prstGeom>
          <a:solidFill>
            <a:srgbClr val="0F3D3E"/>
          </a:solidFill>
          <a:ln w="12700">
            <a:solidFill>
              <a:srgbClr val="0F3D3E"/>
            </a:solidFill>
            <a:prstDash val="solid"/>
          </a:ln>
        </p:spPr>
      </p:sp>
      <p:pic>
        <p:nvPicPr>
          <p:cNvPr id="18" name="Image 2" descr="preencoded.png">    </p:cNvPr>
          <p:cNvPicPr>
            <a:picLocks noChangeAspect="1"/>
          </p:cNvPicPr>
          <p:nvPr/>
        </p:nvPicPr>
        <p:blipFill>
          <a:blip r:embed="rId3"/>
          <a:stretch>
            <a:fillRect/>
          </a:stretch>
        </p:blipFill>
        <p:spPr>
          <a:xfrm>
            <a:off x="6435090" y="1588770"/>
            <a:ext cx="251460" cy="251460"/>
          </a:xfrm>
          <a:prstGeom prst="rect">
            <a:avLst/>
          </a:prstGeom>
        </p:spPr>
      </p:pic>
      <p:sp>
        <p:nvSpPr>
          <p:cNvPr id="19" name="Text 14"/>
          <p:cNvSpPr txBox="1"/>
          <p:nvPr/>
        </p:nvSpPr>
        <p:spPr>
          <a:xfrm>
            <a:off x="6931152" y="1444752"/>
            <a:ext cx="1645920" cy="548640"/>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K3 · Bukti empiris</a:t>
            </a:r>
            <a:endParaRPr lang="en-US" sz="1350" dirty="0"/>
          </a:p>
        </p:txBody>
      </p:sp>
      <p:sp>
        <p:nvSpPr>
          <p:cNvPr id="20" name="Text 15"/>
          <p:cNvSpPr txBox="1"/>
          <p:nvPr/>
        </p:nvSpPr>
        <p:spPr>
          <a:xfrm>
            <a:off x="6309360" y="2103120"/>
            <a:ext cx="2194560" cy="228600"/>
          </a:xfrm>
          <a:prstGeom prst="rect">
            <a:avLst/>
          </a:prstGeom>
          <a:noFill/>
          <a:ln/>
        </p:spPr>
        <p:txBody>
          <a:bodyPr wrap="square" lIns="0" tIns="0" rIns="0" bIns="0" rtlCol="0" anchor="t"/>
          <a:lstStyle/>
          <a:p>
            <a:pPr indent="0" marL="0">
              <a:buNone/>
            </a:pPr>
            <a:r>
              <a:rPr lang="en-US" sz="950" b="1" spc="150" kern="0" dirty="0">
                <a:solidFill>
                  <a:srgbClr val="1D6A6B"/>
                </a:solidFill>
                <a:latin typeface="Calibri" pitchFamily="34" charset="0"/>
                <a:ea typeface="Calibri" pitchFamily="34" charset="-122"/>
                <a:cs typeface="Calibri" pitchFamily="34" charset="-120"/>
              </a:rPr>
              <a:t>NOVELTY PENDUKUNG</a:t>
            </a:r>
            <a:endParaRPr lang="en-US" sz="950" dirty="0"/>
          </a:p>
        </p:txBody>
      </p:sp>
      <p:sp>
        <p:nvSpPr>
          <p:cNvPr id="21" name="Text 16"/>
          <p:cNvSpPr txBox="1"/>
          <p:nvPr/>
        </p:nvSpPr>
        <p:spPr>
          <a:xfrm>
            <a:off x="6309360" y="242316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B2B"/>
                </a:solidFill>
                <a:latin typeface="Calibri" pitchFamily="34" charset="0"/>
                <a:ea typeface="Calibri" pitchFamily="34" charset="-122"/>
                <a:cs typeface="Calibri" pitchFamily="34" charset="-120"/>
              </a:rPr>
              <a:t>Kesesuaian aplikasi PPh 21 yang beredar</a:t>
            </a:r>
            <a:endParaRPr lang="en-US" sz="1200" dirty="0"/>
          </a:p>
          <a:p>
            <a:pPr marL="342900" indent="-342900">
              <a:spcAft>
                <a:spcPts val="600"/>
              </a:spcAft>
              <a:buSzPct val="100000"/>
              <a:buChar char="•"/>
            </a:pPr>
            <a:r>
              <a:rPr lang="en-US" sz="1200" dirty="0">
                <a:solidFill>
                  <a:srgbClr val="1E2B2B"/>
                </a:solidFill>
                <a:latin typeface="Calibri" pitchFamily="34" charset="0"/>
                <a:ea typeface="Calibri" pitchFamily="34" charset="-122"/>
                <a:cs typeface="Calibri" pitchFamily="34" charset="-120"/>
              </a:rPr>
              <a:t>Biaya pemeliharaan saat TER berlaku</a:t>
            </a:r>
            <a:endParaRPr lang="en-US" sz="1200" dirty="0"/>
          </a:p>
          <a:p>
            <a:pPr marL="342900" indent="-342900">
              <a:spcAft>
                <a:spcPts val="600"/>
              </a:spcAft>
              <a:buSzPct val="100000"/>
              <a:buChar char="•"/>
            </a:pPr>
            <a:r>
              <a:rPr lang="en-US" sz="1200" dirty="0">
                <a:solidFill>
                  <a:srgbClr val="1E2B2B"/>
                </a:solidFill>
                <a:latin typeface="Calibri" pitchFamily="34" charset="0"/>
                <a:ea typeface="Calibri" pitchFamily="34" charset="-122"/>
                <a:cs typeface="Calibri" pitchFamily="34" charset="-120"/>
              </a:rPr>
              <a:t>Ekspresivitas 10–20 kebijakan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05 · RUMUSAN MASALAH</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Empat Pertanyaan Penelitian</a:t>
            </a:r>
            <a:endParaRPr lang="en-US" sz="2800" dirty="0"/>
          </a:p>
        </p:txBody>
      </p:sp>
      <p:sp>
        <p:nvSpPr>
          <p:cNvPr id="4" name="Shape 2"/>
          <p:cNvSpPr/>
          <p:nvPr/>
        </p:nvSpPr>
        <p:spPr>
          <a:xfrm>
            <a:off x="457200" y="1325880"/>
            <a:ext cx="4023360" cy="1417320"/>
          </a:xfrm>
          <a:prstGeom prst="roundRect">
            <a:avLst>
              <a:gd name="adj" fmla="val 5161"/>
            </a:avLst>
          </a:prstGeom>
          <a:solidFill>
            <a:srgbClr val="EAF3F0"/>
          </a:solidFill>
          <a:ln w="12700">
            <a:solidFill>
              <a:srgbClr val="EAF3F0"/>
            </a:solidFill>
            <a:prstDash val="solid"/>
          </a:ln>
        </p:spPr>
      </p:sp>
      <p:sp>
        <p:nvSpPr>
          <p:cNvPr id="5" name="Shape 3"/>
          <p:cNvSpPr/>
          <p:nvPr/>
        </p:nvSpPr>
        <p:spPr>
          <a:xfrm>
            <a:off x="640080" y="1709928"/>
            <a:ext cx="640080" cy="640080"/>
          </a:xfrm>
          <a:prstGeom prst="ellipse">
            <a:avLst/>
          </a:prstGeom>
          <a:solidFill>
            <a:srgbClr val="0F3D3E"/>
          </a:solidFill>
          <a:ln w="12700">
            <a:solidFill>
              <a:srgbClr val="0F3D3E"/>
            </a:solidFill>
            <a:prstDash val="solid"/>
          </a:ln>
        </p:spPr>
      </p:sp>
      <p:sp>
        <p:nvSpPr>
          <p:cNvPr id="6" name="Text 4"/>
          <p:cNvSpPr txBox="1"/>
          <p:nvPr/>
        </p:nvSpPr>
        <p:spPr>
          <a:xfrm>
            <a:off x="640080" y="1709928"/>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RQ1</a:t>
            </a:r>
            <a:endParaRPr lang="en-US" sz="1300" dirty="0"/>
          </a:p>
        </p:txBody>
      </p:sp>
      <p:sp>
        <p:nvSpPr>
          <p:cNvPr id="7" name="Text 5"/>
          <p:cNvSpPr txBox="1"/>
          <p:nvPr/>
        </p:nvSpPr>
        <p:spPr>
          <a:xfrm>
            <a:off x="1463040" y="1417320"/>
            <a:ext cx="2880360" cy="1234440"/>
          </a:xfrm>
          <a:prstGeom prst="rect">
            <a:avLst/>
          </a:prstGeom>
          <a:noFill/>
          <a:ln/>
        </p:spPr>
        <p:txBody>
          <a:bodyPr wrap="square" lIns="0" tIns="0" rIns="0" bIns="0" rtlCol="0" anchor="ctr"/>
          <a:lstStyle/>
          <a:p>
            <a:pPr indent="0" marL="0">
              <a:buNone/>
            </a:pPr>
            <a:r>
              <a:rPr lang="en-US" sz="1300" dirty="0">
                <a:solidFill>
                  <a:srgbClr val="1E2B2B"/>
                </a:solidFill>
                <a:latin typeface="Calibri" pitchFamily="34" charset="0"/>
                <a:ea typeface="Calibri" pitchFamily="34" charset="-122"/>
                <a:cs typeface="Calibri" pitchFamily="34" charset="-120"/>
              </a:rPr>
              <a:t>Bagaimana merepresentasikan aturan PPh 21 dan kebijakan perusahaan sebagai dua lapisan knowledge base tanpa perubahan kode?</a:t>
            </a:r>
            <a:endParaRPr lang="en-US" sz="1300" dirty="0"/>
          </a:p>
        </p:txBody>
      </p:sp>
      <p:sp>
        <p:nvSpPr>
          <p:cNvPr id="8" name="Shape 6"/>
          <p:cNvSpPr/>
          <p:nvPr/>
        </p:nvSpPr>
        <p:spPr>
          <a:xfrm>
            <a:off x="4663440" y="1325880"/>
            <a:ext cx="4023360" cy="1417320"/>
          </a:xfrm>
          <a:prstGeom prst="roundRect">
            <a:avLst>
              <a:gd name="adj" fmla="val 5161"/>
            </a:avLst>
          </a:prstGeom>
          <a:solidFill>
            <a:srgbClr val="EAF3F0"/>
          </a:solidFill>
          <a:ln w="12700">
            <a:solidFill>
              <a:srgbClr val="EAF3F0"/>
            </a:solidFill>
            <a:prstDash val="solid"/>
          </a:ln>
        </p:spPr>
      </p:sp>
      <p:sp>
        <p:nvSpPr>
          <p:cNvPr id="9" name="Shape 7"/>
          <p:cNvSpPr/>
          <p:nvPr/>
        </p:nvSpPr>
        <p:spPr>
          <a:xfrm>
            <a:off x="4846320" y="1709928"/>
            <a:ext cx="640080" cy="640080"/>
          </a:xfrm>
          <a:prstGeom prst="ellipse">
            <a:avLst/>
          </a:prstGeom>
          <a:solidFill>
            <a:srgbClr val="E8A33D"/>
          </a:solidFill>
          <a:ln w="12700">
            <a:solidFill>
              <a:srgbClr val="E8A33D"/>
            </a:solidFill>
            <a:prstDash val="solid"/>
          </a:ln>
        </p:spPr>
      </p:sp>
      <p:sp>
        <p:nvSpPr>
          <p:cNvPr id="10" name="Text 8"/>
          <p:cNvSpPr txBox="1"/>
          <p:nvPr/>
        </p:nvSpPr>
        <p:spPr>
          <a:xfrm>
            <a:off x="4846320" y="1709928"/>
            <a:ext cx="640080" cy="64008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RQ2</a:t>
            </a:r>
            <a:endParaRPr lang="en-US" sz="1300" dirty="0"/>
          </a:p>
        </p:txBody>
      </p:sp>
      <p:sp>
        <p:nvSpPr>
          <p:cNvPr id="11" name="Text 9"/>
          <p:cNvSpPr txBox="1"/>
          <p:nvPr/>
        </p:nvSpPr>
        <p:spPr>
          <a:xfrm>
            <a:off x="5669280" y="1417320"/>
            <a:ext cx="2880360" cy="1234440"/>
          </a:xfrm>
          <a:prstGeom prst="rect">
            <a:avLst/>
          </a:prstGeom>
          <a:noFill/>
          <a:ln/>
        </p:spPr>
        <p:txBody>
          <a:bodyPr wrap="square" lIns="0" tIns="0" rIns="0" bIns="0" rtlCol="0" anchor="ctr"/>
          <a:lstStyle/>
          <a:p>
            <a:pPr indent="0" marL="0">
              <a:buNone/>
            </a:pPr>
            <a:r>
              <a:rPr lang="en-US" sz="1300" dirty="0">
                <a:solidFill>
                  <a:srgbClr val="1E2B2B"/>
                </a:solidFill>
                <a:latin typeface="Calibri" pitchFamily="34" charset="0"/>
                <a:ea typeface="Calibri" pitchFamily="34" charset="-122"/>
                <a:cs typeface="Calibri" pitchFamily="34" charset="-120"/>
              </a:rPr>
              <a:t>Bagaimana merepresentasikan komponen melingkar secara deklaratif, dan kapan solusinya tunggal atau ganda di bawah TER?</a:t>
            </a:r>
            <a:endParaRPr lang="en-US" sz="1300" dirty="0"/>
          </a:p>
        </p:txBody>
      </p:sp>
      <p:sp>
        <p:nvSpPr>
          <p:cNvPr id="12" name="Shape 10"/>
          <p:cNvSpPr/>
          <p:nvPr/>
        </p:nvSpPr>
        <p:spPr>
          <a:xfrm>
            <a:off x="457200" y="2971800"/>
            <a:ext cx="4023360" cy="1417320"/>
          </a:xfrm>
          <a:prstGeom prst="roundRect">
            <a:avLst>
              <a:gd name="adj" fmla="val 5161"/>
            </a:avLst>
          </a:prstGeom>
          <a:solidFill>
            <a:srgbClr val="EAF3F0"/>
          </a:solidFill>
          <a:ln w="12700">
            <a:solidFill>
              <a:srgbClr val="EAF3F0"/>
            </a:solidFill>
            <a:prstDash val="solid"/>
          </a:ln>
        </p:spPr>
      </p:sp>
      <p:sp>
        <p:nvSpPr>
          <p:cNvPr id="13" name="Shape 11"/>
          <p:cNvSpPr/>
          <p:nvPr/>
        </p:nvSpPr>
        <p:spPr>
          <a:xfrm>
            <a:off x="640080" y="3355848"/>
            <a:ext cx="640080" cy="640080"/>
          </a:xfrm>
          <a:prstGeom prst="ellipse">
            <a:avLst/>
          </a:prstGeom>
          <a:solidFill>
            <a:srgbClr val="0F3D3E"/>
          </a:solidFill>
          <a:ln w="12700">
            <a:solidFill>
              <a:srgbClr val="0F3D3E"/>
            </a:solidFill>
            <a:prstDash val="solid"/>
          </a:ln>
        </p:spPr>
      </p:sp>
      <p:sp>
        <p:nvSpPr>
          <p:cNvPr id="14" name="Text 12"/>
          <p:cNvSpPr txBox="1"/>
          <p:nvPr/>
        </p:nvSpPr>
        <p:spPr>
          <a:xfrm>
            <a:off x="640080" y="3355848"/>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RQ3</a:t>
            </a:r>
            <a:endParaRPr lang="en-US" sz="1300" dirty="0"/>
          </a:p>
        </p:txBody>
      </p:sp>
      <p:sp>
        <p:nvSpPr>
          <p:cNvPr id="15" name="Text 13"/>
          <p:cNvSpPr txBox="1"/>
          <p:nvPr/>
        </p:nvSpPr>
        <p:spPr>
          <a:xfrm>
            <a:off x="1463040" y="3063240"/>
            <a:ext cx="2880360" cy="1234440"/>
          </a:xfrm>
          <a:prstGeom prst="rect">
            <a:avLst/>
          </a:prstGeom>
          <a:noFill/>
          <a:ln/>
        </p:spPr>
        <p:txBody>
          <a:bodyPr wrap="square" lIns="0" tIns="0" rIns="0" bIns="0" rtlCol="0" anchor="ctr"/>
          <a:lstStyle/>
          <a:p>
            <a:pPr indent="0" marL="0">
              <a:buNone/>
            </a:pPr>
            <a:r>
              <a:rPr lang="en-US" sz="1300" dirty="0">
                <a:solidFill>
                  <a:srgbClr val="1E2B2B"/>
                </a:solidFill>
                <a:latin typeface="Calibri" pitchFamily="34" charset="0"/>
                <a:ea typeface="Calibri" pitchFamily="34" charset="-122"/>
                <a:cs typeface="Calibri" pitchFamily="34" charset="-120"/>
              </a:rPr>
              <a:t>Seberapa konsisten aplikasi PPh 21 yang beredar dibanding knowledge base yang tervalidasi?</a:t>
            </a:r>
            <a:endParaRPr lang="en-US" sz="1300" dirty="0"/>
          </a:p>
        </p:txBody>
      </p:sp>
      <p:sp>
        <p:nvSpPr>
          <p:cNvPr id="16" name="Shape 14"/>
          <p:cNvSpPr/>
          <p:nvPr/>
        </p:nvSpPr>
        <p:spPr>
          <a:xfrm>
            <a:off x="4663440" y="2971800"/>
            <a:ext cx="4023360" cy="1417320"/>
          </a:xfrm>
          <a:prstGeom prst="roundRect">
            <a:avLst>
              <a:gd name="adj" fmla="val 5161"/>
            </a:avLst>
          </a:prstGeom>
          <a:solidFill>
            <a:srgbClr val="EAF3F0"/>
          </a:solidFill>
          <a:ln w="12700">
            <a:solidFill>
              <a:srgbClr val="EAF3F0"/>
            </a:solidFill>
            <a:prstDash val="solid"/>
          </a:ln>
        </p:spPr>
      </p:sp>
      <p:sp>
        <p:nvSpPr>
          <p:cNvPr id="17" name="Shape 15"/>
          <p:cNvSpPr/>
          <p:nvPr/>
        </p:nvSpPr>
        <p:spPr>
          <a:xfrm>
            <a:off x="4846320" y="3355848"/>
            <a:ext cx="640080" cy="640080"/>
          </a:xfrm>
          <a:prstGeom prst="ellipse">
            <a:avLst/>
          </a:prstGeom>
          <a:solidFill>
            <a:srgbClr val="0F3D3E"/>
          </a:solidFill>
          <a:ln w="12700">
            <a:solidFill>
              <a:srgbClr val="0F3D3E"/>
            </a:solidFill>
            <a:prstDash val="solid"/>
          </a:ln>
        </p:spPr>
      </p:sp>
      <p:sp>
        <p:nvSpPr>
          <p:cNvPr id="18" name="Text 16"/>
          <p:cNvSpPr txBox="1"/>
          <p:nvPr/>
        </p:nvSpPr>
        <p:spPr>
          <a:xfrm>
            <a:off x="4846320" y="3355848"/>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RQ4</a:t>
            </a:r>
            <a:endParaRPr lang="en-US" sz="1300" dirty="0"/>
          </a:p>
        </p:txBody>
      </p:sp>
      <p:sp>
        <p:nvSpPr>
          <p:cNvPr id="19" name="Text 17"/>
          <p:cNvSpPr txBox="1"/>
          <p:nvPr/>
        </p:nvSpPr>
        <p:spPr>
          <a:xfrm>
            <a:off x="5669280" y="3063240"/>
            <a:ext cx="2880360" cy="1234440"/>
          </a:xfrm>
          <a:prstGeom prst="rect">
            <a:avLst/>
          </a:prstGeom>
          <a:noFill/>
          <a:ln/>
        </p:spPr>
        <p:txBody>
          <a:bodyPr wrap="square" lIns="0" tIns="0" rIns="0" bIns="0" rtlCol="0" anchor="ctr"/>
          <a:lstStyle/>
          <a:p>
            <a:pPr indent="0" marL="0">
              <a:buNone/>
            </a:pPr>
            <a:r>
              <a:rPr lang="en-US" sz="1300" dirty="0">
                <a:solidFill>
                  <a:srgbClr val="1E2B2B"/>
                </a:solidFill>
                <a:latin typeface="Calibri" pitchFamily="34" charset="0"/>
                <a:ea typeface="Calibri" pitchFamily="34" charset="-122"/>
                <a:cs typeface="Calibri" pitchFamily="34" charset="-120"/>
              </a:rPr>
              <a:t>Seberapa besar pengurangan biaya pemeliharaan dan peningkatan ekspresivitas yang diberikan knowledge base?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05 · TUJUAN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Tujuan Penelitian</a:t>
            </a:r>
            <a:endParaRPr lang="en-US" sz="2800" dirty="0"/>
          </a:p>
        </p:txBody>
      </p:sp>
      <p:sp>
        <p:nvSpPr>
          <p:cNvPr id="4" name="Shape 2"/>
          <p:cNvSpPr/>
          <p:nvPr/>
        </p:nvSpPr>
        <p:spPr>
          <a:xfrm>
            <a:off x="457200" y="1325880"/>
            <a:ext cx="2624328" cy="1463040"/>
          </a:xfrm>
          <a:prstGeom prst="roundRect">
            <a:avLst>
              <a:gd name="adj" fmla="val 5000"/>
            </a:avLst>
          </a:prstGeom>
          <a:solidFill>
            <a:srgbClr val="EAF3F0"/>
          </a:solidFill>
          <a:ln w="12700">
            <a:solidFill>
              <a:srgbClr val="EAF3F0"/>
            </a:solidFill>
            <a:prstDash val="solid"/>
          </a:ln>
        </p:spPr>
      </p:sp>
      <p:sp>
        <p:nvSpPr>
          <p:cNvPr id="5" name="Shape 3"/>
          <p:cNvSpPr/>
          <p:nvPr/>
        </p:nvSpPr>
        <p:spPr>
          <a:xfrm>
            <a:off x="640080" y="1508760"/>
            <a:ext cx="502920" cy="502920"/>
          </a:xfrm>
          <a:prstGeom prst="ellipse">
            <a:avLst/>
          </a:prstGeom>
          <a:solidFill>
            <a:srgbClr val="0F3D3E"/>
          </a:solidFill>
          <a:ln w="12700">
            <a:solidFill>
              <a:srgbClr val="0F3D3E"/>
            </a:solidFill>
            <a:prstDash val="solid"/>
          </a:ln>
        </p:spPr>
      </p:sp>
      <p:pic>
        <p:nvPicPr>
          <p:cNvPr id="6" name="Image 0" descr="preencoded.png">    </p:cNvPr>
          <p:cNvPicPr>
            <a:picLocks noChangeAspect="1"/>
          </p:cNvPicPr>
          <p:nvPr/>
        </p:nvPicPr>
        <p:blipFill>
          <a:blip r:embed="rId1"/>
          <a:stretch>
            <a:fillRect/>
          </a:stretch>
        </p:blipFill>
        <p:spPr>
          <a:xfrm>
            <a:off x="765810" y="1634490"/>
            <a:ext cx="251460" cy="251460"/>
          </a:xfrm>
          <a:prstGeom prst="rect">
            <a:avLst/>
          </a:prstGeom>
        </p:spPr>
      </p:pic>
      <p:sp>
        <p:nvSpPr>
          <p:cNvPr id="7" name="Text 4"/>
          <p:cNvSpPr txBox="1"/>
          <p:nvPr/>
        </p:nvSpPr>
        <p:spPr>
          <a:xfrm>
            <a:off x="1261872" y="1508760"/>
            <a:ext cx="1737360" cy="502920"/>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Knowledge base dua lapis</a:t>
            </a:r>
            <a:endParaRPr lang="en-US" sz="1350" dirty="0"/>
          </a:p>
        </p:txBody>
      </p:sp>
      <p:sp>
        <p:nvSpPr>
          <p:cNvPr id="8" name="Text 5"/>
          <p:cNvSpPr txBox="1"/>
          <p:nvPr/>
        </p:nvSpPr>
        <p:spPr>
          <a:xfrm>
            <a:off x="640080" y="2130552"/>
            <a:ext cx="2286000" cy="594360"/>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Beserta mesin yang tidak perlu diubah</a:t>
            </a:r>
            <a:endParaRPr lang="en-US" sz="1150" dirty="0"/>
          </a:p>
        </p:txBody>
      </p:sp>
      <p:sp>
        <p:nvSpPr>
          <p:cNvPr id="9" name="Shape 6"/>
          <p:cNvSpPr/>
          <p:nvPr/>
        </p:nvSpPr>
        <p:spPr>
          <a:xfrm>
            <a:off x="3264408" y="1325880"/>
            <a:ext cx="2624328" cy="1463040"/>
          </a:xfrm>
          <a:prstGeom prst="roundRect">
            <a:avLst>
              <a:gd name="adj" fmla="val 5000"/>
            </a:avLst>
          </a:prstGeom>
          <a:solidFill>
            <a:srgbClr val="EAF3F0"/>
          </a:solidFill>
          <a:ln w="12700">
            <a:solidFill>
              <a:srgbClr val="EAF3F0"/>
            </a:solidFill>
            <a:prstDash val="solid"/>
          </a:ln>
        </p:spPr>
      </p:sp>
      <p:sp>
        <p:nvSpPr>
          <p:cNvPr id="10" name="Shape 7"/>
          <p:cNvSpPr/>
          <p:nvPr/>
        </p:nvSpPr>
        <p:spPr>
          <a:xfrm>
            <a:off x="3447288" y="1508760"/>
            <a:ext cx="502920" cy="502920"/>
          </a:xfrm>
          <a:prstGeom prst="ellipse">
            <a:avLst/>
          </a:prstGeom>
          <a:solidFill>
            <a:srgbClr val="E8A33D"/>
          </a:solidFill>
          <a:ln w="12700">
            <a:solidFill>
              <a:srgbClr val="E8A33D"/>
            </a:solidFill>
            <a:prstDash val="solid"/>
          </a:ln>
        </p:spPr>
      </p:sp>
      <p:pic>
        <p:nvPicPr>
          <p:cNvPr id="11" name="Image 1" descr="preencoded.png">    </p:cNvPr>
          <p:cNvPicPr>
            <a:picLocks noChangeAspect="1"/>
          </p:cNvPicPr>
          <p:nvPr/>
        </p:nvPicPr>
        <p:blipFill>
          <a:blip r:embed="rId2"/>
          <a:stretch>
            <a:fillRect/>
          </a:stretch>
        </p:blipFill>
        <p:spPr>
          <a:xfrm>
            <a:off x="3573018" y="1634490"/>
            <a:ext cx="251460" cy="251460"/>
          </a:xfrm>
          <a:prstGeom prst="rect">
            <a:avLst/>
          </a:prstGeom>
        </p:spPr>
      </p:pic>
      <p:sp>
        <p:nvSpPr>
          <p:cNvPr id="12" name="Text 8"/>
          <p:cNvSpPr txBox="1"/>
          <p:nvPr/>
        </p:nvSpPr>
        <p:spPr>
          <a:xfrm>
            <a:off x="4069080" y="1508760"/>
            <a:ext cx="1737360" cy="502920"/>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Karakterisasi gross-up</a:t>
            </a:r>
            <a:endParaRPr lang="en-US" sz="1350" dirty="0"/>
          </a:p>
        </p:txBody>
      </p:sp>
      <p:sp>
        <p:nvSpPr>
          <p:cNvPr id="13" name="Text 9"/>
          <p:cNvSpPr txBox="1"/>
          <p:nvPr/>
        </p:nvSpPr>
        <p:spPr>
          <a:xfrm>
            <a:off x="3447288" y="2130552"/>
            <a:ext cx="2286000" cy="594360"/>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Solusi tunggal/ganda per kategori dan lapisan TER</a:t>
            </a:r>
            <a:endParaRPr lang="en-US" sz="1150" dirty="0"/>
          </a:p>
        </p:txBody>
      </p:sp>
      <p:sp>
        <p:nvSpPr>
          <p:cNvPr id="14" name="Shape 10"/>
          <p:cNvSpPr/>
          <p:nvPr/>
        </p:nvSpPr>
        <p:spPr>
          <a:xfrm>
            <a:off x="6071616" y="1325880"/>
            <a:ext cx="2624328" cy="1463040"/>
          </a:xfrm>
          <a:prstGeom prst="roundRect">
            <a:avLst>
              <a:gd name="adj" fmla="val 5000"/>
            </a:avLst>
          </a:prstGeom>
          <a:solidFill>
            <a:srgbClr val="EAF3F0"/>
          </a:solidFill>
          <a:ln w="12700">
            <a:solidFill>
              <a:srgbClr val="EAF3F0"/>
            </a:solidFill>
            <a:prstDash val="solid"/>
          </a:ln>
        </p:spPr>
      </p:sp>
      <p:sp>
        <p:nvSpPr>
          <p:cNvPr id="15" name="Shape 11"/>
          <p:cNvSpPr/>
          <p:nvPr/>
        </p:nvSpPr>
        <p:spPr>
          <a:xfrm>
            <a:off x="6254496" y="1508760"/>
            <a:ext cx="502920" cy="502920"/>
          </a:xfrm>
          <a:prstGeom prst="ellipse">
            <a:avLst/>
          </a:prstGeom>
          <a:solidFill>
            <a:srgbClr val="0F3D3E"/>
          </a:solidFill>
          <a:ln w="12700">
            <a:solidFill>
              <a:srgbClr val="0F3D3E"/>
            </a:solidFill>
            <a:prstDash val="solid"/>
          </a:ln>
        </p:spPr>
      </p:sp>
      <p:pic>
        <p:nvPicPr>
          <p:cNvPr id="16" name="Image 2" descr="preencoded.png">    </p:cNvPr>
          <p:cNvPicPr>
            <a:picLocks noChangeAspect="1"/>
          </p:cNvPicPr>
          <p:nvPr/>
        </p:nvPicPr>
        <p:blipFill>
          <a:blip r:embed="rId3"/>
          <a:stretch>
            <a:fillRect/>
          </a:stretch>
        </p:blipFill>
        <p:spPr>
          <a:xfrm>
            <a:off x="6380226" y="1634490"/>
            <a:ext cx="251460" cy="251460"/>
          </a:xfrm>
          <a:prstGeom prst="rect">
            <a:avLst/>
          </a:prstGeom>
        </p:spPr>
      </p:pic>
      <p:sp>
        <p:nvSpPr>
          <p:cNvPr id="17" name="Text 12"/>
          <p:cNvSpPr txBox="1"/>
          <p:nvPr/>
        </p:nvSpPr>
        <p:spPr>
          <a:xfrm>
            <a:off x="6876288" y="1508760"/>
            <a:ext cx="1737360" cy="502920"/>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Aturan penyelesaian</a:t>
            </a:r>
            <a:endParaRPr lang="en-US" sz="1350" dirty="0"/>
          </a:p>
        </p:txBody>
      </p:sp>
      <p:sp>
        <p:nvSpPr>
          <p:cNvPr id="18" name="Text 13"/>
          <p:cNvSpPr txBox="1"/>
          <p:nvPr/>
        </p:nvSpPr>
        <p:spPr>
          <a:xfrm>
            <a:off x="6254496" y="2130552"/>
            <a:ext cx="2286000" cy="594360"/>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Untuk kasus solusi ganda</a:t>
            </a:r>
            <a:endParaRPr lang="en-US" sz="1150" dirty="0"/>
          </a:p>
        </p:txBody>
      </p:sp>
      <p:sp>
        <p:nvSpPr>
          <p:cNvPr id="19" name="Shape 14"/>
          <p:cNvSpPr/>
          <p:nvPr/>
        </p:nvSpPr>
        <p:spPr>
          <a:xfrm>
            <a:off x="457200" y="2971800"/>
            <a:ext cx="2624328" cy="1463040"/>
          </a:xfrm>
          <a:prstGeom prst="roundRect">
            <a:avLst>
              <a:gd name="adj" fmla="val 5000"/>
            </a:avLst>
          </a:prstGeom>
          <a:solidFill>
            <a:srgbClr val="EAF3F0"/>
          </a:solidFill>
          <a:ln w="12700">
            <a:solidFill>
              <a:srgbClr val="EAF3F0"/>
            </a:solidFill>
            <a:prstDash val="solid"/>
          </a:ln>
        </p:spPr>
      </p:sp>
      <p:sp>
        <p:nvSpPr>
          <p:cNvPr id="20" name="Shape 15"/>
          <p:cNvSpPr/>
          <p:nvPr/>
        </p:nvSpPr>
        <p:spPr>
          <a:xfrm>
            <a:off x="640080" y="3154680"/>
            <a:ext cx="502920" cy="502920"/>
          </a:xfrm>
          <a:prstGeom prst="ellipse">
            <a:avLst/>
          </a:prstGeom>
          <a:solidFill>
            <a:srgbClr val="0F3D3E"/>
          </a:solidFill>
          <a:ln w="12700">
            <a:solidFill>
              <a:srgbClr val="0F3D3E"/>
            </a:solidFill>
            <a:prstDash val="solid"/>
          </a:ln>
        </p:spPr>
      </p:sp>
      <p:pic>
        <p:nvPicPr>
          <p:cNvPr id="21" name="Image 3" descr="preencoded.png">    </p:cNvPr>
          <p:cNvPicPr>
            <a:picLocks noChangeAspect="1"/>
          </p:cNvPicPr>
          <p:nvPr/>
        </p:nvPicPr>
        <p:blipFill>
          <a:blip r:embed="rId4"/>
          <a:stretch>
            <a:fillRect/>
          </a:stretch>
        </p:blipFill>
        <p:spPr>
          <a:xfrm>
            <a:off x="765810" y="3280410"/>
            <a:ext cx="251460" cy="251460"/>
          </a:xfrm>
          <a:prstGeom prst="rect">
            <a:avLst/>
          </a:prstGeom>
        </p:spPr>
      </p:pic>
      <p:sp>
        <p:nvSpPr>
          <p:cNvPr id="22" name="Text 16"/>
          <p:cNvSpPr txBox="1"/>
          <p:nvPr/>
        </p:nvSpPr>
        <p:spPr>
          <a:xfrm>
            <a:off x="1261872" y="3154680"/>
            <a:ext cx="1737360" cy="502920"/>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Uji kesesuaian</a:t>
            </a:r>
            <a:endParaRPr lang="en-US" sz="1350" dirty="0"/>
          </a:p>
        </p:txBody>
      </p:sp>
      <p:sp>
        <p:nvSpPr>
          <p:cNvPr id="23" name="Text 17"/>
          <p:cNvSpPr txBox="1"/>
          <p:nvPr/>
        </p:nvSpPr>
        <p:spPr>
          <a:xfrm>
            <a:off x="640080" y="3776472"/>
            <a:ext cx="2286000" cy="594360"/>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Aplikasi PPh 21 yang tersedia publik</a:t>
            </a:r>
            <a:endParaRPr lang="en-US" sz="1150" dirty="0"/>
          </a:p>
        </p:txBody>
      </p:sp>
      <p:sp>
        <p:nvSpPr>
          <p:cNvPr id="24" name="Shape 18"/>
          <p:cNvSpPr/>
          <p:nvPr/>
        </p:nvSpPr>
        <p:spPr>
          <a:xfrm>
            <a:off x="3264408" y="2971800"/>
            <a:ext cx="2624328" cy="1463040"/>
          </a:xfrm>
          <a:prstGeom prst="roundRect">
            <a:avLst>
              <a:gd name="adj" fmla="val 5000"/>
            </a:avLst>
          </a:prstGeom>
          <a:solidFill>
            <a:srgbClr val="EAF3F0"/>
          </a:solidFill>
          <a:ln w="12700">
            <a:solidFill>
              <a:srgbClr val="EAF3F0"/>
            </a:solidFill>
            <a:prstDash val="solid"/>
          </a:ln>
        </p:spPr>
      </p:sp>
      <p:sp>
        <p:nvSpPr>
          <p:cNvPr id="25" name="Shape 19"/>
          <p:cNvSpPr/>
          <p:nvPr/>
        </p:nvSpPr>
        <p:spPr>
          <a:xfrm>
            <a:off x="3447288" y="3154680"/>
            <a:ext cx="502920" cy="502920"/>
          </a:xfrm>
          <a:prstGeom prst="ellipse">
            <a:avLst/>
          </a:prstGeom>
          <a:solidFill>
            <a:srgbClr val="0F3D3E"/>
          </a:solidFill>
          <a:ln w="12700">
            <a:solidFill>
              <a:srgbClr val="0F3D3E"/>
            </a:solidFill>
            <a:prstDash val="solid"/>
          </a:ln>
        </p:spPr>
      </p:sp>
      <p:pic>
        <p:nvPicPr>
          <p:cNvPr id="26" name="Image 4" descr="preencoded.png">    </p:cNvPr>
          <p:cNvPicPr>
            <a:picLocks noChangeAspect="1"/>
          </p:cNvPicPr>
          <p:nvPr/>
        </p:nvPicPr>
        <p:blipFill>
          <a:blip r:embed="rId5"/>
          <a:stretch>
            <a:fillRect/>
          </a:stretch>
        </p:blipFill>
        <p:spPr>
          <a:xfrm>
            <a:off x="3573018" y="3280410"/>
            <a:ext cx="251460" cy="251460"/>
          </a:xfrm>
          <a:prstGeom prst="rect">
            <a:avLst/>
          </a:prstGeom>
        </p:spPr>
      </p:pic>
      <p:sp>
        <p:nvSpPr>
          <p:cNvPr id="27" name="Text 20"/>
          <p:cNvSpPr txBox="1"/>
          <p:nvPr/>
        </p:nvSpPr>
        <p:spPr>
          <a:xfrm>
            <a:off x="4069080" y="3154680"/>
            <a:ext cx="1737360" cy="502920"/>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Ukur manfaat</a:t>
            </a:r>
            <a:endParaRPr lang="en-US" sz="1350" dirty="0"/>
          </a:p>
        </p:txBody>
      </p:sp>
      <p:sp>
        <p:nvSpPr>
          <p:cNvPr id="28" name="Text 21"/>
          <p:cNvSpPr txBox="1"/>
          <p:nvPr/>
        </p:nvSpPr>
        <p:spPr>
          <a:xfrm>
            <a:off x="3447288" y="3776472"/>
            <a:ext cx="2286000" cy="594360"/>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Biaya pemeliharaan dan ekspresivitas</a:t>
            </a:r>
            <a:endParaRPr lang="en-US" sz="1150" dirty="0"/>
          </a:p>
        </p:txBody>
      </p:sp>
      <p:sp>
        <p:nvSpPr>
          <p:cNvPr id="29" name="Shape 22"/>
          <p:cNvSpPr/>
          <p:nvPr/>
        </p:nvSpPr>
        <p:spPr>
          <a:xfrm>
            <a:off x="6071616" y="2971800"/>
            <a:ext cx="2624328" cy="1463040"/>
          </a:xfrm>
          <a:prstGeom prst="roundRect">
            <a:avLst>
              <a:gd name="adj" fmla="val 5000"/>
            </a:avLst>
          </a:prstGeom>
          <a:solidFill>
            <a:srgbClr val="EAF3F0"/>
          </a:solidFill>
          <a:ln w="12700">
            <a:solidFill>
              <a:srgbClr val="EAF3F0"/>
            </a:solidFill>
            <a:prstDash val="solid"/>
          </a:ln>
        </p:spPr>
      </p:sp>
      <p:sp>
        <p:nvSpPr>
          <p:cNvPr id="30" name="Shape 23"/>
          <p:cNvSpPr/>
          <p:nvPr/>
        </p:nvSpPr>
        <p:spPr>
          <a:xfrm>
            <a:off x="6254496" y="3154680"/>
            <a:ext cx="502920" cy="502920"/>
          </a:xfrm>
          <a:prstGeom prst="ellipse">
            <a:avLst/>
          </a:prstGeom>
          <a:solidFill>
            <a:srgbClr val="0F3D3E"/>
          </a:solidFill>
          <a:ln w="12700">
            <a:solidFill>
              <a:srgbClr val="0F3D3E"/>
            </a:solidFill>
            <a:prstDash val="solid"/>
          </a:ln>
        </p:spPr>
      </p:sp>
      <p:pic>
        <p:nvPicPr>
          <p:cNvPr id="31" name="Image 5" descr="preencoded.png">    </p:cNvPr>
          <p:cNvPicPr>
            <a:picLocks noChangeAspect="1"/>
          </p:cNvPicPr>
          <p:nvPr/>
        </p:nvPicPr>
        <p:blipFill>
          <a:blip r:embed="rId6"/>
          <a:stretch>
            <a:fillRect/>
          </a:stretch>
        </p:blipFill>
        <p:spPr>
          <a:xfrm>
            <a:off x="6380226" y="3280410"/>
            <a:ext cx="251460" cy="251460"/>
          </a:xfrm>
          <a:prstGeom prst="rect">
            <a:avLst/>
          </a:prstGeom>
        </p:spPr>
      </p:pic>
      <p:sp>
        <p:nvSpPr>
          <p:cNvPr id="32" name="Text 24"/>
          <p:cNvSpPr txBox="1"/>
          <p:nvPr/>
        </p:nvSpPr>
        <p:spPr>
          <a:xfrm>
            <a:off x="6876288" y="3154680"/>
            <a:ext cx="1737360" cy="502920"/>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Aplikasi PPh 21</a:t>
            </a:r>
            <a:endParaRPr lang="en-US" sz="1350" dirty="0"/>
          </a:p>
        </p:txBody>
      </p:sp>
      <p:sp>
        <p:nvSpPr>
          <p:cNvPr id="33" name="Text 25"/>
          <p:cNvSpPr txBox="1"/>
          <p:nvPr/>
        </p:nvSpPr>
        <p:spPr>
          <a:xfrm>
            <a:off x="6254496" y="3776472"/>
            <a:ext cx="2286000" cy="594360"/>
          </a:xfrm>
          <a:prstGeom prst="rect">
            <a:avLst/>
          </a:prstGeom>
          <a:noFill/>
          <a:ln/>
        </p:spPr>
        <p:txBody>
          <a:bodyPr wrap="square" lIns="0" tIns="0" rIns="0" bIns="0" rtlCol="0" anchor="t"/>
          <a:lstStyle/>
          <a:p>
            <a:pPr indent="0" marL="0">
              <a:buNone/>
            </a:pPr>
            <a:r>
              <a:rPr lang="en-US" sz="1150" dirty="0">
                <a:solidFill>
                  <a:srgbClr val="5B6B6B"/>
                </a:solidFill>
                <a:latin typeface="Calibri" pitchFamily="34" charset="0"/>
                <a:ea typeface="Calibri" pitchFamily="34" charset="-122"/>
                <a:cs typeface="Calibri" pitchFamily="34" charset="-120"/>
              </a:rPr>
              <a:t>Perhitungan + rincian aturan dan pasal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05 · NOVELTY</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Apa yang Baru, Apa yang Bukan</a:t>
            </a:r>
            <a:endParaRPr lang="en-US" sz="2800" dirty="0"/>
          </a:p>
        </p:txBody>
      </p:sp>
      <p:sp>
        <p:nvSpPr>
          <p:cNvPr id="4" name="Shape 2"/>
          <p:cNvSpPr/>
          <p:nvPr/>
        </p:nvSpPr>
        <p:spPr>
          <a:xfrm>
            <a:off x="457200" y="1280160"/>
            <a:ext cx="3840480" cy="2743200"/>
          </a:xfrm>
          <a:prstGeom prst="roundRect">
            <a:avLst>
              <a:gd name="adj" fmla="val 2667"/>
            </a:avLst>
          </a:prstGeom>
          <a:solidFill>
            <a:srgbClr val="EAF3F0"/>
          </a:solidFill>
          <a:ln w="12700">
            <a:solidFill>
              <a:srgbClr val="EAF3F0"/>
            </a:solidFill>
            <a:prstDash val="solid"/>
          </a:ln>
        </p:spPr>
      </p:sp>
      <p:sp>
        <p:nvSpPr>
          <p:cNvPr id="5" name="Shape 3"/>
          <p:cNvSpPr/>
          <p:nvPr/>
        </p:nvSpPr>
        <p:spPr>
          <a:xfrm>
            <a:off x="640080" y="1417320"/>
            <a:ext cx="457200" cy="457200"/>
          </a:xfrm>
          <a:prstGeom prst="ellipse">
            <a:avLst/>
          </a:prstGeom>
          <a:solidFill>
            <a:srgbClr val="5B6B6B"/>
          </a:solidFill>
          <a:ln w="12700">
            <a:solidFill>
              <a:srgbClr val="5B6B6B"/>
            </a:solidFill>
            <a:prstDash val="solid"/>
          </a:ln>
        </p:spPr>
      </p:sp>
      <p:pic>
        <p:nvPicPr>
          <p:cNvPr id="6" name="Image 0" descr="preencoded.png">    </p:cNvPr>
          <p:cNvPicPr>
            <a:picLocks noChangeAspect="1"/>
          </p:cNvPicPr>
          <p:nvPr/>
        </p:nvPicPr>
        <p:blipFill>
          <a:blip r:embed="rId1"/>
          <a:stretch>
            <a:fillRect/>
          </a:stretch>
        </p:blipFill>
        <p:spPr>
          <a:xfrm>
            <a:off x="754380" y="1531620"/>
            <a:ext cx="228600" cy="228600"/>
          </a:xfrm>
          <a:prstGeom prst="rect">
            <a:avLst/>
          </a:prstGeom>
        </p:spPr>
      </p:pic>
      <p:sp>
        <p:nvSpPr>
          <p:cNvPr id="7" name="Text 4"/>
          <p:cNvSpPr txBox="1"/>
          <p:nvPr/>
        </p:nvSpPr>
        <p:spPr>
          <a:xfrm>
            <a:off x="1188720" y="1417320"/>
            <a:ext cx="3017520" cy="457200"/>
          </a:xfrm>
          <a:prstGeom prst="rect">
            <a:avLst/>
          </a:prstGeom>
          <a:noFill/>
          <a:ln/>
        </p:spPr>
        <p:txBody>
          <a:bodyPr wrap="square" lIns="0" tIns="0" rIns="0" bIns="0" rtlCol="0" anchor="ctr"/>
          <a:lstStyle/>
          <a:p>
            <a:pPr indent="0" marL="0">
              <a:buNone/>
            </a:pPr>
            <a:r>
              <a:rPr lang="en-US" sz="1500" b="1" dirty="0">
                <a:solidFill>
                  <a:srgbClr val="5B6B6B"/>
                </a:solidFill>
                <a:latin typeface="Calibri" pitchFamily="34" charset="0"/>
                <a:ea typeface="Calibri" pitchFamily="34" charset="-122"/>
                <a:cs typeface="Calibri" pitchFamily="34" charset="-120"/>
              </a:rPr>
              <a:t>Bukan novelty (sudah ada)</a:t>
            </a:r>
            <a:endParaRPr lang="en-US" sz="1500" dirty="0"/>
          </a:p>
        </p:txBody>
      </p:sp>
      <p:sp>
        <p:nvSpPr>
          <p:cNvPr id="8" name="Text 5"/>
          <p:cNvSpPr txBox="1"/>
          <p:nvPr/>
        </p:nvSpPr>
        <p:spPr>
          <a:xfrm>
            <a:off x="685800" y="2011680"/>
            <a:ext cx="3474720"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B2B"/>
                </a:solidFill>
                <a:latin typeface="Calibri" pitchFamily="34" charset="0"/>
                <a:ea typeface="Calibri" pitchFamily="34" charset="-122"/>
                <a:cs typeface="Calibri" pitchFamily="34" charset="-120"/>
              </a:rPr>
              <a:t>Pemisahan aturan dari kode</a:t>
            </a:r>
            <a:endParaRPr lang="en-US" sz="1250" dirty="0"/>
          </a:p>
          <a:p>
            <a:pPr marL="342900" indent="-342900">
              <a:spcAft>
                <a:spcPts val="600"/>
              </a:spcAft>
              <a:buSzPct val="100000"/>
              <a:buChar char="•"/>
            </a:pPr>
            <a:r>
              <a:rPr lang="en-US" sz="1250" dirty="0">
                <a:solidFill>
                  <a:srgbClr val="1E2B2B"/>
                </a:solidFill>
                <a:latin typeface="Calibri" pitchFamily="34" charset="0"/>
                <a:ea typeface="Calibri" pitchFamily="34" charset="-122"/>
                <a:cs typeface="Calibri" pitchFamily="34" charset="-120"/>
              </a:rPr>
              <a:t>Lapisan regulasi yang bisa ditimpa</a:t>
            </a:r>
            <a:endParaRPr lang="en-US" sz="1250" dirty="0"/>
          </a:p>
          <a:p>
            <a:pPr marL="342900" indent="-342900">
              <a:spcAft>
                <a:spcPts val="600"/>
              </a:spcAft>
              <a:buSzPct val="100000"/>
              <a:buChar char="•"/>
            </a:pPr>
            <a:r>
              <a:rPr lang="en-US" sz="1250" dirty="0">
                <a:solidFill>
                  <a:srgbClr val="1E2B2B"/>
                </a:solidFill>
                <a:latin typeface="Calibri" pitchFamily="34" charset="0"/>
                <a:ea typeface="Calibri" pitchFamily="34" charset="-122"/>
                <a:cs typeface="Calibri" pitchFamily="34" charset="-120"/>
              </a:rPr>
              <a:t>Gross-up diselesaikan secara iteratif</a:t>
            </a:r>
            <a:endParaRPr lang="en-US" sz="1250" dirty="0"/>
          </a:p>
          <a:p>
            <a:pPr marL="342900" indent="-342900">
              <a:spcAft>
                <a:spcPts val="600"/>
              </a:spcAft>
              <a:buSzPct val="100000"/>
              <a:buChar char="•"/>
            </a:pPr>
            <a:r>
              <a:rPr lang="en-US" sz="1250" dirty="0">
                <a:solidFill>
                  <a:srgbClr val="1E2B2B"/>
                </a:solidFill>
                <a:latin typeface="Calibri" pitchFamily="34" charset="0"/>
                <a:ea typeface="Calibri" pitchFamily="34" charset="-122"/>
                <a:cs typeface="Calibri" pitchFamily="34" charset="-120"/>
              </a:rPr>
              <a:t>Kalkulator dan sistem pakar PPh 21</a:t>
            </a:r>
            <a:endParaRPr lang="en-US" sz="1250" dirty="0"/>
          </a:p>
        </p:txBody>
      </p:sp>
      <p:sp>
        <p:nvSpPr>
          <p:cNvPr id="9" name="Shape 6"/>
          <p:cNvSpPr/>
          <p:nvPr/>
        </p:nvSpPr>
        <p:spPr>
          <a:xfrm>
            <a:off x="4572000" y="1280160"/>
            <a:ext cx="4114800" cy="2743200"/>
          </a:xfrm>
          <a:prstGeom prst="roundRect">
            <a:avLst>
              <a:gd name="adj" fmla="val 2667"/>
            </a:avLst>
          </a:prstGeom>
          <a:solidFill>
            <a:srgbClr val="0F3D3E"/>
          </a:solidFill>
          <a:ln w="12700">
            <a:solidFill>
              <a:srgbClr val="0F3D3E"/>
            </a:solidFill>
            <a:prstDash val="solid"/>
          </a:ln>
        </p:spPr>
      </p:sp>
      <p:sp>
        <p:nvSpPr>
          <p:cNvPr id="10" name="Shape 7"/>
          <p:cNvSpPr/>
          <p:nvPr/>
        </p:nvSpPr>
        <p:spPr>
          <a:xfrm>
            <a:off x="4754880" y="1417320"/>
            <a:ext cx="457200" cy="457200"/>
          </a:xfrm>
          <a:prstGeom prst="ellipse">
            <a:avLst/>
          </a:prstGeom>
          <a:solidFill>
            <a:srgbClr val="E8A33D"/>
          </a:solidFill>
          <a:ln w="12700">
            <a:solidFill>
              <a:srgbClr val="E8A33D"/>
            </a:solidFill>
            <a:prstDash val="solid"/>
          </a:ln>
        </p:spPr>
      </p:sp>
      <p:pic>
        <p:nvPicPr>
          <p:cNvPr id="11" name="Image 1" descr="preencoded.png">    </p:cNvPr>
          <p:cNvPicPr>
            <a:picLocks noChangeAspect="1"/>
          </p:cNvPicPr>
          <p:nvPr/>
        </p:nvPicPr>
        <p:blipFill>
          <a:blip r:embed="rId2"/>
          <a:stretch>
            <a:fillRect/>
          </a:stretch>
        </p:blipFill>
        <p:spPr>
          <a:xfrm>
            <a:off x="4869180" y="1531620"/>
            <a:ext cx="228600" cy="228600"/>
          </a:xfrm>
          <a:prstGeom prst="rect">
            <a:avLst/>
          </a:prstGeom>
        </p:spPr>
      </p:pic>
      <p:sp>
        <p:nvSpPr>
          <p:cNvPr id="12" name="Text 8"/>
          <p:cNvSpPr txBox="1"/>
          <p:nvPr/>
        </p:nvSpPr>
        <p:spPr>
          <a:xfrm>
            <a:off x="5303520" y="1417320"/>
            <a:ext cx="32004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Novelty penelitian ini</a:t>
            </a:r>
            <a:endParaRPr lang="en-US" sz="1500" dirty="0"/>
          </a:p>
        </p:txBody>
      </p:sp>
      <p:sp>
        <p:nvSpPr>
          <p:cNvPr id="13" name="Shape 9"/>
          <p:cNvSpPr/>
          <p:nvPr/>
        </p:nvSpPr>
        <p:spPr>
          <a:xfrm>
            <a:off x="4800600" y="2057400"/>
            <a:ext cx="310896" cy="310896"/>
          </a:xfrm>
          <a:prstGeom prst="ellipse">
            <a:avLst/>
          </a:prstGeom>
          <a:solidFill>
            <a:srgbClr val="E8A33D"/>
          </a:solidFill>
          <a:ln w="12700">
            <a:solidFill>
              <a:srgbClr val="E8A33D"/>
            </a:solidFill>
            <a:prstDash val="solid"/>
          </a:ln>
        </p:spPr>
      </p:sp>
      <p:sp>
        <p:nvSpPr>
          <p:cNvPr id="14" name="Text 10"/>
          <p:cNvSpPr txBox="1"/>
          <p:nvPr/>
        </p:nvSpPr>
        <p:spPr>
          <a:xfrm>
            <a:off x="4800600" y="2057400"/>
            <a:ext cx="310896" cy="310896"/>
          </a:xfrm>
          <a:prstGeom prst="rect">
            <a:avLst/>
          </a:prstGeom>
          <a:noFill/>
          <a:ln/>
        </p:spPr>
        <p:txBody>
          <a:bodyPr wrap="square" lIns="0" tIns="0" rIns="0" bIns="0" rtlCol="0" anchor="ctr"/>
          <a:lstStyle/>
          <a:p>
            <a:pPr algn="ctr" indent="0" marL="0">
              <a:buNone/>
            </a:pPr>
            <a:r>
              <a:rPr lang="en-US" sz="1100" b="1" dirty="0">
                <a:solidFill>
                  <a:srgbClr val="0F3D3E"/>
                </a:solidFill>
                <a:latin typeface="Calibri" pitchFamily="34" charset="0"/>
                <a:ea typeface="Calibri" pitchFamily="34" charset="-122"/>
                <a:cs typeface="Calibri" pitchFamily="34" charset="-120"/>
              </a:rPr>
              <a:t>1</a:t>
            </a:r>
            <a:endParaRPr lang="en-US" sz="1100" dirty="0"/>
          </a:p>
        </p:txBody>
      </p:sp>
      <p:sp>
        <p:nvSpPr>
          <p:cNvPr id="15" name="Text 11"/>
          <p:cNvSpPr txBox="1"/>
          <p:nvPr/>
        </p:nvSpPr>
        <p:spPr>
          <a:xfrm>
            <a:off x="5230368" y="2011680"/>
            <a:ext cx="3337560" cy="43891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Analisis formal gross-up dan komponen melingkar di bawah TER</a:t>
            </a:r>
            <a:endParaRPr lang="en-US" sz="1150" dirty="0"/>
          </a:p>
        </p:txBody>
      </p:sp>
      <p:sp>
        <p:nvSpPr>
          <p:cNvPr id="16" name="Shape 12"/>
          <p:cNvSpPr/>
          <p:nvPr/>
        </p:nvSpPr>
        <p:spPr>
          <a:xfrm>
            <a:off x="4800600" y="2532888"/>
            <a:ext cx="310896" cy="310896"/>
          </a:xfrm>
          <a:prstGeom prst="ellipse">
            <a:avLst/>
          </a:prstGeom>
          <a:solidFill>
            <a:srgbClr val="E8A33D"/>
          </a:solidFill>
          <a:ln w="12700">
            <a:solidFill>
              <a:srgbClr val="E8A33D"/>
            </a:solidFill>
            <a:prstDash val="solid"/>
          </a:ln>
        </p:spPr>
      </p:sp>
      <p:sp>
        <p:nvSpPr>
          <p:cNvPr id="17" name="Text 13"/>
          <p:cNvSpPr txBox="1"/>
          <p:nvPr/>
        </p:nvSpPr>
        <p:spPr>
          <a:xfrm>
            <a:off x="4800600" y="2532888"/>
            <a:ext cx="310896" cy="310896"/>
          </a:xfrm>
          <a:prstGeom prst="rect">
            <a:avLst/>
          </a:prstGeom>
          <a:noFill/>
          <a:ln/>
        </p:spPr>
        <p:txBody>
          <a:bodyPr wrap="square" lIns="0" tIns="0" rIns="0" bIns="0" rtlCol="0" anchor="ctr"/>
          <a:lstStyle/>
          <a:p>
            <a:pPr algn="ctr" indent="0" marL="0">
              <a:buNone/>
            </a:pPr>
            <a:r>
              <a:rPr lang="en-US" sz="1100" b="1" dirty="0">
                <a:solidFill>
                  <a:srgbClr val="0F3D3E"/>
                </a:solidFill>
                <a:latin typeface="Calibri" pitchFamily="34" charset="0"/>
                <a:ea typeface="Calibri" pitchFamily="34" charset="-122"/>
                <a:cs typeface="Calibri" pitchFamily="34" charset="-120"/>
              </a:rPr>
              <a:t>2</a:t>
            </a:r>
            <a:endParaRPr lang="en-US" sz="1100" dirty="0"/>
          </a:p>
        </p:txBody>
      </p:sp>
      <p:sp>
        <p:nvSpPr>
          <p:cNvPr id="18" name="Text 14"/>
          <p:cNvSpPr txBox="1"/>
          <p:nvPr/>
        </p:nvSpPr>
        <p:spPr>
          <a:xfrm>
            <a:off x="5230368" y="2487168"/>
            <a:ext cx="3337560" cy="43891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Representasi deklaratif komponen melingkar</a:t>
            </a:r>
            <a:endParaRPr lang="en-US" sz="1150" dirty="0"/>
          </a:p>
        </p:txBody>
      </p:sp>
      <p:sp>
        <p:nvSpPr>
          <p:cNvPr id="19" name="Shape 15"/>
          <p:cNvSpPr/>
          <p:nvPr/>
        </p:nvSpPr>
        <p:spPr>
          <a:xfrm>
            <a:off x="4800600" y="3008376"/>
            <a:ext cx="310896" cy="310896"/>
          </a:xfrm>
          <a:prstGeom prst="ellipse">
            <a:avLst/>
          </a:prstGeom>
          <a:solidFill>
            <a:srgbClr val="E8A33D"/>
          </a:solidFill>
          <a:ln w="12700">
            <a:solidFill>
              <a:srgbClr val="E8A33D"/>
            </a:solidFill>
            <a:prstDash val="solid"/>
          </a:ln>
        </p:spPr>
      </p:sp>
      <p:sp>
        <p:nvSpPr>
          <p:cNvPr id="20" name="Text 16"/>
          <p:cNvSpPr txBox="1"/>
          <p:nvPr/>
        </p:nvSpPr>
        <p:spPr>
          <a:xfrm>
            <a:off x="4800600" y="3008376"/>
            <a:ext cx="310896" cy="310896"/>
          </a:xfrm>
          <a:prstGeom prst="rect">
            <a:avLst/>
          </a:prstGeom>
          <a:noFill/>
          <a:ln/>
        </p:spPr>
        <p:txBody>
          <a:bodyPr wrap="square" lIns="0" tIns="0" rIns="0" bIns="0" rtlCol="0" anchor="ctr"/>
          <a:lstStyle/>
          <a:p>
            <a:pPr algn="ctr" indent="0" marL="0">
              <a:buNone/>
            </a:pPr>
            <a:r>
              <a:rPr lang="en-US" sz="1100" b="1" dirty="0">
                <a:solidFill>
                  <a:srgbClr val="0F3D3E"/>
                </a:solidFill>
                <a:latin typeface="Calibri" pitchFamily="34" charset="0"/>
                <a:ea typeface="Calibri" pitchFamily="34" charset="-122"/>
                <a:cs typeface="Calibri" pitchFamily="34" charset="-120"/>
              </a:rPr>
              <a:t>3</a:t>
            </a:r>
            <a:endParaRPr lang="en-US" sz="1100" dirty="0"/>
          </a:p>
        </p:txBody>
      </p:sp>
      <p:sp>
        <p:nvSpPr>
          <p:cNvPr id="21" name="Text 17"/>
          <p:cNvSpPr txBox="1"/>
          <p:nvPr/>
        </p:nvSpPr>
        <p:spPr>
          <a:xfrm>
            <a:off x="5230368" y="2962656"/>
            <a:ext cx="3337560" cy="43891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Studi kesesuaian aplikasi PPh 21 di Indonesia</a:t>
            </a:r>
            <a:endParaRPr lang="en-US" sz="1150" dirty="0"/>
          </a:p>
        </p:txBody>
      </p:sp>
      <p:sp>
        <p:nvSpPr>
          <p:cNvPr id="22" name="Shape 18"/>
          <p:cNvSpPr/>
          <p:nvPr/>
        </p:nvSpPr>
        <p:spPr>
          <a:xfrm>
            <a:off x="4800600" y="3483864"/>
            <a:ext cx="310896" cy="310896"/>
          </a:xfrm>
          <a:prstGeom prst="ellipse">
            <a:avLst/>
          </a:prstGeom>
          <a:solidFill>
            <a:srgbClr val="E8A33D"/>
          </a:solidFill>
          <a:ln w="12700">
            <a:solidFill>
              <a:srgbClr val="E8A33D"/>
            </a:solidFill>
            <a:prstDash val="solid"/>
          </a:ln>
        </p:spPr>
      </p:sp>
      <p:sp>
        <p:nvSpPr>
          <p:cNvPr id="23" name="Text 19"/>
          <p:cNvSpPr txBox="1"/>
          <p:nvPr/>
        </p:nvSpPr>
        <p:spPr>
          <a:xfrm>
            <a:off x="4800600" y="3483864"/>
            <a:ext cx="310896" cy="310896"/>
          </a:xfrm>
          <a:prstGeom prst="rect">
            <a:avLst/>
          </a:prstGeom>
          <a:noFill/>
          <a:ln/>
        </p:spPr>
        <p:txBody>
          <a:bodyPr wrap="square" lIns="0" tIns="0" rIns="0" bIns="0" rtlCol="0" anchor="ctr"/>
          <a:lstStyle/>
          <a:p>
            <a:pPr algn="ctr" indent="0" marL="0">
              <a:buNone/>
            </a:pPr>
            <a:r>
              <a:rPr lang="en-US" sz="1100" b="1" dirty="0">
                <a:solidFill>
                  <a:srgbClr val="0F3D3E"/>
                </a:solidFill>
                <a:latin typeface="Calibri" pitchFamily="34" charset="0"/>
                <a:ea typeface="Calibri" pitchFamily="34" charset="-122"/>
                <a:cs typeface="Calibri" pitchFamily="34" charset="-120"/>
              </a:rPr>
              <a:t>4</a:t>
            </a:r>
            <a:endParaRPr lang="en-US" sz="1100" dirty="0"/>
          </a:p>
        </p:txBody>
      </p:sp>
      <p:sp>
        <p:nvSpPr>
          <p:cNvPr id="24" name="Text 20"/>
          <p:cNvSpPr txBox="1"/>
          <p:nvPr/>
        </p:nvSpPr>
        <p:spPr>
          <a:xfrm>
            <a:off x="5230368" y="3438144"/>
            <a:ext cx="3337560" cy="43891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Uji apakah mesin payroll berlapis bisa menyatakan gross-up TER tanpa kode khusus</a:t>
            </a:r>
            <a:endParaRPr lang="en-US" sz="1150" dirty="0"/>
          </a:p>
        </p:txBody>
      </p:sp>
      <p:sp>
        <p:nvSpPr>
          <p:cNvPr id="25" name="Shape 21"/>
          <p:cNvSpPr/>
          <p:nvPr/>
        </p:nvSpPr>
        <p:spPr>
          <a:xfrm>
            <a:off x="457200" y="4160520"/>
            <a:ext cx="8229600" cy="502920"/>
          </a:xfrm>
          <a:prstGeom prst="roundRect">
            <a:avLst>
              <a:gd name="adj" fmla="val 14545"/>
            </a:avLst>
          </a:prstGeom>
          <a:solidFill>
            <a:srgbClr val="F8E3BD"/>
          </a:solidFill>
          <a:ln w="12700">
            <a:solidFill>
              <a:srgbClr val="E8A33D"/>
            </a:solidFill>
            <a:prstDash val="solid"/>
          </a:ln>
        </p:spPr>
      </p:sp>
      <p:sp>
        <p:nvSpPr>
          <p:cNvPr id="26" name="Text 22"/>
          <p:cNvSpPr txBox="1"/>
          <p:nvPr/>
        </p:nvSpPr>
        <p:spPr>
          <a:xfrm>
            <a:off x="640080" y="4160520"/>
            <a:ext cx="7863840" cy="502920"/>
          </a:xfrm>
          <a:prstGeom prst="rect">
            <a:avLst/>
          </a:prstGeom>
          <a:noFill/>
          <a:ln/>
        </p:spPr>
        <p:txBody>
          <a:bodyPr wrap="square" lIns="0" tIns="0" rIns="0" bIns="0" rtlCol="0" anchor="ctr"/>
          <a:lstStyle/>
          <a:p>
            <a:pPr indent="0" marL="0">
              <a:buNone/>
            </a:pPr>
            <a:r>
              <a:rPr lang="en-US" sz="1300" b="1" dirty="0">
                <a:solidFill>
                  <a:srgbClr val="0F3D3E"/>
                </a:solidFill>
                <a:latin typeface="Calibri" pitchFamily="34" charset="0"/>
                <a:ea typeface="Calibri" pitchFamily="34" charset="-122"/>
                <a:cs typeface="Calibri" pitchFamily="34" charset="-120"/>
              </a:rPr>
              <a:t>Penilaian jujur: sedang, </a:t>
            </a:r>
            <a:pPr indent="0" marL="0">
              <a:buNone/>
            </a:pPr>
            <a:r>
              <a:rPr lang="en-US" sz="1300" dirty="0">
                <a:solidFill>
                  <a:srgbClr val="1E2B2B"/>
                </a:solidFill>
                <a:latin typeface="Calibri" pitchFamily="34" charset="0"/>
                <a:ea typeface="Calibri" pitchFamily="34" charset="-122"/>
                <a:cs typeface="Calibri" pitchFamily="34" charset="-120"/>
              </a:rPr>
              <a:t>berpotensi naik jika hipotesis gross-up (H1, H2) terbukti dengan jelas.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06 · BATASAN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Ruang Lingkup Penelitian</a:t>
            </a:r>
            <a:endParaRPr lang="en-US" sz="2800" dirty="0"/>
          </a:p>
        </p:txBody>
      </p:sp>
      <p:sp>
        <p:nvSpPr>
          <p:cNvPr id="4" name="Shape 2"/>
          <p:cNvSpPr/>
          <p:nvPr/>
        </p:nvSpPr>
        <p:spPr>
          <a:xfrm>
            <a:off x="457200" y="1280160"/>
            <a:ext cx="3977640" cy="3337560"/>
          </a:xfrm>
          <a:prstGeom prst="roundRect">
            <a:avLst>
              <a:gd name="adj" fmla="val 2192"/>
            </a:avLst>
          </a:prstGeom>
          <a:solidFill>
            <a:srgbClr val="EAF3F0"/>
          </a:solidFill>
          <a:ln w="12700">
            <a:solidFill>
              <a:srgbClr val="EAF3F0"/>
            </a:solidFill>
            <a:prstDash val="solid"/>
          </a:ln>
        </p:spPr>
      </p:sp>
      <p:sp>
        <p:nvSpPr>
          <p:cNvPr id="5" name="Shape 3"/>
          <p:cNvSpPr/>
          <p:nvPr/>
        </p:nvSpPr>
        <p:spPr>
          <a:xfrm>
            <a:off x="640080" y="1417320"/>
            <a:ext cx="457200" cy="457200"/>
          </a:xfrm>
          <a:prstGeom prst="ellipse">
            <a:avLst/>
          </a:prstGeom>
          <a:solidFill>
            <a:srgbClr val="2E7D5B"/>
          </a:solidFill>
          <a:ln w="12700">
            <a:solidFill>
              <a:srgbClr val="2E7D5B"/>
            </a:solidFill>
            <a:prstDash val="solid"/>
          </a:ln>
        </p:spPr>
      </p:sp>
      <p:pic>
        <p:nvPicPr>
          <p:cNvPr id="6" name="Image 0" descr="preencoded.png">    </p:cNvPr>
          <p:cNvPicPr>
            <a:picLocks noChangeAspect="1"/>
          </p:cNvPicPr>
          <p:nvPr/>
        </p:nvPicPr>
        <p:blipFill>
          <a:blip r:embed="rId1"/>
          <a:stretch>
            <a:fillRect/>
          </a:stretch>
        </p:blipFill>
        <p:spPr>
          <a:xfrm>
            <a:off x="754380" y="1531620"/>
            <a:ext cx="228600" cy="228600"/>
          </a:xfrm>
          <a:prstGeom prst="rect">
            <a:avLst/>
          </a:prstGeom>
        </p:spPr>
      </p:pic>
      <p:sp>
        <p:nvSpPr>
          <p:cNvPr id="7" name="Text 4"/>
          <p:cNvSpPr txBox="1"/>
          <p:nvPr/>
        </p:nvSpPr>
        <p:spPr>
          <a:xfrm>
            <a:off x="1188720" y="1417320"/>
            <a:ext cx="3108960" cy="457200"/>
          </a:xfrm>
          <a:prstGeom prst="rect">
            <a:avLst/>
          </a:prstGeom>
          <a:noFill/>
          <a:ln/>
        </p:spPr>
        <p:txBody>
          <a:bodyPr wrap="square" lIns="0" tIns="0" rIns="0" bIns="0" rtlCol="0" anchor="ctr"/>
          <a:lstStyle/>
          <a:p>
            <a:pPr indent="0" marL="0">
              <a:buNone/>
            </a:pPr>
            <a:r>
              <a:rPr lang="en-US" sz="1500" b="1" dirty="0">
                <a:solidFill>
                  <a:srgbClr val="2E7D5B"/>
                </a:solidFill>
                <a:latin typeface="Calibri" pitchFamily="34" charset="0"/>
                <a:ea typeface="Calibri" pitchFamily="34" charset="-122"/>
                <a:cs typeface="Calibri" pitchFamily="34" charset="-120"/>
              </a:rPr>
              <a:t>Dalam cakupan</a:t>
            </a:r>
            <a:endParaRPr lang="en-US" sz="1500" dirty="0"/>
          </a:p>
        </p:txBody>
      </p:sp>
      <p:sp>
        <p:nvSpPr>
          <p:cNvPr id="8" name="Text 5"/>
          <p:cNvSpPr txBox="1"/>
          <p:nvPr/>
        </p:nvSpPr>
        <p:spPr>
          <a:xfrm>
            <a:off x="685800" y="2011680"/>
            <a:ext cx="3611880" cy="25146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PPh 21 pegawai tetap, termasuk masuk/keluar tengah tahun</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Potongan bulanan (TER) + masa pajak terakhir (Pasal 17)</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Gaji, tunjangan, THR, bonus, natura sederhana</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Metode gross dan gross-up</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Insentif DTP (PMK 10, 72, 105/2025)</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Tahun pajak 2024 sampai sekarang</a:t>
            </a:r>
            <a:endParaRPr lang="en-US" sz="1200" dirty="0"/>
          </a:p>
        </p:txBody>
      </p:sp>
      <p:sp>
        <p:nvSpPr>
          <p:cNvPr id="9" name="Shape 6"/>
          <p:cNvSpPr/>
          <p:nvPr/>
        </p:nvSpPr>
        <p:spPr>
          <a:xfrm>
            <a:off x="4709160" y="1280160"/>
            <a:ext cx="3977640" cy="3337560"/>
          </a:xfrm>
          <a:prstGeom prst="roundRect">
            <a:avLst>
              <a:gd name="adj" fmla="val 2192"/>
            </a:avLst>
          </a:prstGeom>
          <a:solidFill>
            <a:srgbClr val="EAF3F0"/>
          </a:solidFill>
          <a:ln w="12700">
            <a:solidFill>
              <a:srgbClr val="EAF3F0"/>
            </a:solidFill>
            <a:prstDash val="solid"/>
          </a:ln>
        </p:spPr>
      </p:sp>
      <p:sp>
        <p:nvSpPr>
          <p:cNvPr id="10" name="Shape 7"/>
          <p:cNvSpPr/>
          <p:nvPr/>
        </p:nvSpPr>
        <p:spPr>
          <a:xfrm>
            <a:off x="4892040" y="1417320"/>
            <a:ext cx="457200" cy="457200"/>
          </a:xfrm>
          <a:prstGeom prst="ellipse">
            <a:avLst/>
          </a:prstGeom>
          <a:solidFill>
            <a:srgbClr val="B5543C"/>
          </a:solidFill>
          <a:ln w="12700">
            <a:solidFill>
              <a:srgbClr val="B5543C"/>
            </a:solidFill>
            <a:prstDash val="solid"/>
          </a:ln>
        </p:spPr>
      </p:sp>
      <p:pic>
        <p:nvPicPr>
          <p:cNvPr id="11" name="Image 1" descr="preencoded.png">    </p:cNvPr>
          <p:cNvPicPr>
            <a:picLocks noChangeAspect="1"/>
          </p:cNvPicPr>
          <p:nvPr/>
        </p:nvPicPr>
        <p:blipFill>
          <a:blip r:embed="rId2"/>
          <a:stretch>
            <a:fillRect/>
          </a:stretch>
        </p:blipFill>
        <p:spPr>
          <a:xfrm>
            <a:off x="5006340" y="1531620"/>
            <a:ext cx="228600" cy="228600"/>
          </a:xfrm>
          <a:prstGeom prst="rect">
            <a:avLst/>
          </a:prstGeom>
        </p:spPr>
      </p:pic>
      <p:sp>
        <p:nvSpPr>
          <p:cNvPr id="12" name="Text 8"/>
          <p:cNvSpPr txBox="1"/>
          <p:nvPr/>
        </p:nvSpPr>
        <p:spPr>
          <a:xfrm>
            <a:off x="5440680" y="1417320"/>
            <a:ext cx="3108960" cy="457200"/>
          </a:xfrm>
          <a:prstGeom prst="rect">
            <a:avLst/>
          </a:prstGeom>
          <a:noFill/>
          <a:ln/>
        </p:spPr>
        <p:txBody>
          <a:bodyPr wrap="square" lIns="0" tIns="0" rIns="0" bIns="0" rtlCol="0" anchor="ctr"/>
          <a:lstStyle/>
          <a:p>
            <a:pPr indent="0" marL="0">
              <a:buNone/>
            </a:pPr>
            <a:r>
              <a:rPr lang="en-US" sz="1500" b="1" dirty="0">
                <a:solidFill>
                  <a:srgbClr val="B5543C"/>
                </a:solidFill>
                <a:latin typeface="Calibri" pitchFamily="34" charset="0"/>
                <a:ea typeface="Calibri" pitchFamily="34" charset="-122"/>
                <a:cs typeface="Calibri" pitchFamily="34" charset="-120"/>
              </a:rPr>
              <a:t>Tidak dibahas</a:t>
            </a:r>
            <a:endParaRPr lang="en-US" sz="1500" dirty="0"/>
          </a:p>
        </p:txBody>
      </p:sp>
      <p:sp>
        <p:nvSpPr>
          <p:cNvPr id="13" name="Text 9"/>
          <p:cNvSpPr txBox="1"/>
          <p:nvPr/>
        </p:nvSpPr>
        <p:spPr>
          <a:xfrm>
            <a:off x="4937760" y="2011680"/>
            <a:ext cx="3611880" cy="25146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Pegawai tidak tetap, bukan pegawai, pensiunan</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PPh selain Pasal 21</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Tanpa NPWP/NIK, lebih dari satu pemberi kerja</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Perjanjian pajak internasional</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LLM</a:t>
            </a:r>
            <a:endParaRPr lang="en-US" sz="1200" dirty="0"/>
          </a:p>
          <a:p>
            <a:pPr marL="342900" indent="-342900">
              <a:spcAft>
                <a:spcPts val="500"/>
              </a:spcAft>
              <a:buSzPct val="100000"/>
              <a:buChar char="•"/>
            </a:pPr>
            <a:r>
              <a:rPr lang="en-US" sz="1200" dirty="0">
                <a:solidFill>
                  <a:srgbClr val="1E2B2B"/>
                </a:solidFill>
                <a:latin typeface="Calibri" pitchFamily="34" charset="0"/>
                <a:ea typeface="Calibri" pitchFamily="34" charset="-122"/>
                <a:cs typeface="Calibri" pitchFamily="34" charset="-120"/>
              </a:rPr>
              <a:t>Data pajak riil pegawai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06 · DATASET</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Data yang Digunakan</a:t>
            </a:r>
            <a:endParaRPr lang="en-US" sz="2800" dirty="0"/>
          </a:p>
        </p:txBody>
      </p:sp>
      <p:sp>
        <p:nvSpPr>
          <p:cNvPr id="4" name="Shape 2"/>
          <p:cNvSpPr/>
          <p:nvPr/>
        </p:nvSpPr>
        <p:spPr>
          <a:xfrm>
            <a:off x="457200" y="1280160"/>
            <a:ext cx="1920240" cy="2651760"/>
          </a:xfrm>
          <a:prstGeom prst="roundRect">
            <a:avLst>
              <a:gd name="adj" fmla="val 3810"/>
            </a:avLst>
          </a:prstGeom>
          <a:solidFill>
            <a:srgbClr val="EAF3F0"/>
          </a:solidFill>
          <a:ln w="12700">
            <a:solidFill>
              <a:srgbClr val="EAF3F0"/>
            </a:solidFill>
            <a:prstDash val="solid"/>
          </a:ln>
        </p:spPr>
      </p:sp>
      <p:sp>
        <p:nvSpPr>
          <p:cNvPr id="5" name="Shape 3"/>
          <p:cNvSpPr/>
          <p:nvPr/>
        </p:nvSpPr>
        <p:spPr>
          <a:xfrm>
            <a:off x="594360" y="1417320"/>
            <a:ext cx="457200" cy="457200"/>
          </a:xfrm>
          <a:prstGeom prst="ellipse">
            <a:avLst/>
          </a:prstGeom>
          <a:solidFill>
            <a:srgbClr val="0F3D3E"/>
          </a:solidFill>
          <a:ln w="12700">
            <a:solidFill>
              <a:srgbClr val="0F3D3E"/>
            </a:solidFill>
            <a:prstDash val="solid"/>
          </a:ln>
        </p:spPr>
      </p:sp>
      <p:pic>
        <p:nvPicPr>
          <p:cNvPr id="6" name="Image 0" descr="preencoded.png">    </p:cNvPr>
          <p:cNvPicPr>
            <a:picLocks noChangeAspect="1"/>
          </p:cNvPicPr>
          <p:nvPr/>
        </p:nvPicPr>
        <p:blipFill>
          <a:blip r:embed="rId1"/>
          <a:stretch>
            <a:fillRect/>
          </a:stretch>
        </p:blipFill>
        <p:spPr>
          <a:xfrm>
            <a:off x="708660" y="1531620"/>
            <a:ext cx="228600" cy="228600"/>
          </a:xfrm>
          <a:prstGeom prst="rect">
            <a:avLst/>
          </a:prstGeom>
        </p:spPr>
      </p:pic>
      <p:sp>
        <p:nvSpPr>
          <p:cNvPr id="7" name="Text 4"/>
          <p:cNvSpPr txBox="1"/>
          <p:nvPr/>
        </p:nvSpPr>
        <p:spPr>
          <a:xfrm>
            <a:off x="1115568" y="1417320"/>
            <a:ext cx="1188720" cy="457200"/>
          </a:xfrm>
          <a:prstGeom prst="rect">
            <a:avLst/>
          </a:prstGeom>
          <a:noFill/>
          <a:ln/>
        </p:spPr>
        <p:txBody>
          <a:bodyPr wrap="square" lIns="0" tIns="0" rIns="0" bIns="0" rtlCol="0" anchor="ctr"/>
          <a:lstStyle/>
          <a:p>
            <a:pPr indent="0" marL="0">
              <a:buNone/>
            </a:pPr>
            <a:r>
              <a:rPr lang="en-US" sz="1300" b="1" dirty="0">
                <a:solidFill>
                  <a:srgbClr val="0F3D3E"/>
                </a:solidFill>
                <a:latin typeface="Calibri" pitchFamily="34" charset="0"/>
                <a:ea typeface="Calibri" pitchFamily="34" charset="-122"/>
                <a:cs typeface="Calibri" pitchFamily="34" charset="-120"/>
              </a:rPr>
              <a:t>Regulasi</a:t>
            </a:r>
            <a:endParaRPr lang="en-US" sz="1300" dirty="0"/>
          </a:p>
        </p:txBody>
      </p:sp>
      <p:sp>
        <p:nvSpPr>
          <p:cNvPr id="8" name="Text 5"/>
          <p:cNvSpPr txBox="1"/>
          <p:nvPr/>
        </p:nvSpPr>
        <p:spPr>
          <a:xfrm>
            <a:off x="594360" y="2011680"/>
            <a:ext cx="1645920" cy="457200"/>
          </a:xfrm>
          <a:prstGeom prst="rect">
            <a:avLst/>
          </a:prstGeom>
          <a:noFill/>
          <a:ln/>
        </p:spPr>
        <p:txBody>
          <a:bodyPr wrap="square" lIns="0" tIns="0" rIns="0" bIns="0" rtlCol="0" anchor="t"/>
          <a:lstStyle/>
          <a:p>
            <a:pPr indent="0" marL="0">
              <a:buNone/>
            </a:pPr>
            <a:r>
              <a:rPr lang="en-US" sz="1800" b="1" dirty="0">
                <a:solidFill>
                  <a:srgbClr val="0F3D3E"/>
                </a:solidFill>
                <a:latin typeface="Cambria" pitchFamily="34" charset="0"/>
                <a:ea typeface="Cambria" pitchFamily="34" charset="-122"/>
                <a:cs typeface="Cambria" pitchFamily="34" charset="-120"/>
              </a:rPr>
              <a:t>7 dokumen</a:t>
            </a:r>
            <a:endParaRPr lang="en-US" sz="1800" dirty="0"/>
          </a:p>
        </p:txBody>
      </p:sp>
      <p:sp>
        <p:nvSpPr>
          <p:cNvPr id="9" name="Text 6"/>
          <p:cNvSpPr txBox="1"/>
          <p:nvPr/>
        </p:nvSpPr>
        <p:spPr>
          <a:xfrm>
            <a:off x="594360" y="2514600"/>
            <a:ext cx="1645920" cy="1325880"/>
          </a:xfrm>
          <a:prstGeom prst="rect">
            <a:avLst/>
          </a:prstGeom>
          <a:noFill/>
          <a:ln/>
        </p:spPr>
        <p:txBody>
          <a:bodyPr wrap="square" lIns="0" tIns="0" rIns="0" bIns="0" rtlCol="0" anchor="t"/>
          <a:lstStyle/>
          <a:p>
            <a:pPr indent="0" marL="0">
              <a:buNone/>
            </a:pPr>
            <a:r>
              <a:rPr lang="en-US" sz="1100" dirty="0">
                <a:solidFill>
                  <a:srgbClr val="5B6B6B"/>
                </a:solidFill>
                <a:latin typeface="Calibri" pitchFamily="34" charset="0"/>
                <a:ea typeface="Calibri" pitchFamily="34" charset="-122"/>
                <a:cs typeface="Calibri" pitchFamily="34" charset="-120"/>
              </a:rPr>
              <a:t>UU PPh/HPP, PP 58/2023, PMK 168/2023, PMK 66/2023, DTP, PER-16</a:t>
            </a:r>
            <a:endParaRPr lang="en-US" sz="1100" dirty="0"/>
          </a:p>
        </p:txBody>
      </p:sp>
      <p:sp>
        <p:nvSpPr>
          <p:cNvPr id="10" name="Shape 7"/>
          <p:cNvSpPr/>
          <p:nvPr/>
        </p:nvSpPr>
        <p:spPr>
          <a:xfrm>
            <a:off x="2560320" y="1280160"/>
            <a:ext cx="1920240" cy="2651760"/>
          </a:xfrm>
          <a:prstGeom prst="roundRect">
            <a:avLst>
              <a:gd name="adj" fmla="val 3810"/>
            </a:avLst>
          </a:prstGeom>
          <a:solidFill>
            <a:srgbClr val="EAF3F0"/>
          </a:solidFill>
          <a:ln w="12700">
            <a:solidFill>
              <a:srgbClr val="EAF3F0"/>
            </a:solidFill>
            <a:prstDash val="solid"/>
          </a:ln>
        </p:spPr>
      </p:sp>
      <p:sp>
        <p:nvSpPr>
          <p:cNvPr id="11" name="Shape 8"/>
          <p:cNvSpPr/>
          <p:nvPr/>
        </p:nvSpPr>
        <p:spPr>
          <a:xfrm>
            <a:off x="2697480" y="1417320"/>
            <a:ext cx="457200" cy="457200"/>
          </a:xfrm>
          <a:prstGeom prst="ellipse">
            <a:avLst/>
          </a:prstGeom>
          <a:solidFill>
            <a:srgbClr val="0F3D3E"/>
          </a:solidFill>
          <a:ln w="12700">
            <a:solidFill>
              <a:srgbClr val="0F3D3E"/>
            </a:solidFill>
            <a:prstDash val="solid"/>
          </a:ln>
        </p:spPr>
      </p:sp>
      <p:pic>
        <p:nvPicPr>
          <p:cNvPr id="12" name="Image 1" descr="preencoded.png">    </p:cNvPr>
          <p:cNvPicPr>
            <a:picLocks noChangeAspect="1"/>
          </p:cNvPicPr>
          <p:nvPr/>
        </p:nvPicPr>
        <p:blipFill>
          <a:blip r:embed="rId2"/>
          <a:stretch>
            <a:fillRect/>
          </a:stretch>
        </p:blipFill>
        <p:spPr>
          <a:xfrm>
            <a:off x="2811780" y="1531620"/>
            <a:ext cx="228600" cy="228600"/>
          </a:xfrm>
          <a:prstGeom prst="rect">
            <a:avLst/>
          </a:prstGeom>
        </p:spPr>
      </p:pic>
      <p:sp>
        <p:nvSpPr>
          <p:cNvPr id="13" name="Text 9"/>
          <p:cNvSpPr txBox="1"/>
          <p:nvPr/>
        </p:nvSpPr>
        <p:spPr>
          <a:xfrm>
            <a:off x="3218688" y="1417320"/>
            <a:ext cx="1188720" cy="457200"/>
          </a:xfrm>
          <a:prstGeom prst="rect">
            <a:avLst/>
          </a:prstGeom>
          <a:noFill/>
          <a:ln/>
        </p:spPr>
        <p:txBody>
          <a:bodyPr wrap="square" lIns="0" tIns="0" rIns="0" bIns="0" rtlCol="0" anchor="ctr"/>
          <a:lstStyle/>
          <a:p>
            <a:pPr indent="0" marL="0">
              <a:buNone/>
            </a:pPr>
            <a:r>
              <a:rPr lang="en-US" sz="1300" b="1" dirty="0">
                <a:solidFill>
                  <a:srgbClr val="0F3D3E"/>
                </a:solidFill>
                <a:latin typeface="Calibri" pitchFamily="34" charset="0"/>
                <a:ea typeface="Calibri" pitchFamily="34" charset="-122"/>
                <a:cs typeface="Calibri" pitchFamily="34" charset="-120"/>
              </a:rPr>
              <a:t>Contoh resmi</a:t>
            </a:r>
            <a:endParaRPr lang="en-US" sz="1300" dirty="0"/>
          </a:p>
        </p:txBody>
      </p:sp>
      <p:sp>
        <p:nvSpPr>
          <p:cNvPr id="14" name="Text 10"/>
          <p:cNvSpPr txBox="1"/>
          <p:nvPr/>
        </p:nvSpPr>
        <p:spPr>
          <a:xfrm>
            <a:off x="2697480" y="2011680"/>
            <a:ext cx="1645920" cy="457200"/>
          </a:xfrm>
          <a:prstGeom prst="rect">
            <a:avLst/>
          </a:prstGeom>
          <a:noFill/>
          <a:ln/>
        </p:spPr>
        <p:txBody>
          <a:bodyPr wrap="square" lIns="0" tIns="0" rIns="0" bIns="0" rtlCol="0" anchor="t"/>
          <a:lstStyle/>
          <a:p>
            <a:pPr indent="0" marL="0">
              <a:buNone/>
            </a:pPr>
            <a:r>
              <a:rPr lang="en-US" sz="1800" b="1" dirty="0">
                <a:solidFill>
                  <a:srgbClr val="0F3D3E"/>
                </a:solidFill>
                <a:latin typeface="Cambria" pitchFamily="34" charset="0"/>
                <a:ea typeface="Cambria" pitchFamily="34" charset="-122"/>
                <a:cs typeface="Cambria" pitchFamily="34" charset="-120"/>
              </a:rPr>
              <a:t>Puluhan</a:t>
            </a:r>
            <a:endParaRPr lang="en-US" sz="1800" dirty="0"/>
          </a:p>
        </p:txBody>
      </p:sp>
      <p:sp>
        <p:nvSpPr>
          <p:cNvPr id="15" name="Text 11"/>
          <p:cNvSpPr txBox="1"/>
          <p:nvPr/>
        </p:nvSpPr>
        <p:spPr>
          <a:xfrm>
            <a:off x="2697480" y="2514600"/>
            <a:ext cx="1645920" cy="1325880"/>
          </a:xfrm>
          <a:prstGeom prst="rect">
            <a:avLst/>
          </a:prstGeom>
          <a:noFill/>
          <a:ln/>
        </p:spPr>
        <p:txBody>
          <a:bodyPr wrap="square" lIns="0" tIns="0" rIns="0" bIns="0" rtlCol="0" anchor="t"/>
          <a:lstStyle/>
          <a:p>
            <a:pPr indent="0" marL="0">
              <a:buNone/>
            </a:pPr>
            <a:r>
              <a:rPr lang="en-US" sz="1100" dirty="0">
                <a:solidFill>
                  <a:srgbClr val="5B6B6B"/>
                </a:solidFill>
                <a:latin typeface="Calibri" pitchFamily="34" charset="0"/>
                <a:ea typeface="Calibri" pitchFamily="34" charset="-122"/>
                <a:cs typeface="Calibri" pitchFamily="34" charset="-120"/>
              </a:rPr>
              <a:t>Lampiran PMK 168/2023 dan publikasi DJP, termasuk gross-up</a:t>
            </a:r>
            <a:endParaRPr lang="en-US" sz="1100" dirty="0"/>
          </a:p>
        </p:txBody>
      </p:sp>
      <p:sp>
        <p:nvSpPr>
          <p:cNvPr id="16" name="Shape 12"/>
          <p:cNvSpPr/>
          <p:nvPr/>
        </p:nvSpPr>
        <p:spPr>
          <a:xfrm>
            <a:off x="4663440" y="1280160"/>
            <a:ext cx="1920240" cy="2651760"/>
          </a:xfrm>
          <a:prstGeom prst="roundRect">
            <a:avLst>
              <a:gd name="adj" fmla="val 3810"/>
            </a:avLst>
          </a:prstGeom>
          <a:solidFill>
            <a:srgbClr val="EAF3F0"/>
          </a:solidFill>
          <a:ln w="12700">
            <a:solidFill>
              <a:srgbClr val="EAF3F0"/>
            </a:solidFill>
            <a:prstDash val="solid"/>
          </a:ln>
        </p:spPr>
      </p:sp>
      <p:sp>
        <p:nvSpPr>
          <p:cNvPr id="17" name="Shape 13"/>
          <p:cNvSpPr/>
          <p:nvPr/>
        </p:nvSpPr>
        <p:spPr>
          <a:xfrm>
            <a:off x="4800600" y="1417320"/>
            <a:ext cx="457200" cy="457200"/>
          </a:xfrm>
          <a:prstGeom prst="ellipse">
            <a:avLst/>
          </a:prstGeom>
          <a:solidFill>
            <a:srgbClr val="0F3D3E"/>
          </a:solidFill>
          <a:ln w="12700">
            <a:solidFill>
              <a:srgbClr val="0F3D3E"/>
            </a:solidFill>
            <a:prstDash val="solid"/>
          </a:ln>
        </p:spPr>
      </p:sp>
      <p:pic>
        <p:nvPicPr>
          <p:cNvPr id="18" name="Image 2" descr="preencoded.png">    </p:cNvPr>
          <p:cNvPicPr>
            <a:picLocks noChangeAspect="1"/>
          </p:cNvPicPr>
          <p:nvPr/>
        </p:nvPicPr>
        <p:blipFill>
          <a:blip r:embed="rId3"/>
          <a:stretch>
            <a:fillRect/>
          </a:stretch>
        </p:blipFill>
        <p:spPr>
          <a:xfrm>
            <a:off x="4914900" y="1531620"/>
            <a:ext cx="228600" cy="228600"/>
          </a:xfrm>
          <a:prstGeom prst="rect">
            <a:avLst/>
          </a:prstGeom>
        </p:spPr>
      </p:pic>
      <p:sp>
        <p:nvSpPr>
          <p:cNvPr id="19" name="Text 14"/>
          <p:cNvSpPr txBox="1"/>
          <p:nvPr/>
        </p:nvSpPr>
        <p:spPr>
          <a:xfrm>
            <a:off x="5321808" y="1417320"/>
            <a:ext cx="1188720" cy="457200"/>
          </a:xfrm>
          <a:prstGeom prst="rect">
            <a:avLst/>
          </a:prstGeom>
          <a:noFill/>
          <a:ln/>
        </p:spPr>
        <p:txBody>
          <a:bodyPr wrap="square" lIns="0" tIns="0" rIns="0" bIns="0" rtlCol="0" anchor="ctr"/>
          <a:lstStyle/>
          <a:p>
            <a:pPr indent="0" marL="0">
              <a:buNone/>
            </a:pPr>
            <a:r>
              <a:rPr lang="en-US" sz="1300" b="1" dirty="0">
                <a:solidFill>
                  <a:srgbClr val="0F3D3E"/>
                </a:solidFill>
                <a:latin typeface="Calibri" pitchFamily="34" charset="0"/>
                <a:ea typeface="Calibri" pitchFamily="34" charset="-122"/>
                <a:cs typeface="Calibri" pitchFamily="34" charset="-120"/>
              </a:rPr>
              <a:t>Implementasi diuji</a:t>
            </a:r>
            <a:endParaRPr lang="en-US" sz="1300" dirty="0"/>
          </a:p>
        </p:txBody>
      </p:sp>
      <p:sp>
        <p:nvSpPr>
          <p:cNvPr id="20" name="Text 15"/>
          <p:cNvSpPr txBox="1"/>
          <p:nvPr/>
        </p:nvSpPr>
        <p:spPr>
          <a:xfrm>
            <a:off x="4800600" y="2011680"/>
            <a:ext cx="1645920" cy="457200"/>
          </a:xfrm>
          <a:prstGeom prst="rect">
            <a:avLst/>
          </a:prstGeom>
          <a:noFill/>
          <a:ln/>
        </p:spPr>
        <p:txBody>
          <a:bodyPr wrap="square" lIns="0" tIns="0" rIns="0" bIns="0" rtlCol="0" anchor="t"/>
          <a:lstStyle/>
          <a:p>
            <a:pPr indent="0" marL="0">
              <a:buNone/>
            </a:pPr>
            <a:r>
              <a:rPr lang="en-US" sz="1800" b="1" dirty="0">
                <a:solidFill>
                  <a:srgbClr val="0F3D3E"/>
                </a:solidFill>
                <a:latin typeface="Cambria" pitchFamily="34" charset="0"/>
                <a:ea typeface="Cambria" pitchFamily="34" charset="-122"/>
                <a:cs typeface="Cambria" pitchFamily="34" charset="-120"/>
              </a:rPr>
              <a:t>7–12</a:t>
            </a:r>
            <a:endParaRPr lang="en-US" sz="1800" dirty="0"/>
          </a:p>
        </p:txBody>
      </p:sp>
      <p:sp>
        <p:nvSpPr>
          <p:cNvPr id="21" name="Text 16"/>
          <p:cNvSpPr txBox="1"/>
          <p:nvPr/>
        </p:nvSpPr>
        <p:spPr>
          <a:xfrm>
            <a:off x="4800600" y="2514600"/>
            <a:ext cx="1645920" cy="1325880"/>
          </a:xfrm>
          <a:prstGeom prst="rect">
            <a:avLst/>
          </a:prstGeom>
          <a:noFill/>
          <a:ln/>
        </p:spPr>
        <p:txBody>
          <a:bodyPr wrap="square" lIns="0" tIns="0" rIns="0" bIns="0" rtlCol="0" anchor="t"/>
          <a:lstStyle/>
          <a:p>
            <a:pPr indent="0" marL="0">
              <a:buNone/>
            </a:pPr>
            <a:r>
              <a:rPr lang="en-US" sz="1100" dirty="0">
                <a:solidFill>
                  <a:srgbClr val="5B6B6B"/>
                </a:solidFill>
                <a:latin typeface="Calibri" pitchFamily="34" charset="0"/>
                <a:ea typeface="Calibri" pitchFamily="34" charset="-122"/>
                <a:cs typeface="Calibri" pitchFamily="34" charset="-120"/>
              </a:rPr>
              <a:t>Library open source, kalkulator online, mesin payroll berlapis</a:t>
            </a:r>
            <a:endParaRPr lang="en-US" sz="1100" dirty="0"/>
          </a:p>
        </p:txBody>
      </p:sp>
      <p:sp>
        <p:nvSpPr>
          <p:cNvPr id="22" name="Shape 17"/>
          <p:cNvSpPr/>
          <p:nvPr/>
        </p:nvSpPr>
        <p:spPr>
          <a:xfrm>
            <a:off x="6766560" y="1280160"/>
            <a:ext cx="1920240" cy="2651760"/>
          </a:xfrm>
          <a:prstGeom prst="roundRect">
            <a:avLst>
              <a:gd name="adj" fmla="val 3810"/>
            </a:avLst>
          </a:prstGeom>
          <a:solidFill>
            <a:srgbClr val="0F3D3E"/>
          </a:solidFill>
          <a:ln w="12700">
            <a:solidFill>
              <a:srgbClr val="0F3D3E"/>
            </a:solidFill>
            <a:prstDash val="solid"/>
          </a:ln>
        </p:spPr>
      </p:sp>
      <p:sp>
        <p:nvSpPr>
          <p:cNvPr id="23" name="Shape 18"/>
          <p:cNvSpPr/>
          <p:nvPr/>
        </p:nvSpPr>
        <p:spPr>
          <a:xfrm>
            <a:off x="6903720" y="1417320"/>
            <a:ext cx="457200" cy="457200"/>
          </a:xfrm>
          <a:prstGeom prst="ellipse">
            <a:avLst/>
          </a:prstGeom>
          <a:solidFill>
            <a:srgbClr val="E8A33D"/>
          </a:solidFill>
          <a:ln w="12700">
            <a:solidFill>
              <a:srgbClr val="E8A33D"/>
            </a:solidFill>
            <a:prstDash val="solid"/>
          </a:ln>
        </p:spPr>
      </p:sp>
      <p:pic>
        <p:nvPicPr>
          <p:cNvPr id="24" name="Image 3" descr="preencoded.png">    </p:cNvPr>
          <p:cNvPicPr>
            <a:picLocks noChangeAspect="1"/>
          </p:cNvPicPr>
          <p:nvPr/>
        </p:nvPicPr>
        <p:blipFill>
          <a:blip r:embed="rId4"/>
          <a:stretch>
            <a:fillRect/>
          </a:stretch>
        </p:blipFill>
        <p:spPr>
          <a:xfrm>
            <a:off x="7018020" y="1531620"/>
            <a:ext cx="228600" cy="228600"/>
          </a:xfrm>
          <a:prstGeom prst="rect">
            <a:avLst/>
          </a:prstGeom>
        </p:spPr>
      </p:pic>
      <p:sp>
        <p:nvSpPr>
          <p:cNvPr id="25" name="Text 19"/>
          <p:cNvSpPr txBox="1"/>
          <p:nvPr/>
        </p:nvSpPr>
        <p:spPr>
          <a:xfrm>
            <a:off x="7424928" y="1417320"/>
            <a:ext cx="11887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dibangun</a:t>
            </a:r>
            <a:endParaRPr lang="en-US" sz="1300" dirty="0"/>
          </a:p>
        </p:txBody>
      </p:sp>
      <p:sp>
        <p:nvSpPr>
          <p:cNvPr id="26" name="Text 20"/>
          <p:cNvSpPr txBox="1"/>
          <p:nvPr/>
        </p:nvSpPr>
        <p:spPr>
          <a:xfrm>
            <a:off x="6903720" y="2011680"/>
            <a:ext cx="1645920" cy="457200"/>
          </a:xfrm>
          <a:prstGeom prst="rect">
            <a:avLst/>
          </a:prstGeom>
          <a:noFill/>
          <a:ln/>
        </p:spPr>
        <p:txBody>
          <a:bodyPr wrap="square" lIns="0" tIns="0" rIns="0" bIns="0" rtlCol="0" anchor="t"/>
          <a:lstStyle/>
          <a:p>
            <a:pPr indent="0" marL="0">
              <a:buNone/>
            </a:pPr>
            <a:r>
              <a:rPr lang="en-US" sz="1800" b="1" dirty="0">
                <a:solidFill>
                  <a:srgbClr val="E8A33D"/>
                </a:solidFill>
                <a:latin typeface="Cambria" pitchFamily="34" charset="0"/>
                <a:ea typeface="Cambria" pitchFamily="34" charset="-122"/>
                <a:cs typeface="Cambria" pitchFamily="34" charset="-120"/>
              </a:rPr>
              <a:t>10–100 rb kasus</a:t>
            </a:r>
            <a:endParaRPr lang="en-US" sz="1800" dirty="0"/>
          </a:p>
        </p:txBody>
      </p:sp>
      <p:sp>
        <p:nvSpPr>
          <p:cNvPr id="27" name="Text 21"/>
          <p:cNvSpPr txBox="1"/>
          <p:nvPr/>
        </p:nvSpPr>
        <p:spPr>
          <a:xfrm>
            <a:off x="6903720" y="2514600"/>
            <a:ext cx="1645920" cy="13258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Knowledge base, 10–20 kebijakan, kasus uji, peta solusi gross-up</a:t>
            </a:r>
            <a:endParaRPr lang="en-US" sz="1100" dirty="0"/>
          </a:p>
        </p:txBody>
      </p:sp>
      <p:sp>
        <p:nvSpPr>
          <p:cNvPr id="28" name="Shape 22"/>
          <p:cNvSpPr/>
          <p:nvPr/>
        </p:nvSpPr>
        <p:spPr>
          <a:xfrm>
            <a:off x="457200" y="4114800"/>
            <a:ext cx="411480" cy="411480"/>
          </a:xfrm>
          <a:prstGeom prst="ellipse">
            <a:avLst/>
          </a:prstGeom>
          <a:solidFill>
            <a:srgbClr val="2E7D5B"/>
          </a:solidFill>
          <a:ln w="12700">
            <a:solidFill>
              <a:srgbClr val="2E7D5B"/>
            </a:solidFill>
            <a:prstDash val="solid"/>
          </a:ln>
        </p:spPr>
      </p:sp>
      <p:pic>
        <p:nvPicPr>
          <p:cNvPr id="29" name="Image 4" descr="preencoded.png">    </p:cNvPr>
          <p:cNvPicPr>
            <a:picLocks noChangeAspect="1"/>
          </p:cNvPicPr>
          <p:nvPr/>
        </p:nvPicPr>
        <p:blipFill>
          <a:blip r:embed="rId5"/>
          <a:stretch>
            <a:fillRect/>
          </a:stretch>
        </p:blipFill>
        <p:spPr>
          <a:xfrm>
            <a:off x="560070" y="4217670"/>
            <a:ext cx="205740" cy="205740"/>
          </a:xfrm>
          <a:prstGeom prst="rect">
            <a:avLst/>
          </a:prstGeom>
        </p:spPr>
      </p:pic>
      <p:sp>
        <p:nvSpPr>
          <p:cNvPr id="30" name="Text 23"/>
          <p:cNvSpPr txBox="1"/>
          <p:nvPr/>
        </p:nvSpPr>
        <p:spPr>
          <a:xfrm>
            <a:off x="1005840" y="4114800"/>
            <a:ext cx="7680960" cy="411480"/>
          </a:xfrm>
          <a:prstGeom prst="rect">
            <a:avLst/>
          </a:prstGeom>
          <a:noFill/>
          <a:ln/>
        </p:spPr>
        <p:txBody>
          <a:bodyPr wrap="square" lIns="0" tIns="0" rIns="0" bIns="0" rtlCol="0" anchor="ctr"/>
          <a:lstStyle/>
          <a:p>
            <a:pPr indent="0" marL="0">
              <a:buNone/>
            </a:pPr>
            <a:r>
              <a:rPr lang="en-US" sz="1200" dirty="0">
                <a:solidFill>
                  <a:srgbClr val="1E2B2B"/>
                </a:solidFill>
                <a:latin typeface="Calibri" pitchFamily="34" charset="0"/>
                <a:ea typeface="Calibri" pitchFamily="34" charset="-122"/>
                <a:cs typeface="Calibri" pitchFamily="34" charset="-120"/>
              </a:rPr>
              <a:t>Semua data publik dan gratis. Tidak memakai data pajak riil pegawai; kasus uji dibangkitkan dan difokuskan pada titik rawan.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07 · METODE</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Delapan Tahap Penelitian</a:t>
            </a:r>
            <a:endParaRPr lang="en-US" sz="2800" dirty="0"/>
          </a:p>
        </p:txBody>
      </p:sp>
      <p:sp>
        <p:nvSpPr>
          <p:cNvPr id="4" name="Shape 2"/>
          <p:cNvSpPr/>
          <p:nvPr/>
        </p:nvSpPr>
        <p:spPr>
          <a:xfrm>
            <a:off x="457200" y="1325880"/>
            <a:ext cx="1920240" cy="1371600"/>
          </a:xfrm>
          <a:prstGeom prst="roundRect">
            <a:avLst>
              <a:gd name="adj" fmla="val 5333"/>
            </a:avLst>
          </a:prstGeom>
          <a:solidFill>
            <a:srgbClr val="EAF3F0"/>
          </a:solidFill>
          <a:ln w="12700">
            <a:solidFill>
              <a:srgbClr val="EAF3F0"/>
            </a:solidFill>
            <a:prstDash val="solid"/>
          </a:ln>
        </p:spPr>
      </p:sp>
      <p:sp>
        <p:nvSpPr>
          <p:cNvPr id="5" name="Shape 3"/>
          <p:cNvSpPr/>
          <p:nvPr/>
        </p:nvSpPr>
        <p:spPr>
          <a:xfrm>
            <a:off x="594360" y="1463040"/>
            <a:ext cx="411480" cy="411480"/>
          </a:xfrm>
          <a:prstGeom prst="ellipse">
            <a:avLst/>
          </a:prstGeom>
          <a:solidFill>
            <a:srgbClr val="E8A33D"/>
          </a:solidFill>
          <a:ln w="12700">
            <a:solidFill>
              <a:srgbClr val="E8A33D"/>
            </a:solidFill>
            <a:prstDash val="solid"/>
          </a:ln>
        </p:spPr>
      </p:sp>
      <p:sp>
        <p:nvSpPr>
          <p:cNvPr id="6" name="Text 4"/>
          <p:cNvSpPr txBox="1"/>
          <p:nvPr/>
        </p:nvSpPr>
        <p:spPr>
          <a:xfrm>
            <a:off x="594360" y="1463040"/>
            <a:ext cx="411480" cy="41148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594360" y="1947672"/>
            <a:ext cx="1645920" cy="457200"/>
          </a:xfrm>
          <a:prstGeom prst="rect">
            <a:avLst/>
          </a:prstGeom>
          <a:noFill/>
          <a:ln/>
        </p:spPr>
        <p:txBody>
          <a:bodyPr wrap="square" lIns="0" tIns="0" rIns="0" bIns="0" rtlCol="0" anchor="t"/>
          <a:lstStyle/>
          <a:p>
            <a:pPr indent="0" marL="0">
              <a:buNone/>
            </a:pPr>
            <a:r>
              <a:rPr lang="en-US" sz="1200" b="1" dirty="0">
                <a:solidFill>
                  <a:srgbClr val="0F3D3E"/>
                </a:solidFill>
                <a:latin typeface="Calibri" pitchFamily="34" charset="0"/>
                <a:ea typeface="Calibri" pitchFamily="34" charset="-122"/>
                <a:cs typeface="Calibri" pitchFamily="34" charset="-120"/>
              </a:rPr>
              <a:t>Tinjauan pustaka sistematis</a:t>
            </a:r>
            <a:endParaRPr lang="en-US" sz="1200" dirty="0"/>
          </a:p>
        </p:txBody>
      </p:sp>
      <p:sp>
        <p:nvSpPr>
          <p:cNvPr id="8" name="Text 6"/>
          <p:cNvSpPr txBox="1"/>
          <p:nvPr/>
        </p:nvSpPr>
        <p:spPr>
          <a:xfrm>
            <a:off x="594360" y="2395728"/>
            <a:ext cx="1645920" cy="256032"/>
          </a:xfrm>
          <a:prstGeom prst="rect">
            <a:avLst/>
          </a:prstGeom>
          <a:noFill/>
          <a:ln/>
        </p:spPr>
        <p:txBody>
          <a:bodyPr wrap="square" lIns="0" tIns="0" rIns="0" bIns="0" rtlCol="0" anchor="t"/>
          <a:lstStyle/>
          <a:p>
            <a:pPr indent="0" marL="0">
              <a:buNone/>
            </a:pPr>
            <a:r>
              <a:rPr lang="en-US" sz="1000" dirty="0">
                <a:solidFill>
                  <a:srgbClr val="5B6B6B"/>
                </a:solidFill>
                <a:latin typeface="Calibri" pitchFamily="34" charset="0"/>
                <a:ea typeface="Calibri" pitchFamily="34" charset="-122"/>
                <a:cs typeface="Calibri" pitchFamily="34" charset="-120"/>
              </a:rPr>
              <a:t>Bulan 1–2</a:t>
            </a:r>
            <a:endParaRPr lang="en-US" sz="1000" dirty="0"/>
          </a:p>
        </p:txBody>
      </p:sp>
      <p:sp>
        <p:nvSpPr>
          <p:cNvPr id="9" name="Shape 7"/>
          <p:cNvSpPr/>
          <p:nvPr/>
        </p:nvSpPr>
        <p:spPr>
          <a:xfrm>
            <a:off x="2560320" y="1325880"/>
            <a:ext cx="1920240" cy="1371600"/>
          </a:xfrm>
          <a:prstGeom prst="roundRect">
            <a:avLst>
              <a:gd name="adj" fmla="val 5333"/>
            </a:avLst>
          </a:prstGeom>
          <a:solidFill>
            <a:srgbClr val="EAF3F0"/>
          </a:solidFill>
          <a:ln w="12700">
            <a:solidFill>
              <a:srgbClr val="EAF3F0"/>
            </a:solidFill>
            <a:prstDash val="solid"/>
          </a:ln>
        </p:spPr>
      </p:sp>
      <p:sp>
        <p:nvSpPr>
          <p:cNvPr id="10" name="Shape 8"/>
          <p:cNvSpPr/>
          <p:nvPr/>
        </p:nvSpPr>
        <p:spPr>
          <a:xfrm>
            <a:off x="2697480" y="1463040"/>
            <a:ext cx="411480" cy="411480"/>
          </a:xfrm>
          <a:prstGeom prst="ellipse">
            <a:avLst/>
          </a:prstGeom>
          <a:solidFill>
            <a:srgbClr val="E8A33D"/>
          </a:solidFill>
          <a:ln w="12700">
            <a:solidFill>
              <a:srgbClr val="E8A33D"/>
            </a:solidFill>
            <a:prstDash val="solid"/>
          </a:ln>
        </p:spPr>
      </p:sp>
      <p:sp>
        <p:nvSpPr>
          <p:cNvPr id="11" name="Text 9"/>
          <p:cNvSpPr txBox="1"/>
          <p:nvPr/>
        </p:nvSpPr>
        <p:spPr>
          <a:xfrm>
            <a:off x="2697480" y="1463040"/>
            <a:ext cx="411480" cy="41148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2697480" y="1947672"/>
            <a:ext cx="1645920" cy="457200"/>
          </a:xfrm>
          <a:prstGeom prst="rect">
            <a:avLst/>
          </a:prstGeom>
          <a:noFill/>
          <a:ln/>
        </p:spPr>
        <p:txBody>
          <a:bodyPr wrap="square" lIns="0" tIns="0" rIns="0" bIns="0" rtlCol="0" anchor="t"/>
          <a:lstStyle/>
          <a:p>
            <a:pPr indent="0" marL="0">
              <a:buNone/>
            </a:pPr>
            <a:r>
              <a:rPr lang="en-US" sz="1200" b="1" dirty="0">
                <a:solidFill>
                  <a:srgbClr val="0F3D3E"/>
                </a:solidFill>
                <a:latin typeface="Calibri" pitchFamily="34" charset="0"/>
                <a:ea typeface="Calibri" pitchFamily="34" charset="-122"/>
                <a:cs typeface="Calibri" pitchFamily="34" charset="-120"/>
              </a:rPr>
              <a:t>Kodifikasi regulasi</a:t>
            </a:r>
            <a:endParaRPr lang="en-US" sz="1200" dirty="0"/>
          </a:p>
        </p:txBody>
      </p:sp>
      <p:sp>
        <p:nvSpPr>
          <p:cNvPr id="13" name="Text 11"/>
          <p:cNvSpPr txBox="1"/>
          <p:nvPr/>
        </p:nvSpPr>
        <p:spPr>
          <a:xfrm>
            <a:off x="2697480" y="2395728"/>
            <a:ext cx="1645920" cy="256032"/>
          </a:xfrm>
          <a:prstGeom prst="rect">
            <a:avLst/>
          </a:prstGeom>
          <a:noFill/>
          <a:ln/>
        </p:spPr>
        <p:txBody>
          <a:bodyPr wrap="square" lIns="0" tIns="0" rIns="0" bIns="0" rtlCol="0" anchor="t"/>
          <a:lstStyle/>
          <a:p>
            <a:pPr indent="0" marL="0">
              <a:buNone/>
            </a:pPr>
            <a:r>
              <a:rPr lang="en-US" sz="1000" dirty="0">
                <a:solidFill>
                  <a:srgbClr val="5B6B6B"/>
                </a:solidFill>
                <a:latin typeface="Calibri" pitchFamily="34" charset="0"/>
                <a:ea typeface="Calibri" pitchFamily="34" charset="-122"/>
                <a:cs typeface="Calibri" pitchFamily="34" charset="-120"/>
              </a:rPr>
              <a:t>Bulan 2–3</a:t>
            </a:r>
            <a:endParaRPr lang="en-US" sz="1000" dirty="0"/>
          </a:p>
        </p:txBody>
      </p:sp>
      <p:sp>
        <p:nvSpPr>
          <p:cNvPr id="14" name="Shape 12"/>
          <p:cNvSpPr/>
          <p:nvPr/>
        </p:nvSpPr>
        <p:spPr>
          <a:xfrm>
            <a:off x="4663440" y="1325880"/>
            <a:ext cx="1920240" cy="1371600"/>
          </a:xfrm>
          <a:prstGeom prst="roundRect">
            <a:avLst>
              <a:gd name="adj" fmla="val 5333"/>
            </a:avLst>
          </a:prstGeom>
          <a:solidFill>
            <a:srgbClr val="0F3D3E"/>
          </a:solidFill>
          <a:ln w="12700">
            <a:solidFill>
              <a:srgbClr val="0F3D3E"/>
            </a:solidFill>
            <a:prstDash val="solid"/>
          </a:ln>
        </p:spPr>
      </p:sp>
      <p:sp>
        <p:nvSpPr>
          <p:cNvPr id="15" name="Shape 13"/>
          <p:cNvSpPr/>
          <p:nvPr/>
        </p:nvSpPr>
        <p:spPr>
          <a:xfrm>
            <a:off x="4800600" y="1463040"/>
            <a:ext cx="411480" cy="411480"/>
          </a:xfrm>
          <a:prstGeom prst="ellipse">
            <a:avLst/>
          </a:prstGeom>
          <a:solidFill>
            <a:srgbClr val="E8A33D"/>
          </a:solidFill>
          <a:ln w="12700">
            <a:solidFill>
              <a:srgbClr val="E8A33D"/>
            </a:solidFill>
            <a:prstDash val="solid"/>
          </a:ln>
        </p:spPr>
      </p:sp>
      <p:sp>
        <p:nvSpPr>
          <p:cNvPr id="16" name="Text 14"/>
          <p:cNvSpPr txBox="1"/>
          <p:nvPr/>
        </p:nvSpPr>
        <p:spPr>
          <a:xfrm>
            <a:off x="4800600" y="1463040"/>
            <a:ext cx="411480" cy="41148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4800600" y="1947672"/>
            <a:ext cx="164592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Lapisan regulasi + validasi ahli</a:t>
            </a:r>
            <a:endParaRPr lang="en-US" sz="1200" dirty="0"/>
          </a:p>
        </p:txBody>
      </p:sp>
      <p:sp>
        <p:nvSpPr>
          <p:cNvPr id="18" name="Text 16"/>
          <p:cNvSpPr txBox="1"/>
          <p:nvPr/>
        </p:nvSpPr>
        <p:spPr>
          <a:xfrm>
            <a:off x="4800600" y="2395728"/>
            <a:ext cx="1645920" cy="256032"/>
          </a:xfrm>
          <a:prstGeom prst="rect">
            <a:avLst/>
          </a:prstGeom>
          <a:noFill/>
          <a:ln/>
        </p:spPr>
        <p:txBody>
          <a:bodyPr wrap="square" lIns="0" tIns="0" rIns="0" bIns="0" rtlCol="0" anchor="t"/>
          <a:lstStyle/>
          <a:p>
            <a:pPr indent="0" marL="0">
              <a:buNone/>
            </a:pPr>
            <a:r>
              <a:rPr lang="en-US" sz="1000" dirty="0">
                <a:solidFill>
                  <a:srgbClr val="BFE0D6"/>
                </a:solidFill>
                <a:latin typeface="Calibri" pitchFamily="34" charset="0"/>
                <a:ea typeface="Calibri" pitchFamily="34" charset="-122"/>
                <a:cs typeface="Calibri" pitchFamily="34" charset="-120"/>
              </a:rPr>
              <a:t>Bulan 3–4</a:t>
            </a:r>
            <a:endParaRPr lang="en-US" sz="1000" dirty="0"/>
          </a:p>
        </p:txBody>
      </p:sp>
      <p:sp>
        <p:nvSpPr>
          <p:cNvPr id="19" name="Shape 17"/>
          <p:cNvSpPr/>
          <p:nvPr/>
        </p:nvSpPr>
        <p:spPr>
          <a:xfrm>
            <a:off x="6766560" y="1325880"/>
            <a:ext cx="1920240" cy="1371600"/>
          </a:xfrm>
          <a:prstGeom prst="roundRect">
            <a:avLst>
              <a:gd name="adj" fmla="val 5333"/>
            </a:avLst>
          </a:prstGeom>
          <a:solidFill>
            <a:srgbClr val="EAF3F0"/>
          </a:solidFill>
          <a:ln w="12700">
            <a:solidFill>
              <a:srgbClr val="EAF3F0"/>
            </a:solidFill>
            <a:prstDash val="solid"/>
          </a:ln>
        </p:spPr>
      </p:sp>
      <p:sp>
        <p:nvSpPr>
          <p:cNvPr id="20" name="Shape 18"/>
          <p:cNvSpPr/>
          <p:nvPr/>
        </p:nvSpPr>
        <p:spPr>
          <a:xfrm>
            <a:off x="6903720" y="1463040"/>
            <a:ext cx="411480" cy="411480"/>
          </a:xfrm>
          <a:prstGeom prst="ellipse">
            <a:avLst/>
          </a:prstGeom>
          <a:solidFill>
            <a:srgbClr val="E8A33D"/>
          </a:solidFill>
          <a:ln w="12700">
            <a:solidFill>
              <a:srgbClr val="E8A33D"/>
            </a:solidFill>
            <a:prstDash val="solid"/>
          </a:ln>
        </p:spPr>
      </p:sp>
      <p:sp>
        <p:nvSpPr>
          <p:cNvPr id="21" name="Text 19"/>
          <p:cNvSpPr txBox="1"/>
          <p:nvPr/>
        </p:nvSpPr>
        <p:spPr>
          <a:xfrm>
            <a:off x="6903720" y="1463040"/>
            <a:ext cx="411480" cy="41148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903720" y="1947672"/>
            <a:ext cx="1645920" cy="457200"/>
          </a:xfrm>
          <a:prstGeom prst="rect">
            <a:avLst/>
          </a:prstGeom>
          <a:noFill/>
          <a:ln/>
        </p:spPr>
        <p:txBody>
          <a:bodyPr wrap="square" lIns="0" tIns="0" rIns="0" bIns="0" rtlCol="0" anchor="t"/>
          <a:lstStyle/>
          <a:p>
            <a:pPr indent="0" marL="0">
              <a:buNone/>
            </a:pPr>
            <a:r>
              <a:rPr lang="en-US" sz="1200" b="1" dirty="0">
                <a:solidFill>
                  <a:srgbClr val="0F3D3E"/>
                </a:solidFill>
                <a:latin typeface="Calibri" pitchFamily="34" charset="0"/>
                <a:ea typeface="Calibri" pitchFamily="34" charset="-122"/>
                <a:cs typeface="Calibri" pitchFamily="34" charset="-120"/>
              </a:rPr>
              <a:t>Lapisan kebijakan, mesin &amp; aplikasi</a:t>
            </a:r>
            <a:endParaRPr lang="en-US" sz="1200" dirty="0"/>
          </a:p>
        </p:txBody>
      </p:sp>
      <p:sp>
        <p:nvSpPr>
          <p:cNvPr id="23" name="Text 21"/>
          <p:cNvSpPr txBox="1"/>
          <p:nvPr/>
        </p:nvSpPr>
        <p:spPr>
          <a:xfrm>
            <a:off x="6903720" y="2395728"/>
            <a:ext cx="1645920" cy="256032"/>
          </a:xfrm>
          <a:prstGeom prst="rect">
            <a:avLst/>
          </a:prstGeom>
          <a:noFill/>
          <a:ln/>
        </p:spPr>
        <p:txBody>
          <a:bodyPr wrap="square" lIns="0" tIns="0" rIns="0" bIns="0" rtlCol="0" anchor="t"/>
          <a:lstStyle/>
          <a:p>
            <a:pPr indent="0" marL="0">
              <a:buNone/>
            </a:pPr>
            <a:r>
              <a:rPr lang="en-US" sz="1000" dirty="0">
                <a:solidFill>
                  <a:srgbClr val="5B6B6B"/>
                </a:solidFill>
                <a:latin typeface="Calibri" pitchFamily="34" charset="0"/>
                <a:ea typeface="Calibri" pitchFamily="34" charset="-122"/>
                <a:cs typeface="Calibri" pitchFamily="34" charset="-120"/>
              </a:rPr>
              <a:t>Bulan 5–6</a:t>
            </a:r>
            <a:endParaRPr lang="en-US" sz="1000" dirty="0"/>
          </a:p>
        </p:txBody>
      </p:sp>
      <p:sp>
        <p:nvSpPr>
          <p:cNvPr id="24" name="Shape 22"/>
          <p:cNvSpPr/>
          <p:nvPr/>
        </p:nvSpPr>
        <p:spPr>
          <a:xfrm>
            <a:off x="457200" y="2926080"/>
            <a:ext cx="1920240" cy="1371600"/>
          </a:xfrm>
          <a:prstGeom prst="roundRect">
            <a:avLst>
              <a:gd name="adj" fmla="val 5333"/>
            </a:avLst>
          </a:prstGeom>
          <a:solidFill>
            <a:srgbClr val="0F3D3E"/>
          </a:solidFill>
          <a:ln w="12700">
            <a:solidFill>
              <a:srgbClr val="0F3D3E"/>
            </a:solidFill>
            <a:prstDash val="solid"/>
          </a:ln>
        </p:spPr>
      </p:sp>
      <p:sp>
        <p:nvSpPr>
          <p:cNvPr id="25" name="Shape 23"/>
          <p:cNvSpPr/>
          <p:nvPr/>
        </p:nvSpPr>
        <p:spPr>
          <a:xfrm>
            <a:off x="594360" y="3063240"/>
            <a:ext cx="411480" cy="411480"/>
          </a:xfrm>
          <a:prstGeom prst="ellipse">
            <a:avLst/>
          </a:prstGeom>
          <a:solidFill>
            <a:srgbClr val="E8A33D"/>
          </a:solidFill>
          <a:ln w="12700">
            <a:solidFill>
              <a:srgbClr val="E8A33D"/>
            </a:solidFill>
            <a:prstDash val="solid"/>
          </a:ln>
        </p:spPr>
      </p:sp>
      <p:sp>
        <p:nvSpPr>
          <p:cNvPr id="26" name="Text 24"/>
          <p:cNvSpPr txBox="1"/>
          <p:nvPr/>
        </p:nvSpPr>
        <p:spPr>
          <a:xfrm>
            <a:off x="594360" y="3063240"/>
            <a:ext cx="411480" cy="41148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594360" y="3547872"/>
            <a:ext cx="164592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Analisis formal komponen melingkar</a:t>
            </a:r>
            <a:endParaRPr lang="en-US" sz="1200" dirty="0"/>
          </a:p>
        </p:txBody>
      </p:sp>
      <p:sp>
        <p:nvSpPr>
          <p:cNvPr id="28" name="Text 26"/>
          <p:cNvSpPr txBox="1"/>
          <p:nvPr/>
        </p:nvSpPr>
        <p:spPr>
          <a:xfrm>
            <a:off x="594360" y="3995928"/>
            <a:ext cx="1645920" cy="256032"/>
          </a:xfrm>
          <a:prstGeom prst="rect">
            <a:avLst/>
          </a:prstGeom>
          <a:noFill/>
          <a:ln/>
        </p:spPr>
        <p:txBody>
          <a:bodyPr wrap="square" lIns="0" tIns="0" rIns="0" bIns="0" rtlCol="0" anchor="t"/>
          <a:lstStyle/>
          <a:p>
            <a:pPr indent="0" marL="0">
              <a:buNone/>
            </a:pPr>
            <a:r>
              <a:rPr lang="en-US" sz="1000" dirty="0">
                <a:solidFill>
                  <a:srgbClr val="BFE0D6"/>
                </a:solidFill>
                <a:latin typeface="Calibri" pitchFamily="34" charset="0"/>
                <a:ea typeface="Calibri" pitchFamily="34" charset="-122"/>
                <a:cs typeface="Calibri" pitchFamily="34" charset="-120"/>
              </a:rPr>
              <a:t>Bulan 7–8</a:t>
            </a:r>
            <a:endParaRPr lang="en-US" sz="1000" dirty="0"/>
          </a:p>
        </p:txBody>
      </p:sp>
      <p:sp>
        <p:nvSpPr>
          <p:cNvPr id="29" name="Shape 27"/>
          <p:cNvSpPr/>
          <p:nvPr/>
        </p:nvSpPr>
        <p:spPr>
          <a:xfrm>
            <a:off x="2560320" y="2926080"/>
            <a:ext cx="1920240" cy="1371600"/>
          </a:xfrm>
          <a:prstGeom prst="roundRect">
            <a:avLst>
              <a:gd name="adj" fmla="val 5333"/>
            </a:avLst>
          </a:prstGeom>
          <a:solidFill>
            <a:srgbClr val="EAF3F0"/>
          </a:solidFill>
          <a:ln w="12700">
            <a:solidFill>
              <a:srgbClr val="EAF3F0"/>
            </a:solidFill>
            <a:prstDash val="solid"/>
          </a:ln>
        </p:spPr>
      </p:sp>
      <p:sp>
        <p:nvSpPr>
          <p:cNvPr id="30" name="Shape 28"/>
          <p:cNvSpPr/>
          <p:nvPr/>
        </p:nvSpPr>
        <p:spPr>
          <a:xfrm>
            <a:off x="2697480" y="3063240"/>
            <a:ext cx="411480" cy="411480"/>
          </a:xfrm>
          <a:prstGeom prst="ellipse">
            <a:avLst/>
          </a:prstGeom>
          <a:solidFill>
            <a:srgbClr val="E8A33D"/>
          </a:solidFill>
          <a:ln w="12700">
            <a:solidFill>
              <a:srgbClr val="E8A33D"/>
            </a:solidFill>
            <a:prstDash val="solid"/>
          </a:ln>
        </p:spPr>
      </p:sp>
      <p:sp>
        <p:nvSpPr>
          <p:cNvPr id="31" name="Text 29"/>
          <p:cNvSpPr txBox="1"/>
          <p:nvPr/>
        </p:nvSpPr>
        <p:spPr>
          <a:xfrm>
            <a:off x="2697480" y="3063240"/>
            <a:ext cx="411480" cy="41148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2697480" y="3547872"/>
            <a:ext cx="1645920" cy="457200"/>
          </a:xfrm>
          <a:prstGeom prst="rect">
            <a:avLst/>
          </a:prstGeom>
          <a:noFill/>
          <a:ln/>
        </p:spPr>
        <p:txBody>
          <a:bodyPr wrap="square" lIns="0" tIns="0" rIns="0" bIns="0" rtlCol="0" anchor="t"/>
          <a:lstStyle/>
          <a:p>
            <a:pPr indent="0" marL="0">
              <a:buNone/>
            </a:pPr>
            <a:r>
              <a:rPr lang="en-US" sz="1200" b="1" dirty="0">
                <a:solidFill>
                  <a:srgbClr val="0F3D3E"/>
                </a:solidFill>
                <a:latin typeface="Calibri" pitchFamily="34" charset="0"/>
                <a:ea typeface="Calibri" pitchFamily="34" charset="-122"/>
                <a:cs typeface="Calibri" pitchFamily="34" charset="-120"/>
              </a:rPr>
              <a:t>Studi kesesuaian</a:t>
            </a:r>
            <a:endParaRPr lang="en-US" sz="1200" dirty="0"/>
          </a:p>
        </p:txBody>
      </p:sp>
      <p:sp>
        <p:nvSpPr>
          <p:cNvPr id="33" name="Text 31"/>
          <p:cNvSpPr txBox="1"/>
          <p:nvPr/>
        </p:nvSpPr>
        <p:spPr>
          <a:xfrm>
            <a:off x="2697480" y="3995928"/>
            <a:ext cx="1645920" cy="256032"/>
          </a:xfrm>
          <a:prstGeom prst="rect">
            <a:avLst/>
          </a:prstGeom>
          <a:noFill/>
          <a:ln/>
        </p:spPr>
        <p:txBody>
          <a:bodyPr wrap="square" lIns="0" tIns="0" rIns="0" bIns="0" rtlCol="0" anchor="t"/>
          <a:lstStyle/>
          <a:p>
            <a:pPr indent="0" marL="0">
              <a:buNone/>
            </a:pPr>
            <a:r>
              <a:rPr lang="en-US" sz="1000" dirty="0">
                <a:solidFill>
                  <a:srgbClr val="5B6B6B"/>
                </a:solidFill>
                <a:latin typeface="Calibri" pitchFamily="34" charset="0"/>
                <a:ea typeface="Calibri" pitchFamily="34" charset="-122"/>
                <a:cs typeface="Calibri" pitchFamily="34" charset="-120"/>
              </a:rPr>
              <a:t>Bulan 9</a:t>
            </a:r>
            <a:endParaRPr lang="en-US" sz="1000" dirty="0"/>
          </a:p>
        </p:txBody>
      </p:sp>
      <p:sp>
        <p:nvSpPr>
          <p:cNvPr id="34" name="Shape 32"/>
          <p:cNvSpPr/>
          <p:nvPr/>
        </p:nvSpPr>
        <p:spPr>
          <a:xfrm>
            <a:off x="4663440" y="2926080"/>
            <a:ext cx="1920240" cy="1371600"/>
          </a:xfrm>
          <a:prstGeom prst="roundRect">
            <a:avLst>
              <a:gd name="adj" fmla="val 5333"/>
            </a:avLst>
          </a:prstGeom>
          <a:solidFill>
            <a:srgbClr val="EAF3F0"/>
          </a:solidFill>
          <a:ln w="12700">
            <a:solidFill>
              <a:srgbClr val="EAF3F0"/>
            </a:solidFill>
            <a:prstDash val="solid"/>
          </a:ln>
        </p:spPr>
      </p:sp>
      <p:sp>
        <p:nvSpPr>
          <p:cNvPr id="35" name="Shape 33"/>
          <p:cNvSpPr/>
          <p:nvPr/>
        </p:nvSpPr>
        <p:spPr>
          <a:xfrm>
            <a:off x="4800600" y="3063240"/>
            <a:ext cx="411480" cy="411480"/>
          </a:xfrm>
          <a:prstGeom prst="ellipse">
            <a:avLst/>
          </a:prstGeom>
          <a:solidFill>
            <a:srgbClr val="E8A33D"/>
          </a:solidFill>
          <a:ln w="12700">
            <a:solidFill>
              <a:srgbClr val="E8A33D"/>
            </a:solidFill>
            <a:prstDash val="solid"/>
          </a:ln>
        </p:spPr>
      </p:sp>
      <p:sp>
        <p:nvSpPr>
          <p:cNvPr id="36" name="Text 34"/>
          <p:cNvSpPr txBox="1"/>
          <p:nvPr/>
        </p:nvSpPr>
        <p:spPr>
          <a:xfrm>
            <a:off x="4800600" y="3063240"/>
            <a:ext cx="411480" cy="41148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4800600" y="3547872"/>
            <a:ext cx="1645920" cy="457200"/>
          </a:xfrm>
          <a:prstGeom prst="rect">
            <a:avLst/>
          </a:prstGeom>
          <a:noFill/>
          <a:ln/>
        </p:spPr>
        <p:txBody>
          <a:bodyPr wrap="square" lIns="0" tIns="0" rIns="0" bIns="0" rtlCol="0" anchor="t"/>
          <a:lstStyle/>
          <a:p>
            <a:pPr indent="0" marL="0">
              <a:buNone/>
            </a:pPr>
            <a:r>
              <a:rPr lang="en-US" sz="1200" b="1" dirty="0">
                <a:solidFill>
                  <a:srgbClr val="0F3D3E"/>
                </a:solidFill>
                <a:latin typeface="Calibri" pitchFamily="34" charset="0"/>
                <a:ea typeface="Calibri" pitchFamily="34" charset="-122"/>
                <a:cs typeface="Calibri" pitchFamily="34" charset="-120"/>
              </a:rPr>
              <a:t>Biaya pemeliharaan &amp; ekspresivitas</a:t>
            </a:r>
            <a:endParaRPr lang="en-US" sz="1200" dirty="0"/>
          </a:p>
        </p:txBody>
      </p:sp>
      <p:sp>
        <p:nvSpPr>
          <p:cNvPr id="38" name="Text 36"/>
          <p:cNvSpPr txBox="1"/>
          <p:nvPr/>
        </p:nvSpPr>
        <p:spPr>
          <a:xfrm>
            <a:off x="4800600" y="3995928"/>
            <a:ext cx="1645920" cy="256032"/>
          </a:xfrm>
          <a:prstGeom prst="rect">
            <a:avLst/>
          </a:prstGeom>
          <a:noFill/>
          <a:ln/>
        </p:spPr>
        <p:txBody>
          <a:bodyPr wrap="square" lIns="0" tIns="0" rIns="0" bIns="0" rtlCol="0" anchor="t"/>
          <a:lstStyle/>
          <a:p>
            <a:pPr indent="0" marL="0">
              <a:buNone/>
            </a:pPr>
            <a:r>
              <a:rPr lang="en-US" sz="1000" dirty="0">
                <a:solidFill>
                  <a:srgbClr val="5B6B6B"/>
                </a:solidFill>
                <a:latin typeface="Calibri" pitchFamily="34" charset="0"/>
                <a:ea typeface="Calibri" pitchFamily="34" charset="-122"/>
                <a:cs typeface="Calibri" pitchFamily="34" charset="-120"/>
              </a:rPr>
              <a:t>Bulan 10</a:t>
            </a:r>
            <a:endParaRPr lang="en-US" sz="1000" dirty="0"/>
          </a:p>
        </p:txBody>
      </p:sp>
      <p:sp>
        <p:nvSpPr>
          <p:cNvPr id="39" name="Shape 37"/>
          <p:cNvSpPr/>
          <p:nvPr/>
        </p:nvSpPr>
        <p:spPr>
          <a:xfrm>
            <a:off x="6766560" y="2926080"/>
            <a:ext cx="1920240" cy="1371600"/>
          </a:xfrm>
          <a:prstGeom prst="roundRect">
            <a:avLst>
              <a:gd name="adj" fmla="val 5333"/>
            </a:avLst>
          </a:prstGeom>
          <a:solidFill>
            <a:srgbClr val="EAF3F0"/>
          </a:solidFill>
          <a:ln w="12700">
            <a:solidFill>
              <a:srgbClr val="EAF3F0"/>
            </a:solidFill>
            <a:prstDash val="solid"/>
          </a:ln>
        </p:spPr>
      </p:sp>
      <p:sp>
        <p:nvSpPr>
          <p:cNvPr id="40" name="Shape 38"/>
          <p:cNvSpPr/>
          <p:nvPr/>
        </p:nvSpPr>
        <p:spPr>
          <a:xfrm>
            <a:off x="6903720" y="3063240"/>
            <a:ext cx="411480" cy="411480"/>
          </a:xfrm>
          <a:prstGeom prst="ellipse">
            <a:avLst/>
          </a:prstGeom>
          <a:solidFill>
            <a:srgbClr val="E8A33D"/>
          </a:solidFill>
          <a:ln w="12700">
            <a:solidFill>
              <a:srgbClr val="E8A33D"/>
            </a:solidFill>
            <a:prstDash val="solid"/>
          </a:ln>
        </p:spPr>
      </p:sp>
      <p:sp>
        <p:nvSpPr>
          <p:cNvPr id="41" name="Text 39"/>
          <p:cNvSpPr txBox="1"/>
          <p:nvPr/>
        </p:nvSpPr>
        <p:spPr>
          <a:xfrm>
            <a:off x="6903720" y="3063240"/>
            <a:ext cx="411480" cy="41148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6903720" y="3547872"/>
            <a:ext cx="1645920" cy="457200"/>
          </a:xfrm>
          <a:prstGeom prst="rect">
            <a:avLst/>
          </a:prstGeom>
          <a:noFill/>
          <a:ln/>
        </p:spPr>
        <p:txBody>
          <a:bodyPr wrap="square" lIns="0" tIns="0" rIns="0" bIns="0" rtlCol="0" anchor="t"/>
          <a:lstStyle/>
          <a:p>
            <a:pPr indent="0" marL="0">
              <a:buNone/>
            </a:pPr>
            <a:r>
              <a:rPr lang="en-US" sz="1200" b="1" dirty="0">
                <a:solidFill>
                  <a:srgbClr val="0F3D3E"/>
                </a:solidFill>
                <a:latin typeface="Calibri" pitchFamily="34" charset="0"/>
                <a:ea typeface="Calibri" pitchFamily="34" charset="-122"/>
                <a:cs typeface="Calibri" pitchFamily="34" charset="-120"/>
              </a:rPr>
              <a:t>Penulisan &amp; rilis artefak</a:t>
            </a:r>
            <a:endParaRPr lang="en-US" sz="1200" dirty="0"/>
          </a:p>
        </p:txBody>
      </p:sp>
      <p:sp>
        <p:nvSpPr>
          <p:cNvPr id="43" name="Text 41"/>
          <p:cNvSpPr txBox="1"/>
          <p:nvPr/>
        </p:nvSpPr>
        <p:spPr>
          <a:xfrm>
            <a:off x="6903720" y="3995928"/>
            <a:ext cx="1645920" cy="256032"/>
          </a:xfrm>
          <a:prstGeom prst="rect">
            <a:avLst/>
          </a:prstGeom>
          <a:noFill/>
          <a:ln/>
        </p:spPr>
        <p:txBody>
          <a:bodyPr wrap="square" lIns="0" tIns="0" rIns="0" bIns="0" rtlCol="0" anchor="t"/>
          <a:lstStyle/>
          <a:p>
            <a:pPr indent="0" marL="0">
              <a:buNone/>
            </a:pPr>
            <a:r>
              <a:rPr lang="en-US" sz="1000" dirty="0">
                <a:solidFill>
                  <a:srgbClr val="5B6B6B"/>
                </a:solidFill>
                <a:latin typeface="Calibri" pitchFamily="34" charset="0"/>
                <a:ea typeface="Calibri" pitchFamily="34" charset="-122"/>
                <a:cs typeface="Calibri" pitchFamily="34" charset="-120"/>
              </a:rPr>
              <a:t>Bulan 11–12</a:t>
            </a:r>
            <a:endParaRPr lang="en-US" sz="1000" dirty="0"/>
          </a:p>
        </p:txBody>
      </p:sp>
      <p:sp>
        <p:nvSpPr>
          <p:cNvPr id="44" name="Text 42"/>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i="1" dirty="0">
                <a:solidFill>
                  <a:srgbClr val="5B6B6B"/>
                </a:solidFill>
                <a:latin typeface="Calibri" pitchFamily="34" charset="0"/>
                <a:ea typeface="Calibri" pitchFamily="34" charset="-122"/>
                <a:cs typeface="Calibri" pitchFamily="34" charset="-120"/>
              </a:rPr>
              <a:t>Tahap 3 dan 5 (gelap) paling menentukan: acuan kebenaran dan inti novelty.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07 · EVALUASI</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Rancangan Evaluasi dan Metrik</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828800"/>
                <a:gridCol w="3840480"/>
                <a:gridCol w="256032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Aspek</a:t>
                      </a:r>
                      <a:endParaRPr lang="en-US" sz="12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Metrik</a:t>
                      </a:r>
                      <a:endParaRPr lang="en-US" sz="12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Target / keterangan</a:t>
                      </a:r>
                      <a:endParaRPr lang="en-US" sz="12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0F3D3E"/>
                    </a:solidFill>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Kebenaran KB</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Kecocokan dengan contoh resmi</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50292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Analisis gross-up</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F8E3BD"/>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Jumlah &amp; lebar pita solusi ganda per kategori dan lapisan</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F8E3BD"/>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H1, H3 terbukti atau terbantah</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solidFill>
                      <a:srgbClr val="F8E3BD"/>
                    </a:solidFill>
                  </a:tcPr>
                </a:tc>
              </a:tr>
              <a:tr h="50292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Kesesuaian</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 kasus uji berbeda per aplikasi &amp; jenis kondisi; besar selisih</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Dilaporkan apa adanya; menguji H2</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45720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Biaya pemeliharaan</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Baris/file kode berubah vs entri KB berubah saat TER</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Perbandingan kuantitatif</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45720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Ekspresivitas</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Jumlah kebijakan yang bisa dinyatakan tanpa kode</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Vs mesin berlapis &amp; aplikasi komersial</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Kinerja</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Waktu per pegawai dan per 10.000 pegawai</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Wajar untuk payroll bulanan</a:t>
                      </a:r>
                      <a:endParaRPr lang="en-US" sz="1100" dirty="0">
                        <a:latin typeface="Calibri" charset="0"/>
                        <a:ea typeface="Calibri" charset="0"/>
                        <a:cs typeface="Calibri" charset="0"/>
                      </a:endParaRPr>
                    </a:p>
                  </a:txBody>
                  <a:tcPr marL="91440" marR="91440" marT="45720" marB="45720" anchor="ctr">
                    <a:lnL w="9525" cap="flat" cmpd="sng" algn="ctr">
                      <a:solidFill>
                        <a:srgbClr val="D5E3DE"/>
                      </a:solidFill>
                      <a:prstDash val="solid"/>
                      <a:round/>
                      <a:headEnd type="none" w="med" len="med"/>
                      <a:tailEnd type="none" w="med" len="med"/>
                    </a:lnL>
                    <a:lnR w="9525" cap="flat" cmpd="sng" algn="ctr">
                      <a:solidFill>
                        <a:srgbClr val="D5E3DE"/>
                      </a:solidFill>
                      <a:prstDash val="solid"/>
                      <a:round/>
                      <a:headEnd type="none" w="med" len="med"/>
                      <a:tailEnd type="none" w="med" len="med"/>
                    </a:lnR>
                    <a:lnT w="9525" cap="flat" cmpd="sng" algn="ctr">
                      <a:solidFill>
                        <a:srgbClr val="D5E3DE"/>
                      </a:solidFill>
                      <a:prstDash val="solid"/>
                      <a:round/>
                      <a:headEnd type="none" w="med" len="med"/>
                      <a:tailEnd type="none" w="med" len="med"/>
                    </a:lnT>
                    <a:lnB w="9525" cap="flat" cmpd="sng" algn="ctr">
                      <a:solidFill>
                        <a:srgbClr val="D5E3DE"/>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07 · TEKNOLOGI</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Teknologi yang Dipakai</a:t>
            </a:r>
            <a:endParaRPr lang="en-US" sz="2800" dirty="0"/>
          </a:p>
        </p:txBody>
      </p:sp>
      <p:sp>
        <p:nvSpPr>
          <p:cNvPr id="4" name="Text 2"/>
          <p:cNvSpPr txBox="1"/>
          <p:nvPr/>
        </p:nvSpPr>
        <p:spPr>
          <a:xfrm>
            <a:off x="457200" y="1051560"/>
            <a:ext cx="8229600" cy="320040"/>
          </a:xfrm>
          <a:prstGeom prst="rect">
            <a:avLst/>
          </a:prstGeom>
          <a:noFill/>
          <a:ln/>
        </p:spPr>
        <p:txBody>
          <a:bodyPr wrap="square" lIns="0" tIns="0" rIns="0" bIns="0" rtlCol="0" anchor="t"/>
          <a:lstStyle/>
          <a:p>
            <a:pPr indent="0" marL="0">
              <a:buNone/>
            </a:pPr>
            <a:r>
              <a:rPr lang="en-US" sz="1250" dirty="0">
                <a:solidFill>
                  <a:srgbClr val="5B6B6B"/>
                </a:solidFill>
                <a:latin typeface="Calibri" pitchFamily="34" charset="0"/>
                <a:ea typeface="Calibri" pitchFamily="34" charset="-122"/>
                <a:cs typeface="Calibri" pitchFamily="34" charset="-120"/>
              </a:rPr>
              <a:t>Sederhana dan open source. Tidak memakai LLM.</a:t>
            </a:r>
            <a:endParaRPr lang="en-US" sz="1250" dirty="0"/>
          </a:p>
        </p:txBody>
      </p:sp>
      <p:sp>
        <p:nvSpPr>
          <p:cNvPr id="5" name="Shape 3"/>
          <p:cNvSpPr/>
          <p:nvPr/>
        </p:nvSpPr>
        <p:spPr>
          <a:xfrm>
            <a:off x="457200" y="1554480"/>
            <a:ext cx="1499616" cy="2011680"/>
          </a:xfrm>
          <a:prstGeom prst="roundRect">
            <a:avLst>
              <a:gd name="adj" fmla="val 4878"/>
            </a:avLst>
          </a:prstGeom>
          <a:solidFill>
            <a:srgbClr val="EAF3F0"/>
          </a:solidFill>
          <a:ln w="12700">
            <a:solidFill>
              <a:srgbClr val="EAF3F0"/>
            </a:solidFill>
            <a:prstDash val="solid"/>
          </a:ln>
        </p:spPr>
      </p:sp>
      <p:sp>
        <p:nvSpPr>
          <p:cNvPr id="6" name="Shape 4"/>
          <p:cNvSpPr/>
          <p:nvPr/>
        </p:nvSpPr>
        <p:spPr>
          <a:xfrm>
            <a:off x="932688" y="1737360"/>
            <a:ext cx="548640" cy="548640"/>
          </a:xfrm>
          <a:prstGeom prst="ellipse">
            <a:avLst/>
          </a:prstGeom>
          <a:solidFill>
            <a:srgbClr val="0F3D3E"/>
          </a:solidFill>
          <a:ln w="12700">
            <a:solidFill>
              <a:srgbClr val="0F3D3E"/>
            </a:solidFill>
            <a:prstDash val="solid"/>
          </a:ln>
        </p:spPr>
      </p:sp>
      <p:pic>
        <p:nvPicPr>
          <p:cNvPr id="7" name="Image 0" descr="preencoded.png">    </p:cNvPr>
          <p:cNvPicPr>
            <a:picLocks noChangeAspect="1"/>
          </p:cNvPicPr>
          <p:nvPr/>
        </p:nvPicPr>
        <p:blipFill>
          <a:blip r:embed="rId1"/>
          <a:stretch>
            <a:fillRect/>
          </a:stretch>
        </p:blipFill>
        <p:spPr>
          <a:xfrm>
            <a:off x="1069848" y="1874520"/>
            <a:ext cx="274320" cy="274320"/>
          </a:xfrm>
          <a:prstGeom prst="rect">
            <a:avLst/>
          </a:prstGeom>
        </p:spPr>
      </p:pic>
      <p:sp>
        <p:nvSpPr>
          <p:cNvPr id="8" name="Text 5"/>
          <p:cNvSpPr txBox="1"/>
          <p:nvPr/>
        </p:nvSpPr>
        <p:spPr>
          <a:xfrm>
            <a:off x="548640" y="2377440"/>
            <a:ext cx="1316736" cy="457200"/>
          </a:xfrm>
          <a:prstGeom prst="rect">
            <a:avLst/>
          </a:prstGeom>
          <a:no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Python</a:t>
            </a:r>
            <a:endParaRPr lang="en-US" sz="1200" dirty="0"/>
          </a:p>
        </p:txBody>
      </p:sp>
      <p:sp>
        <p:nvSpPr>
          <p:cNvPr id="9" name="Text 6"/>
          <p:cNvSpPr txBox="1"/>
          <p:nvPr/>
        </p:nvSpPr>
        <p:spPr>
          <a:xfrm>
            <a:off x="548640" y="2834640"/>
            <a:ext cx="1316736" cy="411480"/>
          </a:xfrm>
          <a:prstGeom prst="rect">
            <a:avLst/>
          </a:prstGeom>
          <a:noFill/>
          <a:ln/>
        </p:spPr>
        <p:txBody>
          <a:bodyPr wrap="square" lIns="0" tIns="0" rIns="0" bIns="0" rtlCol="0" anchor="t"/>
          <a:lstStyle/>
          <a:p>
            <a:pPr algn="ctr" indent="0" marL="0">
              <a:buNone/>
            </a:pPr>
            <a:r>
              <a:rPr lang="en-US" sz="1050" dirty="0">
                <a:solidFill>
                  <a:srgbClr val="1E2B2B"/>
                </a:solidFill>
                <a:latin typeface="Calibri" pitchFamily="34" charset="0"/>
                <a:ea typeface="Calibri" pitchFamily="34" charset="-122"/>
                <a:cs typeface="Calibri" pitchFamily="34" charset="-120"/>
              </a:rPr>
              <a:t>Mesin perhitungan</a:t>
            </a:r>
            <a:endParaRPr lang="en-US" sz="1050" dirty="0"/>
          </a:p>
        </p:txBody>
      </p:sp>
      <p:sp>
        <p:nvSpPr>
          <p:cNvPr id="10" name="Text 7"/>
          <p:cNvSpPr txBox="1"/>
          <p:nvPr/>
        </p:nvSpPr>
        <p:spPr>
          <a:xfrm>
            <a:off x="548640" y="3246120"/>
            <a:ext cx="1316736" cy="256032"/>
          </a:xfrm>
          <a:prstGeom prst="rect">
            <a:avLst/>
          </a:prstGeom>
          <a:noFill/>
          <a:ln/>
        </p:spPr>
        <p:txBody>
          <a:bodyPr wrap="square" lIns="0" tIns="0" rIns="0" bIns="0" rtlCol="0" anchor="t"/>
          <a:lstStyle/>
          <a:p>
            <a:pPr algn="ctr" indent="0" marL="0">
              <a:buNone/>
            </a:pPr>
            <a:r>
              <a:rPr lang="en-US" sz="900" dirty="0">
                <a:solidFill>
                  <a:srgbClr val="5B6B6B"/>
                </a:solidFill>
                <a:latin typeface="Calibri" pitchFamily="34" charset="0"/>
                <a:ea typeface="Calibri" pitchFamily="34" charset="-122"/>
                <a:cs typeface="Calibri" pitchFamily="34" charset="-120"/>
              </a:rPr>
              <a:t>Lisensi: PSF</a:t>
            </a:r>
            <a:endParaRPr lang="en-US" sz="900" dirty="0"/>
          </a:p>
        </p:txBody>
      </p:sp>
      <p:sp>
        <p:nvSpPr>
          <p:cNvPr id="11" name="Shape 8"/>
          <p:cNvSpPr/>
          <p:nvPr/>
        </p:nvSpPr>
        <p:spPr>
          <a:xfrm>
            <a:off x="2139696" y="1554480"/>
            <a:ext cx="1499616" cy="2011680"/>
          </a:xfrm>
          <a:prstGeom prst="roundRect">
            <a:avLst>
              <a:gd name="adj" fmla="val 4878"/>
            </a:avLst>
          </a:prstGeom>
          <a:solidFill>
            <a:srgbClr val="EAF3F0"/>
          </a:solidFill>
          <a:ln w="12700">
            <a:solidFill>
              <a:srgbClr val="EAF3F0"/>
            </a:solidFill>
            <a:prstDash val="solid"/>
          </a:ln>
        </p:spPr>
      </p:sp>
      <p:sp>
        <p:nvSpPr>
          <p:cNvPr id="12" name="Shape 9"/>
          <p:cNvSpPr/>
          <p:nvPr/>
        </p:nvSpPr>
        <p:spPr>
          <a:xfrm>
            <a:off x="2615184" y="1737360"/>
            <a:ext cx="548640" cy="548640"/>
          </a:xfrm>
          <a:prstGeom prst="ellipse">
            <a:avLst/>
          </a:prstGeom>
          <a:solidFill>
            <a:srgbClr val="0F3D3E"/>
          </a:solidFill>
          <a:ln w="12700">
            <a:solidFill>
              <a:srgbClr val="0F3D3E"/>
            </a:solidFill>
            <a:prstDash val="solid"/>
          </a:ln>
        </p:spPr>
      </p:sp>
      <p:pic>
        <p:nvPicPr>
          <p:cNvPr id="13" name="Image 1" descr="preencoded.png">    </p:cNvPr>
          <p:cNvPicPr>
            <a:picLocks noChangeAspect="1"/>
          </p:cNvPicPr>
          <p:nvPr/>
        </p:nvPicPr>
        <p:blipFill>
          <a:blip r:embed="rId2"/>
          <a:stretch>
            <a:fillRect/>
          </a:stretch>
        </p:blipFill>
        <p:spPr>
          <a:xfrm>
            <a:off x="2752344" y="1874520"/>
            <a:ext cx="274320" cy="274320"/>
          </a:xfrm>
          <a:prstGeom prst="rect">
            <a:avLst/>
          </a:prstGeom>
        </p:spPr>
      </p:pic>
      <p:sp>
        <p:nvSpPr>
          <p:cNvPr id="14" name="Text 10"/>
          <p:cNvSpPr txBox="1"/>
          <p:nvPr/>
        </p:nvSpPr>
        <p:spPr>
          <a:xfrm>
            <a:off x="2231136" y="2377440"/>
            <a:ext cx="1316736" cy="457200"/>
          </a:xfrm>
          <a:prstGeom prst="rect">
            <a:avLst/>
          </a:prstGeom>
          <a:no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YAML/JSON + Git</a:t>
            </a:r>
            <a:endParaRPr lang="en-US" sz="1200" dirty="0"/>
          </a:p>
        </p:txBody>
      </p:sp>
      <p:sp>
        <p:nvSpPr>
          <p:cNvPr id="15" name="Text 11"/>
          <p:cNvSpPr txBox="1"/>
          <p:nvPr/>
        </p:nvSpPr>
        <p:spPr>
          <a:xfrm>
            <a:off x="2231136" y="2834640"/>
            <a:ext cx="1316736" cy="411480"/>
          </a:xfrm>
          <a:prstGeom prst="rect">
            <a:avLst/>
          </a:prstGeom>
          <a:noFill/>
          <a:ln/>
        </p:spPr>
        <p:txBody>
          <a:bodyPr wrap="square" lIns="0" tIns="0" rIns="0" bIns="0" rtlCol="0" anchor="t"/>
          <a:lstStyle/>
          <a:p>
            <a:pPr algn="ctr" indent="0" marL="0">
              <a:buNone/>
            </a:pPr>
            <a:r>
              <a:rPr lang="en-US" sz="1050" dirty="0">
                <a:solidFill>
                  <a:srgbClr val="1E2B2B"/>
                </a:solidFill>
                <a:latin typeface="Calibri" pitchFamily="34" charset="0"/>
                <a:ea typeface="Calibri" pitchFamily="34" charset="-122"/>
                <a:cs typeface="Calibri" pitchFamily="34" charset="-120"/>
              </a:rPr>
              <a:t>Knowledge base berversi</a:t>
            </a:r>
            <a:endParaRPr lang="en-US" sz="1050" dirty="0"/>
          </a:p>
        </p:txBody>
      </p:sp>
      <p:sp>
        <p:nvSpPr>
          <p:cNvPr id="16" name="Text 12"/>
          <p:cNvSpPr txBox="1"/>
          <p:nvPr/>
        </p:nvSpPr>
        <p:spPr>
          <a:xfrm>
            <a:off x="2231136" y="3246120"/>
            <a:ext cx="1316736" cy="256032"/>
          </a:xfrm>
          <a:prstGeom prst="rect">
            <a:avLst/>
          </a:prstGeom>
          <a:noFill/>
          <a:ln/>
        </p:spPr>
        <p:txBody>
          <a:bodyPr wrap="square" lIns="0" tIns="0" rIns="0" bIns="0" rtlCol="0" anchor="t"/>
          <a:lstStyle/>
          <a:p>
            <a:pPr algn="ctr" indent="0" marL="0">
              <a:buNone/>
            </a:pPr>
            <a:r>
              <a:rPr lang="en-US" sz="900" dirty="0">
                <a:solidFill>
                  <a:srgbClr val="5B6B6B"/>
                </a:solidFill>
                <a:latin typeface="Calibri" pitchFamily="34" charset="0"/>
                <a:ea typeface="Calibri" pitchFamily="34" charset="-122"/>
                <a:cs typeface="Calibri" pitchFamily="34" charset="-120"/>
              </a:rPr>
              <a:t>Lisensi: –</a:t>
            </a:r>
            <a:endParaRPr lang="en-US" sz="900" dirty="0"/>
          </a:p>
        </p:txBody>
      </p:sp>
      <p:sp>
        <p:nvSpPr>
          <p:cNvPr id="17" name="Shape 13"/>
          <p:cNvSpPr/>
          <p:nvPr/>
        </p:nvSpPr>
        <p:spPr>
          <a:xfrm>
            <a:off x="3822192" y="1554480"/>
            <a:ext cx="1499616" cy="2011680"/>
          </a:xfrm>
          <a:prstGeom prst="roundRect">
            <a:avLst>
              <a:gd name="adj" fmla="val 4878"/>
            </a:avLst>
          </a:prstGeom>
          <a:solidFill>
            <a:srgbClr val="0F3D3E"/>
          </a:solidFill>
          <a:ln w="12700">
            <a:solidFill>
              <a:srgbClr val="0F3D3E"/>
            </a:solidFill>
            <a:prstDash val="solid"/>
          </a:ln>
        </p:spPr>
      </p:sp>
      <p:sp>
        <p:nvSpPr>
          <p:cNvPr id="18" name="Shape 14"/>
          <p:cNvSpPr/>
          <p:nvPr/>
        </p:nvSpPr>
        <p:spPr>
          <a:xfrm>
            <a:off x="4297680" y="1737360"/>
            <a:ext cx="548640" cy="548640"/>
          </a:xfrm>
          <a:prstGeom prst="ellipse">
            <a:avLst/>
          </a:prstGeom>
          <a:solidFill>
            <a:srgbClr val="E8A33D"/>
          </a:solidFill>
          <a:ln w="12700">
            <a:solidFill>
              <a:srgbClr val="E8A33D"/>
            </a:solidFill>
            <a:prstDash val="solid"/>
          </a:ln>
        </p:spPr>
      </p:sp>
      <p:pic>
        <p:nvPicPr>
          <p:cNvPr id="19" name="Image 2" descr="preencoded.png">    </p:cNvPr>
          <p:cNvPicPr>
            <a:picLocks noChangeAspect="1"/>
          </p:cNvPicPr>
          <p:nvPr/>
        </p:nvPicPr>
        <p:blipFill>
          <a:blip r:embed="rId3"/>
          <a:stretch>
            <a:fillRect/>
          </a:stretch>
        </p:blipFill>
        <p:spPr>
          <a:xfrm>
            <a:off x="4434840" y="1874520"/>
            <a:ext cx="274320" cy="274320"/>
          </a:xfrm>
          <a:prstGeom prst="rect">
            <a:avLst/>
          </a:prstGeom>
        </p:spPr>
      </p:pic>
      <p:sp>
        <p:nvSpPr>
          <p:cNvPr id="20" name="Text 15"/>
          <p:cNvSpPr txBox="1"/>
          <p:nvPr/>
        </p:nvSpPr>
        <p:spPr>
          <a:xfrm>
            <a:off x="3913632" y="2377440"/>
            <a:ext cx="1316736"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Z3 SMT Solver</a:t>
            </a:r>
            <a:endParaRPr lang="en-US" sz="1200" dirty="0"/>
          </a:p>
        </p:txBody>
      </p:sp>
      <p:sp>
        <p:nvSpPr>
          <p:cNvPr id="21" name="Text 16"/>
          <p:cNvSpPr txBox="1"/>
          <p:nvPr/>
        </p:nvSpPr>
        <p:spPr>
          <a:xfrm>
            <a:off x="3913632" y="2834640"/>
            <a:ext cx="1316736" cy="4114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Analisis gross-up &amp; konsistensi</a:t>
            </a:r>
            <a:endParaRPr lang="en-US" sz="1050" dirty="0"/>
          </a:p>
        </p:txBody>
      </p:sp>
      <p:sp>
        <p:nvSpPr>
          <p:cNvPr id="22" name="Text 17"/>
          <p:cNvSpPr txBox="1"/>
          <p:nvPr/>
        </p:nvSpPr>
        <p:spPr>
          <a:xfrm>
            <a:off x="3913632" y="3246120"/>
            <a:ext cx="1316736" cy="256032"/>
          </a:xfrm>
          <a:prstGeom prst="rect">
            <a:avLst/>
          </a:prstGeom>
          <a:noFill/>
          <a:ln/>
        </p:spPr>
        <p:txBody>
          <a:bodyPr wrap="square" lIns="0" tIns="0" rIns="0" bIns="0" rtlCol="0" anchor="t"/>
          <a:lstStyle/>
          <a:p>
            <a:pPr algn="ctr" indent="0" marL="0">
              <a:buNone/>
            </a:pPr>
            <a:r>
              <a:rPr lang="en-US" sz="900" dirty="0">
                <a:solidFill>
                  <a:srgbClr val="BFE0D6"/>
                </a:solidFill>
                <a:latin typeface="Calibri" pitchFamily="34" charset="0"/>
                <a:ea typeface="Calibri" pitchFamily="34" charset="-122"/>
                <a:cs typeface="Calibri" pitchFamily="34" charset="-120"/>
              </a:rPr>
              <a:t>Lisensi: MIT</a:t>
            </a:r>
            <a:endParaRPr lang="en-US" sz="900" dirty="0"/>
          </a:p>
        </p:txBody>
      </p:sp>
      <p:sp>
        <p:nvSpPr>
          <p:cNvPr id="23" name="Shape 18"/>
          <p:cNvSpPr/>
          <p:nvPr/>
        </p:nvSpPr>
        <p:spPr>
          <a:xfrm>
            <a:off x="5504688" y="1554480"/>
            <a:ext cx="1499616" cy="2011680"/>
          </a:xfrm>
          <a:prstGeom prst="roundRect">
            <a:avLst>
              <a:gd name="adj" fmla="val 4878"/>
            </a:avLst>
          </a:prstGeom>
          <a:solidFill>
            <a:srgbClr val="EAF3F0"/>
          </a:solidFill>
          <a:ln w="12700">
            <a:solidFill>
              <a:srgbClr val="EAF3F0"/>
            </a:solidFill>
            <a:prstDash val="solid"/>
          </a:ln>
        </p:spPr>
      </p:sp>
      <p:sp>
        <p:nvSpPr>
          <p:cNvPr id="24" name="Shape 19"/>
          <p:cNvSpPr/>
          <p:nvPr/>
        </p:nvSpPr>
        <p:spPr>
          <a:xfrm>
            <a:off x="5980176" y="1737360"/>
            <a:ext cx="548640" cy="548640"/>
          </a:xfrm>
          <a:prstGeom prst="ellipse">
            <a:avLst/>
          </a:prstGeom>
          <a:solidFill>
            <a:srgbClr val="0F3D3E"/>
          </a:solidFill>
          <a:ln w="12700">
            <a:solidFill>
              <a:srgbClr val="0F3D3E"/>
            </a:solidFill>
            <a:prstDash val="solid"/>
          </a:ln>
        </p:spPr>
      </p:sp>
      <p:pic>
        <p:nvPicPr>
          <p:cNvPr id="25" name="Image 3" descr="preencoded.png">    </p:cNvPr>
          <p:cNvPicPr>
            <a:picLocks noChangeAspect="1"/>
          </p:cNvPicPr>
          <p:nvPr/>
        </p:nvPicPr>
        <p:blipFill>
          <a:blip r:embed="rId4"/>
          <a:stretch>
            <a:fillRect/>
          </a:stretch>
        </p:blipFill>
        <p:spPr>
          <a:xfrm>
            <a:off x="6117336" y="1874520"/>
            <a:ext cx="274320" cy="274320"/>
          </a:xfrm>
          <a:prstGeom prst="rect">
            <a:avLst/>
          </a:prstGeom>
        </p:spPr>
      </p:pic>
      <p:sp>
        <p:nvSpPr>
          <p:cNvPr id="26" name="Text 20"/>
          <p:cNvSpPr txBox="1"/>
          <p:nvPr/>
        </p:nvSpPr>
        <p:spPr>
          <a:xfrm>
            <a:off x="5596128" y="2377440"/>
            <a:ext cx="1316736" cy="457200"/>
          </a:xfrm>
          <a:prstGeom prst="rect">
            <a:avLst/>
          </a:prstGeom>
          <a:no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pytest</a:t>
            </a:r>
            <a:endParaRPr lang="en-US" sz="1200" dirty="0"/>
          </a:p>
        </p:txBody>
      </p:sp>
      <p:sp>
        <p:nvSpPr>
          <p:cNvPr id="27" name="Text 21"/>
          <p:cNvSpPr txBox="1"/>
          <p:nvPr/>
        </p:nvSpPr>
        <p:spPr>
          <a:xfrm>
            <a:off x="5596128" y="2834640"/>
            <a:ext cx="1316736" cy="411480"/>
          </a:xfrm>
          <a:prstGeom prst="rect">
            <a:avLst/>
          </a:prstGeom>
          <a:noFill/>
          <a:ln/>
        </p:spPr>
        <p:txBody>
          <a:bodyPr wrap="square" lIns="0" tIns="0" rIns="0" bIns="0" rtlCol="0" anchor="t"/>
          <a:lstStyle/>
          <a:p>
            <a:pPr algn="ctr" indent="0" marL="0">
              <a:buNone/>
            </a:pPr>
            <a:r>
              <a:rPr lang="en-US" sz="1050" dirty="0">
                <a:solidFill>
                  <a:srgbClr val="1E2B2B"/>
                </a:solidFill>
                <a:latin typeface="Calibri" pitchFamily="34" charset="0"/>
                <a:ea typeface="Calibri" pitchFamily="34" charset="-122"/>
                <a:cs typeface="Calibri" pitchFamily="34" charset="-120"/>
              </a:rPr>
              <a:t>Kasus uji</a:t>
            </a:r>
            <a:endParaRPr lang="en-US" sz="1050" dirty="0"/>
          </a:p>
        </p:txBody>
      </p:sp>
      <p:sp>
        <p:nvSpPr>
          <p:cNvPr id="28" name="Text 22"/>
          <p:cNvSpPr txBox="1"/>
          <p:nvPr/>
        </p:nvSpPr>
        <p:spPr>
          <a:xfrm>
            <a:off x="5596128" y="3246120"/>
            <a:ext cx="1316736" cy="256032"/>
          </a:xfrm>
          <a:prstGeom prst="rect">
            <a:avLst/>
          </a:prstGeom>
          <a:noFill/>
          <a:ln/>
        </p:spPr>
        <p:txBody>
          <a:bodyPr wrap="square" lIns="0" tIns="0" rIns="0" bIns="0" rtlCol="0" anchor="t"/>
          <a:lstStyle/>
          <a:p>
            <a:pPr algn="ctr" indent="0" marL="0">
              <a:buNone/>
            </a:pPr>
            <a:r>
              <a:rPr lang="en-US" sz="900" dirty="0">
                <a:solidFill>
                  <a:srgbClr val="5B6B6B"/>
                </a:solidFill>
                <a:latin typeface="Calibri" pitchFamily="34" charset="0"/>
                <a:ea typeface="Calibri" pitchFamily="34" charset="-122"/>
                <a:cs typeface="Calibri" pitchFamily="34" charset="-120"/>
              </a:rPr>
              <a:t>Lisensi: MIT</a:t>
            </a:r>
            <a:endParaRPr lang="en-US" sz="900" dirty="0"/>
          </a:p>
        </p:txBody>
      </p:sp>
      <p:sp>
        <p:nvSpPr>
          <p:cNvPr id="29" name="Shape 23"/>
          <p:cNvSpPr/>
          <p:nvPr/>
        </p:nvSpPr>
        <p:spPr>
          <a:xfrm>
            <a:off x="7187184" y="1554480"/>
            <a:ext cx="1499616" cy="2011680"/>
          </a:xfrm>
          <a:prstGeom prst="roundRect">
            <a:avLst>
              <a:gd name="adj" fmla="val 4878"/>
            </a:avLst>
          </a:prstGeom>
          <a:solidFill>
            <a:srgbClr val="EAF3F0"/>
          </a:solidFill>
          <a:ln w="12700">
            <a:solidFill>
              <a:srgbClr val="EAF3F0"/>
            </a:solidFill>
            <a:prstDash val="solid"/>
          </a:ln>
        </p:spPr>
      </p:sp>
      <p:sp>
        <p:nvSpPr>
          <p:cNvPr id="30" name="Shape 24"/>
          <p:cNvSpPr/>
          <p:nvPr/>
        </p:nvSpPr>
        <p:spPr>
          <a:xfrm>
            <a:off x="7662672" y="1737360"/>
            <a:ext cx="548640" cy="548640"/>
          </a:xfrm>
          <a:prstGeom prst="ellipse">
            <a:avLst/>
          </a:prstGeom>
          <a:solidFill>
            <a:srgbClr val="0F3D3E"/>
          </a:solidFill>
          <a:ln w="12700">
            <a:solidFill>
              <a:srgbClr val="0F3D3E"/>
            </a:solidFill>
            <a:prstDash val="solid"/>
          </a:ln>
        </p:spPr>
      </p:sp>
      <p:pic>
        <p:nvPicPr>
          <p:cNvPr id="31" name="Image 4" descr="preencoded.png">    </p:cNvPr>
          <p:cNvPicPr>
            <a:picLocks noChangeAspect="1"/>
          </p:cNvPicPr>
          <p:nvPr/>
        </p:nvPicPr>
        <p:blipFill>
          <a:blip r:embed="rId5"/>
          <a:stretch>
            <a:fillRect/>
          </a:stretch>
        </p:blipFill>
        <p:spPr>
          <a:xfrm>
            <a:off x="7799832" y="1874520"/>
            <a:ext cx="274320" cy="274320"/>
          </a:xfrm>
          <a:prstGeom prst="rect">
            <a:avLst/>
          </a:prstGeom>
        </p:spPr>
      </p:pic>
      <p:sp>
        <p:nvSpPr>
          <p:cNvPr id="32" name="Text 25"/>
          <p:cNvSpPr txBox="1"/>
          <p:nvPr/>
        </p:nvSpPr>
        <p:spPr>
          <a:xfrm>
            <a:off x="7278624" y="2377440"/>
            <a:ext cx="1316736" cy="457200"/>
          </a:xfrm>
          <a:prstGeom prst="rect">
            <a:avLst/>
          </a:prstGeom>
          <a:no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FastAPI + Streamlit</a:t>
            </a:r>
            <a:endParaRPr lang="en-US" sz="1200" dirty="0"/>
          </a:p>
        </p:txBody>
      </p:sp>
      <p:sp>
        <p:nvSpPr>
          <p:cNvPr id="33" name="Text 26"/>
          <p:cNvSpPr txBox="1"/>
          <p:nvPr/>
        </p:nvSpPr>
        <p:spPr>
          <a:xfrm>
            <a:off x="7278624" y="2834640"/>
            <a:ext cx="1316736" cy="411480"/>
          </a:xfrm>
          <a:prstGeom prst="rect">
            <a:avLst/>
          </a:prstGeom>
          <a:noFill/>
          <a:ln/>
        </p:spPr>
        <p:txBody>
          <a:bodyPr wrap="square" lIns="0" tIns="0" rIns="0" bIns="0" rtlCol="0" anchor="t"/>
          <a:lstStyle/>
          <a:p>
            <a:pPr algn="ctr" indent="0" marL="0">
              <a:buNone/>
            </a:pPr>
            <a:r>
              <a:rPr lang="en-US" sz="1050" dirty="0">
                <a:solidFill>
                  <a:srgbClr val="1E2B2B"/>
                </a:solidFill>
                <a:latin typeface="Calibri" pitchFamily="34" charset="0"/>
                <a:ea typeface="Calibri" pitchFamily="34" charset="-122"/>
                <a:cs typeface="Calibri" pitchFamily="34" charset="-120"/>
              </a:rPr>
              <a:t>Aplikasi kalkulator</a:t>
            </a:r>
            <a:endParaRPr lang="en-US" sz="1050" dirty="0"/>
          </a:p>
        </p:txBody>
      </p:sp>
      <p:sp>
        <p:nvSpPr>
          <p:cNvPr id="34" name="Text 27"/>
          <p:cNvSpPr txBox="1"/>
          <p:nvPr/>
        </p:nvSpPr>
        <p:spPr>
          <a:xfrm>
            <a:off x="7278624" y="3246120"/>
            <a:ext cx="1316736" cy="256032"/>
          </a:xfrm>
          <a:prstGeom prst="rect">
            <a:avLst/>
          </a:prstGeom>
          <a:noFill/>
          <a:ln/>
        </p:spPr>
        <p:txBody>
          <a:bodyPr wrap="square" lIns="0" tIns="0" rIns="0" bIns="0" rtlCol="0" anchor="t"/>
          <a:lstStyle/>
          <a:p>
            <a:pPr algn="ctr" indent="0" marL="0">
              <a:buNone/>
            </a:pPr>
            <a:r>
              <a:rPr lang="en-US" sz="900" dirty="0">
                <a:solidFill>
                  <a:srgbClr val="5B6B6B"/>
                </a:solidFill>
                <a:latin typeface="Calibri" pitchFamily="34" charset="0"/>
                <a:ea typeface="Calibri" pitchFamily="34" charset="-122"/>
                <a:cs typeface="Calibri" pitchFamily="34" charset="-120"/>
              </a:rPr>
              <a:t>Lisensi: MIT / Apache 2.0</a:t>
            </a:r>
            <a:endParaRPr lang="en-US" sz="900" dirty="0"/>
          </a:p>
        </p:txBody>
      </p:sp>
      <p:sp>
        <p:nvSpPr>
          <p:cNvPr id="35" name="Shape 28"/>
          <p:cNvSpPr/>
          <p:nvPr/>
        </p:nvSpPr>
        <p:spPr>
          <a:xfrm>
            <a:off x="457200" y="3840480"/>
            <a:ext cx="8229600" cy="731520"/>
          </a:xfrm>
          <a:prstGeom prst="roundRect">
            <a:avLst>
              <a:gd name="adj" fmla="val 10000"/>
            </a:avLst>
          </a:prstGeom>
          <a:solidFill>
            <a:srgbClr val="F8E3BD"/>
          </a:solidFill>
          <a:ln w="12700">
            <a:solidFill>
              <a:srgbClr val="E8A33D"/>
            </a:solidFill>
            <a:prstDash val="solid"/>
          </a:ln>
        </p:spPr>
      </p:sp>
      <p:sp>
        <p:nvSpPr>
          <p:cNvPr id="36" name="Text 29"/>
          <p:cNvSpPr txBox="1"/>
          <p:nvPr/>
        </p:nvSpPr>
        <p:spPr>
          <a:xfrm>
            <a:off x="640080" y="3840480"/>
            <a:ext cx="7863840" cy="731520"/>
          </a:xfrm>
          <a:prstGeom prst="rect">
            <a:avLst/>
          </a:prstGeom>
          <a:noFill/>
          <a:ln/>
        </p:spPr>
        <p:txBody>
          <a:bodyPr wrap="square" lIns="0" tIns="0" rIns="0" bIns="0" rtlCol="0" anchor="ctr"/>
          <a:lstStyle/>
          <a:p>
            <a:pPr indent="0" marL="0">
              <a:buNone/>
            </a:pPr>
            <a:r>
              <a:rPr lang="en-US" sz="1200" b="1" dirty="0">
                <a:solidFill>
                  <a:srgbClr val="1E2B2B"/>
                </a:solidFill>
                <a:latin typeface="Calibri" pitchFamily="34" charset="0"/>
                <a:ea typeface="Calibri" pitchFamily="34" charset="-122"/>
                <a:cs typeface="Calibri" pitchFamily="34" charset="-120"/>
              </a:rPr>
              <a:t>Z3 hanya untuk analisis: </a:t>
            </a:r>
            <a:pPr indent="0" marL="0">
              <a:buNone/>
            </a:pPr>
            <a:r>
              <a:rPr lang="en-US" sz="1200" dirty="0">
                <a:solidFill>
                  <a:srgbClr val="1E2B2B"/>
                </a:solidFill>
                <a:latin typeface="Calibri" pitchFamily="34" charset="0"/>
                <a:ea typeface="Calibri" pitchFamily="34" charset="-122"/>
                <a:cs typeface="Calibri" pitchFamily="34" charset="-120"/>
              </a:rPr>
              <a:t>membuktikan kapan gross-up punya solusi tunggal atau ganda, dan memeriksa konsistensi konfigurasi. Perhitungan harian cukup dengan mesin Python.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08 · JADWAL</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Jadwal Penelitian (12 Bulan)</a:t>
            </a:r>
            <a:endParaRPr lang="en-US" sz="2800" dirty="0"/>
          </a:p>
        </p:txBody>
      </p:sp>
      <p:sp>
        <p:nvSpPr>
          <p:cNvPr id="4" name="Text 2"/>
          <p:cNvSpPr txBox="1"/>
          <p:nvPr/>
        </p:nvSpPr>
        <p:spPr>
          <a:xfrm>
            <a:off x="310896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1</a:t>
            </a:r>
            <a:endParaRPr lang="en-US" sz="1000" dirty="0"/>
          </a:p>
        </p:txBody>
      </p:sp>
      <p:sp>
        <p:nvSpPr>
          <p:cNvPr id="5" name="Text 3"/>
          <p:cNvSpPr txBox="1"/>
          <p:nvPr/>
        </p:nvSpPr>
        <p:spPr>
          <a:xfrm>
            <a:off x="357378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2</a:t>
            </a:r>
            <a:endParaRPr lang="en-US" sz="1000" dirty="0"/>
          </a:p>
        </p:txBody>
      </p:sp>
      <p:sp>
        <p:nvSpPr>
          <p:cNvPr id="6" name="Text 4"/>
          <p:cNvSpPr txBox="1"/>
          <p:nvPr/>
        </p:nvSpPr>
        <p:spPr>
          <a:xfrm>
            <a:off x="403860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3</a:t>
            </a:r>
            <a:endParaRPr lang="en-US" sz="1000" dirty="0"/>
          </a:p>
        </p:txBody>
      </p:sp>
      <p:sp>
        <p:nvSpPr>
          <p:cNvPr id="7" name="Text 5"/>
          <p:cNvSpPr txBox="1"/>
          <p:nvPr/>
        </p:nvSpPr>
        <p:spPr>
          <a:xfrm>
            <a:off x="450342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4</a:t>
            </a:r>
            <a:endParaRPr lang="en-US" sz="1000" dirty="0"/>
          </a:p>
        </p:txBody>
      </p:sp>
      <p:sp>
        <p:nvSpPr>
          <p:cNvPr id="8" name="Text 6"/>
          <p:cNvSpPr txBox="1"/>
          <p:nvPr/>
        </p:nvSpPr>
        <p:spPr>
          <a:xfrm>
            <a:off x="496824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5</a:t>
            </a:r>
            <a:endParaRPr lang="en-US" sz="1000" dirty="0"/>
          </a:p>
        </p:txBody>
      </p:sp>
      <p:sp>
        <p:nvSpPr>
          <p:cNvPr id="9" name="Text 7"/>
          <p:cNvSpPr txBox="1"/>
          <p:nvPr/>
        </p:nvSpPr>
        <p:spPr>
          <a:xfrm>
            <a:off x="543306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6</a:t>
            </a:r>
            <a:endParaRPr lang="en-US" sz="1000" dirty="0"/>
          </a:p>
        </p:txBody>
      </p:sp>
      <p:sp>
        <p:nvSpPr>
          <p:cNvPr id="10" name="Text 8"/>
          <p:cNvSpPr txBox="1"/>
          <p:nvPr/>
        </p:nvSpPr>
        <p:spPr>
          <a:xfrm>
            <a:off x="589788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7</a:t>
            </a:r>
            <a:endParaRPr lang="en-US" sz="1000" dirty="0"/>
          </a:p>
        </p:txBody>
      </p:sp>
      <p:sp>
        <p:nvSpPr>
          <p:cNvPr id="11" name="Text 9"/>
          <p:cNvSpPr txBox="1"/>
          <p:nvPr/>
        </p:nvSpPr>
        <p:spPr>
          <a:xfrm>
            <a:off x="636270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8</a:t>
            </a:r>
            <a:endParaRPr lang="en-US" sz="1000" dirty="0"/>
          </a:p>
        </p:txBody>
      </p:sp>
      <p:sp>
        <p:nvSpPr>
          <p:cNvPr id="12" name="Text 10"/>
          <p:cNvSpPr txBox="1"/>
          <p:nvPr/>
        </p:nvSpPr>
        <p:spPr>
          <a:xfrm>
            <a:off x="682752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9</a:t>
            </a:r>
            <a:endParaRPr lang="en-US" sz="1000" dirty="0"/>
          </a:p>
        </p:txBody>
      </p:sp>
      <p:sp>
        <p:nvSpPr>
          <p:cNvPr id="13" name="Text 11"/>
          <p:cNvSpPr txBox="1"/>
          <p:nvPr/>
        </p:nvSpPr>
        <p:spPr>
          <a:xfrm>
            <a:off x="729234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10</a:t>
            </a:r>
            <a:endParaRPr lang="en-US" sz="1000" dirty="0"/>
          </a:p>
        </p:txBody>
      </p:sp>
      <p:sp>
        <p:nvSpPr>
          <p:cNvPr id="14" name="Text 12"/>
          <p:cNvSpPr txBox="1"/>
          <p:nvPr/>
        </p:nvSpPr>
        <p:spPr>
          <a:xfrm>
            <a:off x="775716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11</a:t>
            </a:r>
            <a:endParaRPr lang="en-US" sz="1000" dirty="0"/>
          </a:p>
        </p:txBody>
      </p:sp>
      <p:sp>
        <p:nvSpPr>
          <p:cNvPr id="15" name="Text 13"/>
          <p:cNvSpPr txBox="1"/>
          <p:nvPr/>
        </p:nvSpPr>
        <p:spPr>
          <a:xfrm>
            <a:off x="8221980" y="1234440"/>
            <a:ext cx="464820" cy="256032"/>
          </a:xfrm>
          <a:prstGeom prst="rect">
            <a:avLst/>
          </a:prstGeom>
          <a:noFill/>
          <a:ln/>
        </p:spPr>
        <p:txBody>
          <a:bodyPr wrap="square" lIns="0" tIns="0" rIns="0" bIns="0" rtlCol="0" anchor="t"/>
          <a:lstStyle/>
          <a:p>
            <a:pPr algn="ctr" indent="0" marL="0">
              <a:buNone/>
            </a:pPr>
            <a:r>
              <a:rPr lang="en-US" sz="1000" b="1" dirty="0">
                <a:solidFill>
                  <a:srgbClr val="5B6B6B"/>
                </a:solidFill>
                <a:latin typeface="Calibri" pitchFamily="34" charset="0"/>
                <a:ea typeface="Calibri" pitchFamily="34" charset="-122"/>
                <a:cs typeface="Calibri" pitchFamily="34" charset="-120"/>
              </a:rPr>
              <a:t>12</a:t>
            </a:r>
            <a:endParaRPr lang="en-US" sz="1000" dirty="0"/>
          </a:p>
        </p:txBody>
      </p:sp>
      <p:sp>
        <p:nvSpPr>
          <p:cNvPr id="16" name="Shape 14"/>
          <p:cNvSpPr/>
          <p:nvPr/>
        </p:nvSpPr>
        <p:spPr>
          <a:xfrm>
            <a:off x="457200" y="1563624"/>
            <a:ext cx="8229600" cy="365760"/>
          </a:xfrm>
          <a:prstGeom prst="rect">
            <a:avLst/>
          </a:prstGeom>
          <a:solidFill>
            <a:srgbClr val="F4F8F6"/>
          </a:solidFill>
          <a:ln w="12700">
            <a:solidFill>
              <a:srgbClr val="F4F8F6"/>
            </a:solidFill>
            <a:prstDash val="solid"/>
          </a:ln>
        </p:spPr>
      </p:sp>
      <p:sp>
        <p:nvSpPr>
          <p:cNvPr id="17" name="Text 15"/>
          <p:cNvSpPr txBox="1"/>
          <p:nvPr/>
        </p:nvSpPr>
        <p:spPr>
          <a:xfrm>
            <a:off x="548640" y="1600200"/>
            <a:ext cx="2514600" cy="292608"/>
          </a:xfrm>
          <a:prstGeom prst="rect">
            <a:avLst/>
          </a:prstGeom>
          <a:noFill/>
          <a:ln/>
        </p:spPr>
        <p:txBody>
          <a:bodyPr wrap="square" lIns="0" tIns="0" rIns="0" bIns="0" rtlCol="0" anchor="ctr"/>
          <a:lstStyle/>
          <a:p>
            <a:pPr indent="0" marL="0">
              <a:buNone/>
            </a:pPr>
            <a:r>
              <a:rPr lang="en-US" sz="1100" dirty="0">
                <a:solidFill>
                  <a:srgbClr val="1E2B2B"/>
                </a:solidFill>
                <a:latin typeface="Calibri" pitchFamily="34" charset="0"/>
                <a:ea typeface="Calibri" pitchFamily="34" charset="-122"/>
                <a:cs typeface="Calibri" pitchFamily="34" charset="-120"/>
              </a:rPr>
              <a:t>Tinjauan pustaka</a:t>
            </a:r>
            <a:endParaRPr lang="en-US" sz="1100" dirty="0"/>
          </a:p>
        </p:txBody>
      </p:sp>
      <p:sp>
        <p:nvSpPr>
          <p:cNvPr id="18" name="Shape 16"/>
          <p:cNvSpPr/>
          <p:nvPr/>
        </p:nvSpPr>
        <p:spPr>
          <a:xfrm>
            <a:off x="3145536" y="1627632"/>
            <a:ext cx="856488" cy="237744"/>
          </a:xfrm>
          <a:prstGeom prst="roundRect">
            <a:avLst>
              <a:gd name="adj" fmla="val 23077"/>
            </a:avLst>
          </a:prstGeom>
          <a:solidFill>
            <a:srgbClr val="1D6A6B"/>
          </a:solidFill>
          <a:ln w="12700">
            <a:solidFill>
              <a:srgbClr val="1D6A6B"/>
            </a:solidFill>
            <a:prstDash val="solid"/>
          </a:ln>
        </p:spPr>
      </p:sp>
      <p:sp>
        <p:nvSpPr>
          <p:cNvPr id="19" name="Text 17"/>
          <p:cNvSpPr txBox="1"/>
          <p:nvPr/>
        </p:nvSpPr>
        <p:spPr>
          <a:xfrm>
            <a:off x="548640" y="1965960"/>
            <a:ext cx="2514600" cy="292608"/>
          </a:xfrm>
          <a:prstGeom prst="rect">
            <a:avLst/>
          </a:prstGeom>
          <a:noFill/>
          <a:ln/>
        </p:spPr>
        <p:txBody>
          <a:bodyPr wrap="square" lIns="0" tIns="0" rIns="0" bIns="0" rtlCol="0" anchor="ctr"/>
          <a:lstStyle/>
          <a:p>
            <a:pPr indent="0" marL="0">
              <a:buNone/>
            </a:pPr>
            <a:r>
              <a:rPr lang="en-US" sz="1100" dirty="0">
                <a:solidFill>
                  <a:srgbClr val="1E2B2B"/>
                </a:solidFill>
                <a:latin typeface="Calibri" pitchFamily="34" charset="0"/>
                <a:ea typeface="Calibri" pitchFamily="34" charset="-122"/>
                <a:cs typeface="Calibri" pitchFamily="34" charset="-120"/>
              </a:rPr>
              <a:t>Kodifikasi regulasi</a:t>
            </a:r>
            <a:endParaRPr lang="en-US" sz="1100" dirty="0"/>
          </a:p>
        </p:txBody>
      </p:sp>
      <p:sp>
        <p:nvSpPr>
          <p:cNvPr id="20" name="Shape 18"/>
          <p:cNvSpPr/>
          <p:nvPr/>
        </p:nvSpPr>
        <p:spPr>
          <a:xfrm>
            <a:off x="3610356" y="1993392"/>
            <a:ext cx="856488" cy="237744"/>
          </a:xfrm>
          <a:prstGeom prst="roundRect">
            <a:avLst>
              <a:gd name="adj" fmla="val 23077"/>
            </a:avLst>
          </a:prstGeom>
          <a:solidFill>
            <a:srgbClr val="1D6A6B"/>
          </a:solidFill>
          <a:ln w="12700">
            <a:solidFill>
              <a:srgbClr val="1D6A6B"/>
            </a:solidFill>
            <a:prstDash val="solid"/>
          </a:ln>
        </p:spPr>
      </p:sp>
      <p:sp>
        <p:nvSpPr>
          <p:cNvPr id="21" name="Shape 19"/>
          <p:cNvSpPr/>
          <p:nvPr/>
        </p:nvSpPr>
        <p:spPr>
          <a:xfrm>
            <a:off x="457200" y="2295144"/>
            <a:ext cx="8229600" cy="365760"/>
          </a:xfrm>
          <a:prstGeom prst="rect">
            <a:avLst/>
          </a:prstGeom>
          <a:solidFill>
            <a:srgbClr val="F4F8F6"/>
          </a:solidFill>
          <a:ln w="12700">
            <a:solidFill>
              <a:srgbClr val="F4F8F6"/>
            </a:solidFill>
            <a:prstDash val="solid"/>
          </a:ln>
        </p:spPr>
      </p:sp>
      <p:sp>
        <p:nvSpPr>
          <p:cNvPr id="22" name="Text 20"/>
          <p:cNvSpPr txBox="1"/>
          <p:nvPr/>
        </p:nvSpPr>
        <p:spPr>
          <a:xfrm>
            <a:off x="548640" y="2331720"/>
            <a:ext cx="2514600" cy="292608"/>
          </a:xfrm>
          <a:prstGeom prst="rect">
            <a:avLst/>
          </a:prstGeom>
          <a:noFill/>
          <a:ln/>
        </p:spPr>
        <p:txBody>
          <a:bodyPr wrap="square" lIns="0" tIns="0" rIns="0" bIns="0" rtlCol="0" anchor="ctr"/>
          <a:lstStyle/>
          <a:p>
            <a:pPr indent="0" marL="0">
              <a:buNone/>
            </a:pPr>
            <a:r>
              <a:rPr lang="en-US" sz="1100" dirty="0">
                <a:solidFill>
                  <a:srgbClr val="1E2B2B"/>
                </a:solidFill>
                <a:latin typeface="Calibri" pitchFamily="34" charset="0"/>
                <a:ea typeface="Calibri" pitchFamily="34" charset="-122"/>
                <a:cs typeface="Calibri" pitchFamily="34" charset="-120"/>
              </a:rPr>
              <a:t>Lapisan regulasi + validasi</a:t>
            </a:r>
            <a:endParaRPr lang="en-US" sz="1100" dirty="0"/>
          </a:p>
        </p:txBody>
      </p:sp>
      <p:sp>
        <p:nvSpPr>
          <p:cNvPr id="23" name="Shape 21"/>
          <p:cNvSpPr/>
          <p:nvPr/>
        </p:nvSpPr>
        <p:spPr>
          <a:xfrm>
            <a:off x="4075176" y="2359152"/>
            <a:ext cx="856488" cy="237744"/>
          </a:xfrm>
          <a:prstGeom prst="roundRect">
            <a:avLst>
              <a:gd name="adj" fmla="val 23077"/>
            </a:avLst>
          </a:prstGeom>
          <a:solidFill>
            <a:srgbClr val="E8A33D"/>
          </a:solidFill>
          <a:ln w="12700">
            <a:solidFill>
              <a:srgbClr val="E8A33D"/>
            </a:solidFill>
            <a:prstDash val="solid"/>
          </a:ln>
        </p:spPr>
      </p:sp>
      <p:sp>
        <p:nvSpPr>
          <p:cNvPr id="24" name="Text 22"/>
          <p:cNvSpPr txBox="1"/>
          <p:nvPr/>
        </p:nvSpPr>
        <p:spPr>
          <a:xfrm>
            <a:off x="548640" y="2697480"/>
            <a:ext cx="2514600" cy="292608"/>
          </a:xfrm>
          <a:prstGeom prst="rect">
            <a:avLst/>
          </a:prstGeom>
          <a:noFill/>
          <a:ln/>
        </p:spPr>
        <p:txBody>
          <a:bodyPr wrap="square" lIns="0" tIns="0" rIns="0" bIns="0" rtlCol="0" anchor="ctr"/>
          <a:lstStyle/>
          <a:p>
            <a:pPr indent="0" marL="0">
              <a:buNone/>
            </a:pPr>
            <a:r>
              <a:rPr lang="en-US" sz="1100" dirty="0">
                <a:solidFill>
                  <a:srgbClr val="1E2B2B"/>
                </a:solidFill>
                <a:latin typeface="Calibri" pitchFamily="34" charset="0"/>
                <a:ea typeface="Calibri" pitchFamily="34" charset="-122"/>
                <a:cs typeface="Calibri" pitchFamily="34" charset="-120"/>
              </a:rPr>
              <a:t>Lapisan kebijakan, mesin, aplikasi</a:t>
            </a:r>
            <a:endParaRPr lang="en-US" sz="1100" dirty="0"/>
          </a:p>
        </p:txBody>
      </p:sp>
      <p:sp>
        <p:nvSpPr>
          <p:cNvPr id="25" name="Shape 23"/>
          <p:cNvSpPr/>
          <p:nvPr/>
        </p:nvSpPr>
        <p:spPr>
          <a:xfrm>
            <a:off x="5004816" y="2724912"/>
            <a:ext cx="856488" cy="237744"/>
          </a:xfrm>
          <a:prstGeom prst="roundRect">
            <a:avLst>
              <a:gd name="adj" fmla="val 23077"/>
            </a:avLst>
          </a:prstGeom>
          <a:solidFill>
            <a:srgbClr val="1D6A6B"/>
          </a:solidFill>
          <a:ln w="12700">
            <a:solidFill>
              <a:srgbClr val="1D6A6B"/>
            </a:solidFill>
            <a:prstDash val="solid"/>
          </a:ln>
        </p:spPr>
      </p:sp>
      <p:sp>
        <p:nvSpPr>
          <p:cNvPr id="26" name="Shape 24"/>
          <p:cNvSpPr/>
          <p:nvPr/>
        </p:nvSpPr>
        <p:spPr>
          <a:xfrm>
            <a:off x="457200" y="3026664"/>
            <a:ext cx="8229600" cy="365760"/>
          </a:xfrm>
          <a:prstGeom prst="rect">
            <a:avLst/>
          </a:prstGeom>
          <a:solidFill>
            <a:srgbClr val="F4F8F6"/>
          </a:solidFill>
          <a:ln w="12700">
            <a:solidFill>
              <a:srgbClr val="F4F8F6"/>
            </a:solidFill>
            <a:prstDash val="solid"/>
          </a:ln>
        </p:spPr>
      </p:sp>
      <p:sp>
        <p:nvSpPr>
          <p:cNvPr id="27" name="Text 25"/>
          <p:cNvSpPr txBox="1"/>
          <p:nvPr/>
        </p:nvSpPr>
        <p:spPr>
          <a:xfrm>
            <a:off x="548640" y="3063240"/>
            <a:ext cx="2514600" cy="292608"/>
          </a:xfrm>
          <a:prstGeom prst="rect">
            <a:avLst/>
          </a:prstGeom>
          <a:noFill/>
          <a:ln/>
        </p:spPr>
        <p:txBody>
          <a:bodyPr wrap="square" lIns="0" tIns="0" rIns="0" bIns="0" rtlCol="0" anchor="ctr"/>
          <a:lstStyle/>
          <a:p>
            <a:pPr indent="0" marL="0">
              <a:buNone/>
            </a:pPr>
            <a:r>
              <a:rPr lang="en-US" sz="1100" dirty="0">
                <a:solidFill>
                  <a:srgbClr val="1E2B2B"/>
                </a:solidFill>
                <a:latin typeface="Calibri" pitchFamily="34" charset="0"/>
                <a:ea typeface="Calibri" pitchFamily="34" charset="-122"/>
                <a:cs typeface="Calibri" pitchFamily="34" charset="-120"/>
              </a:rPr>
              <a:t>Analisis komponen melingkar</a:t>
            </a:r>
            <a:endParaRPr lang="en-US" sz="1100" dirty="0"/>
          </a:p>
        </p:txBody>
      </p:sp>
      <p:sp>
        <p:nvSpPr>
          <p:cNvPr id="28" name="Shape 26"/>
          <p:cNvSpPr/>
          <p:nvPr/>
        </p:nvSpPr>
        <p:spPr>
          <a:xfrm>
            <a:off x="5934456" y="3090672"/>
            <a:ext cx="856488" cy="237744"/>
          </a:xfrm>
          <a:prstGeom prst="roundRect">
            <a:avLst>
              <a:gd name="adj" fmla="val 23077"/>
            </a:avLst>
          </a:prstGeom>
          <a:solidFill>
            <a:srgbClr val="E8A33D"/>
          </a:solidFill>
          <a:ln w="12700">
            <a:solidFill>
              <a:srgbClr val="E8A33D"/>
            </a:solidFill>
            <a:prstDash val="solid"/>
          </a:ln>
        </p:spPr>
      </p:sp>
      <p:sp>
        <p:nvSpPr>
          <p:cNvPr id="29" name="Text 27"/>
          <p:cNvSpPr txBox="1"/>
          <p:nvPr/>
        </p:nvSpPr>
        <p:spPr>
          <a:xfrm>
            <a:off x="548640" y="3429000"/>
            <a:ext cx="2514600" cy="292608"/>
          </a:xfrm>
          <a:prstGeom prst="rect">
            <a:avLst/>
          </a:prstGeom>
          <a:noFill/>
          <a:ln/>
        </p:spPr>
        <p:txBody>
          <a:bodyPr wrap="square" lIns="0" tIns="0" rIns="0" bIns="0" rtlCol="0" anchor="ctr"/>
          <a:lstStyle/>
          <a:p>
            <a:pPr indent="0" marL="0">
              <a:buNone/>
            </a:pPr>
            <a:r>
              <a:rPr lang="en-US" sz="1100" dirty="0">
                <a:solidFill>
                  <a:srgbClr val="1E2B2B"/>
                </a:solidFill>
                <a:latin typeface="Calibri" pitchFamily="34" charset="0"/>
                <a:ea typeface="Calibri" pitchFamily="34" charset="-122"/>
                <a:cs typeface="Calibri" pitchFamily="34" charset="-120"/>
              </a:rPr>
              <a:t>Studi kesesuaian</a:t>
            </a:r>
            <a:endParaRPr lang="en-US" sz="1100" dirty="0"/>
          </a:p>
        </p:txBody>
      </p:sp>
      <p:sp>
        <p:nvSpPr>
          <p:cNvPr id="30" name="Shape 28"/>
          <p:cNvSpPr/>
          <p:nvPr/>
        </p:nvSpPr>
        <p:spPr>
          <a:xfrm>
            <a:off x="6864096" y="3456432"/>
            <a:ext cx="391668" cy="237744"/>
          </a:xfrm>
          <a:prstGeom prst="roundRect">
            <a:avLst>
              <a:gd name="adj" fmla="val 23077"/>
            </a:avLst>
          </a:prstGeom>
          <a:solidFill>
            <a:srgbClr val="1D6A6B"/>
          </a:solidFill>
          <a:ln w="12700">
            <a:solidFill>
              <a:srgbClr val="1D6A6B"/>
            </a:solidFill>
            <a:prstDash val="solid"/>
          </a:ln>
        </p:spPr>
      </p:sp>
      <p:sp>
        <p:nvSpPr>
          <p:cNvPr id="31" name="Shape 29"/>
          <p:cNvSpPr/>
          <p:nvPr/>
        </p:nvSpPr>
        <p:spPr>
          <a:xfrm>
            <a:off x="457200" y="3758184"/>
            <a:ext cx="8229600" cy="365760"/>
          </a:xfrm>
          <a:prstGeom prst="rect">
            <a:avLst/>
          </a:prstGeom>
          <a:solidFill>
            <a:srgbClr val="F4F8F6"/>
          </a:solidFill>
          <a:ln w="12700">
            <a:solidFill>
              <a:srgbClr val="F4F8F6"/>
            </a:solidFill>
            <a:prstDash val="solid"/>
          </a:ln>
        </p:spPr>
      </p:sp>
      <p:sp>
        <p:nvSpPr>
          <p:cNvPr id="32" name="Text 30"/>
          <p:cNvSpPr txBox="1"/>
          <p:nvPr/>
        </p:nvSpPr>
        <p:spPr>
          <a:xfrm>
            <a:off x="548640" y="3794760"/>
            <a:ext cx="2514600" cy="292608"/>
          </a:xfrm>
          <a:prstGeom prst="rect">
            <a:avLst/>
          </a:prstGeom>
          <a:noFill/>
          <a:ln/>
        </p:spPr>
        <p:txBody>
          <a:bodyPr wrap="square" lIns="0" tIns="0" rIns="0" bIns="0" rtlCol="0" anchor="ctr"/>
          <a:lstStyle/>
          <a:p>
            <a:pPr indent="0" marL="0">
              <a:buNone/>
            </a:pPr>
            <a:r>
              <a:rPr lang="en-US" sz="1100" dirty="0">
                <a:solidFill>
                  <a:srgbClr val="1E2B2B"/>
                </a:solidFill>
                <a:latin typeface="Calibri" pitchFamily="34" charset="0"/>
                <a:ea typeface="Calibri" pitchFamily="34" charset="-122"/>
                <a:cs typeface="Calibri" pitchFamily="34" charset="-120"/>
              </a:rPr>
              <a:t>Pemeliharaan &amp; ekspresivitas</a:t>
            </a:r>
            <a:endParaRPr lang="en-US" sz="1100" dirty="0"/>
          </a:p>
        </p:txBody>
      </p:sp>
      <p:sp>
        <p:nvSpPr>
          <p:cNvPr id="33" name="Shape 31"/>
          <p:cNvSpPr/>
          <p:nvPr/>
        </p:nvSpPr>
        <p:spPr>
          <a:xfrm>
            <a:off x="7328916" y="3822192"/>
            <a:ext cx="391668" cy="237744"/>
          </a:xfrm>
          <a:prstGeom prst="roundRect">
            <a:avLst>
              <a:gd name="adj" fmla="val 23077"/>
            </a:avLst>
          </a:prstGeom>
          <a:solidFill>
            <a:srgbClr val="1D6A6B"/>
          </a:solidFill>
          <a:ln w="12700">
            <a:solidFill>
              <a:srgbClr val="1D6A6B"/>
            </a:solidFill>
            <a:prstDash val="solid"/>
          </a:ln>
        </p:spPr>
      </p:sp>
      <p:sp>
        <p:nvSpPr>
          <p:cNvPr id="34" name="Text 32"/>
          <p:cNvSpPr txBox="1"/>
          <p:nvPr/>
        </p:nvSpPr>
        <p:spPr>
          <a:xfrm>
            <a:off x="548640" y="4160520"/>
            <a:ext cx="2514600" cy="292608"/>
          </a:xfrm>
          <a:prstGeom prst="rect">
            <a:avLst/>
          </a:prstGeom>
          <a:noFill/>
          <a:ln/>
        </p:spPr>
        <p:txBody>
          <a:bodyPr wrap="square" lIns="0" tIns="0" rIns="0" bIns="0" rtlCol="0" anchor="ctr"/>
          <a:lstStyle/>
          <a:p>
            <a:pPr indent="0" marL="0">
              <a:buNone/>
            </a:pPr>
            <a:r>
              <a:rPr lang="en-US" sz="1100" dirty="0">
                <a:solidFill>
                  <a:srgbClr val="1E2B2B"/>
                </a:solidFill>
                <a:latin typeface="Calibri" pitchFamily="34" charset="0"/>
                <a:ea typeface="Calibri" pitchFamily="34" charset="-122"/>
                <a:cs typeface="Calibri" pitchFamily="34" charset="-120"/>
              </a:rPr>
              <a:t>Penulisan &amp; rilis</a:t>
            </a:r>
            <a:endParaRPr lang="en-US" sz="1100" dirty="0"/>
          </a:p>
        </p:txBody>
      </p:sp>
      <p:sp>
        <p:nvSpPr>
          <p:cNvPr id="35" name="Shape 33"/>
          <p:cNvSpPr/>
          <p:nvPr/>
        </p:nvSpPr>
        <p:spPr>
          <a:xfrm>
            <a:off x="7793736" y="4187952"/>
            <a:ext cx="856488" cy="237744"/>
          </a:xfrm>
          <a:prstGeom prst="roundRect">
            <a:avLst>
              <a:gd name="adj" fmla="val 23077"/>
            </a:avLst>
          </a:prstGeom>
          <a:solidFill>
            <a:srgbClr val="1D6A6B"/>
          </a:solidFill>
          <a:ln w="12700">
            <a:solidFill>
              <a:srgbClr val="1D6A6B"/>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08 · RISIKO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Risiko dan Cara Mengatasinya</a:t>
            </a:r>
            <a:endParaRPr lang="en-US" sz="2800" dirty="0"/>
          </a:p>
        </p:txBody>
      </p:sp>
      <p:sp>
        <p:nvSpPr>
          <p:cNvPr id="4" name="Text 2"/>
          <p:cNvSpPr txBox="1"/>
          <p:nvPr/>
        </p:nvSpPr>
        <p:spPr>
          <a:xfrm>
            <a:off x="457200" y="1143000"/>
            <a:ext cx="3657600" cy="274320"/>
          </a:xfrm>
          <a:prstGeom prst="rect">
            <a:avLst/>
          </a:prstGeom>
          <a:noFill/>
          <a:ln/>
        </p:spPr>
        <p:txBody>
          <a:bodyPr wrap="square" lIns="0" tIns="0" rIns="0" bIns="0" rtlCol="0" anchor="t"/>
          <a:lstStyle/>
          <a:p>
            <a:pPr indent="0" marL="0">
              <a:buNone/>
            </a:pPr>
            <a:r>
              <a:rPr lang="en-US" sz="1200" b="1" dirty="0">
                <a:solidFill>
                  <a:srgbClr val="B5543C"/>
                </a:solidFill>
                <a:latin typeface="Calibri" pitchFamily="34" charset="0"/>
                <a:ea typeface="Calibri" pitchFamily="34" charset="-122"/>
                <a:cs typeface="Calibri" pitchFamily="34" charset="-120"/>
              </a:rPr>
              <a:t>Risiko</a:t>
            </a:r>
            <a:endParaRPr lang="en-US" sz="1200" dirty="0"/>
          </a:p>
        </p:txBody>
      </p:sp>
      <p:sp>
        <p:nvSpPr>
          <p:cNvPr id="5" name="Text 3"/>
          <p:cNvSpPr txBox="1"/>
          <p:nvPr/>
        </p:nvSpPr>
        <p:spPr>
          <a:xfrm>
            <a:off x="4846320" y="1143000"/>
            <a:ext cx="3657600" cy="274320"/>
          </a:xfrm>
          <a:prstGeom prst="rect">
            <a:avLst/>
          </a:prstGeom>
          <a:noFill/>
          <a:ln/>
        </p:spPr>
        <p:txBody>
          <a:bodyPr wrap="square" lIns="0" tIns="0" rIns="0" bIns="0" rtlCol="0" anchor="t"/>
          <a:lstStyle/>
          <a:p>
            <a:pPr indent="0" marL="0">
              <a:buNone/>
            </a:pPr>
            <a:r>
              <a:rPr lang="en-US" sz="1200" b="1" dirty="0">
                <a:solidFill>
                  <a:srgbClr val="2E7D5B"/>
                </a:solidFill>
                <a:latin typeface="Calibri" pitchFamily="34" charset="0"/>
                <a:ea typeface="Calibri" pitchFamily="34" charset="-122"/>
                <a:cs typeface="Calibri" pitchFamily="34" charset="-120"/>
              </a:rPr>
              <a:t>Mitigasi</a:t>
            </a:r>
            <a:endParaRPr lang="en-US" sz="1200" dirty="0"/>
          </a:p>
        </p:txBody>
      </p:sp>
      <p:sp>
        <p:nvSpPr>
          <p:cNvPr id="6" name="Shape 4"/>
          <p:cNvSpPr/>
          <p:nvPr/>
        </p:nvSpPr>
        <p:spPr>
          <a:xfrm>
            <a:off x="457200" y="1463040"/>
            <a:ext cx="3931920" cy="658368"/>
          </a:xfrm>
          <a:prstGeom prst="roundRect">
            <a:avLst>
              <a:gd name="adj" fmla="val 11111"/>
            </a:avLst>
          </a:prstGeom>
          <a:solidFill>
            <a:srgbClr val="EAF3F0"/>
          </a:solidFill>
          <a:ln w="12700">
            <a:solidFill>
              <a:srgbClr val="EAF3F0"/>
            </a:solidFill>
            <a:prstDash val="solid"/>
          </a:ln>
        </p:spPr>
      </p:sp>
      <p:pic>
        <p:nvPicPr>
          <p:cNvPr id="7" name="Image 0" descr="preencoded.png">    </p:cNvPr>
          <p:cNvPicPr>
            <a:picLocks noChangeAspect="1"/>
          </p:cNvPicPr>
          <p:nvPr/>
        </p:nvPicPr>
        <p:blipFill>
          <a:blip r:embed="rId1"/>
          <a:stretch>
            <a:fillRect/>
          </a:stretch>
        </p:blipFill>
        <p:spPr>
          <a:xfrm>
            <a:off x="594360" y="1645920"/>
            <a:ext cx="292608" cy="292608"/>
          </a:xfrm>
          <a:prstGeom prst="rect">
            <a:avLst/>
          </a:prstGeom>
        </p:spPr>
      </p:pic>
      <p:sp>
        <p:nvSpPr>
          <p:cNvPr id="8" name="Text 5"/>
          <p:cNvSpPr txBox="1"/>
          <p:nvPr/>
        </p:nvSpPr>
        <p:spPr>
          <a:xfrm>
            <a:off x="1005840" y="1463040"/>
            <a:ext cx="3291840" cy="658368"/>
          </a:xfrm>
          <a:prstGeom prst="rect">
            <a:avLst/>
          </a:prstGeom>
          <a:noFill/>
          <a:ln/>
        </p:spPr>
        <p:txBody>
          <a:bodyPr wrap="square" lIns="0" tIns="0" rIns="0" bIns="0" rtlCol="0" anchor="ctr"/>
          <a:lstStyle/>
          <a:p>
            <a:pPr indent="0" marL="0">
              <a:buNone/>
            </a:pPr>
            <a:r>
              <a:rPr lang="en-US" sz="1200" b="1" dirty="0">
                <a:solidFill>
                  <a:srgbClr val="0F3D3E"/>
                </a:solidFill>
                <a:latin typeface="Calibri" pitchFamily="34" charset="0"/>
                <a:ea typeface="Calibri" pitchFamily="34" charset="-122"/>
                <a:cs typeface="Calibri" pitchFamily="34" charset="-120"/>
              </a:rPr>
              <a:t>Penafsiran aturan keliru</a:t>
            </a:r>
            <a:endParaRPr lang="en-US" sz="1200" dirty="0"/>
          </a:p>
        </p:txBody>
      </p:sp>
      <p:pic>
        <p:nvPicPr>
          <p:cNvPr id="9" name="Image 1" descr="preencoded.png">    </p:cNvPr>
          <p:cNvPicPr>
            <a:picLocks noChangeAspect="1"/>
          </p:cNvPicPr>
          <p:nvPr/>
        </p:nvPicPr>
        <p:blipFill>
          <a:blip r:embed="rId2"/>
          <a:stretch>
            <a:fillRect/>
          </a:stretch>
        </p:blipFill>
        <p:spPr>
          <a:xfrm>
            <a:off x="4480560" y="1664208"/>
            <a:ext cx="256032" cy="256032"/>
          </a:xfrm>
          <a:prstGeom prst="rect">
            <a:avLst/>
          </a:prstGeom>
        </p:spPr>
      </p:pic>
      <p:sp>
        <p:nvSpPr>
          <p:cNvPr id="10" name="Shape 6"/>
          <p:cNvSpPr/>
          <p:nvPr/>
        </p:nvSpPr>
        <p:spPr>
          <a:xfrm>
            <a:off x="4846320" y="1463040"/>
            <a:ext cx="3840480" cy="658368"/>
          </a:xfrm>
          <a:prstGeom prst="roundRect">
            <a:avLst>
              <a:gd name="adj" fmla="val 11111"/>
            </a:avLst>
          </a:prstGeom>
          <a:solidFill>
            <a:srgbClr val="FFFFFF"/>
          </a:solidFill>
          <a:ln w="12700">
            <a:solidFill>
              <a:srgbClr val="C9DDD6"/>
            </a:solidFill>
            <a:prstDash val="solid"/>
          </a:ln>
        </p:spPr>
      </p:sp>
      <p:pic>
        <p:nvPicPr>
          <p:cNvPr id="11" name="Image 2" descr="preencoded.png">    </p:cNvPr>
          <p:cNvPicPr>
            <a:picLocks noChangeAspect="1"/>
          </p:cNvPicPr>
          <p:nvPr/>
        </p:nvPicPr>
        <p:blipFill>
          <a:blip r:embed="rId3"/>
          <a:stretch>
            <a:fillRect/>
          </a:stretch>
        </p:blipFill>
        <p:spPr>
          <a:xfrm>
            <a:off x="4983480" y="1645920"/>
            <a:ext cx="292608" cy="292608"/>
          </a:xfrm>
          <a:prstGeom prst="rect">
            <a:avLst/>
          </a:prstGeom>
        </p:spPr>
      </p:pic>
      <p:sp>
        <p:nvSpPr>
          <p:cNvPr id="12" name="Text 7"/>
          <p:cNvSpPr txBox="1"/>
          <p:nvPr/>
        </p:nvSpPr>
        <p:spPr>
          <a:xfrm>
            <a:off x="5394960" y="1463040"/>
            <a:ext cx="3200400" cy="658368"/>
          </a:xfrm>
          <a:prstGeom prst="rect">
            <a:avLst/>
          </a:prstGeom>
          <a:noFill/>
          <a:ln/>
        </p:spPr>
        <p:txBody>
          <a:bodyPr wrap="square" lIns="0" tIns="0" rIns="0" bIns="0" rtlCol="0" anchor="ctr"/>
          <a:lstStyle/>
          <a:p>
            <a:pPr indent="0" marL="0">
              <a:buNone/>
            </a:pPr>
            <a:r>
              <a:rPr lang="en-US" sz="1150" dirty="0">
                <a:solidFill>
                  <a:srgbClr val="1E2B2B"/>
                </a:solidFill>
                <a:latin typeface="Calibri" pitchFamily="34" charset="0"/>
                <a:ea typeface="Calibri" pitchFamily="34" charset="-122"/>
                <a:cs typeface="Calibri" pitchFamily="34" charset="-120"/>
              </a:rPr>
              <a:t>Validasi ahli pajak dan daftar asumsi terdokumentasi</a:t>
            </a:r>
            <a:endParaRPr lang="en-US" sz="1150" dirty="0"/>
          </a:p>
        </p:txBody>
      </p:sp>
      <p:sp>
        <p:nvSpPr>
          <p:cNvPr id="13" name="Shape 8"/>
          <p:cNvSpPr/>
          <p:nvPr/>
        </p:nvSpPr>
        <p:spPr>
          <a:xfrm>
            <a:off x="457200" y="2249424"/>
            <a:ext cx="3931920" cy="658368"/>
          </a:xfrm>
          <a:prstGeom prst="roundRect">
            <a:avLst>
              <a:gd name="adj" fmla="val 11111"/>
            </a:avLst>
          </a:prstGeom>
          <a:solidFill>
            <a:srgbClr val="EAF3F0"/>
          </a:solidFill>
          <a:ln w="12700">
            <a:solidFill>
              <a:srgbClr val="EAF3F0"/>
            </a:solidFill>
            <a:prstDash val="solid"/>
          </a:ln>
        </p:spPr>
      </p:sp>
      <p:pic>
        <p:nvPicPr>
          <p:cNvPr id="14" name="Image 3" descr="preencoded.png">    </p:cNvPr>
          <p:cNvPicPr>
            <a:picLocks noChangeAspect="1"/>
          </p:cNvPicPr>
          <p:nvPr/>
        </p:nvPicPr>
        <p:blipFill>
          <a:blip r:embed="rId4"/>
          <a:stretch>
            <a:fillRect/>
          </a:stretch>
        </p:blipFill>
        <p:spPr>
          <a:xfrm>
            <a:off x="594360" y="2432304"/>
            <a:ext cx="292608" cy="292608"/>
          </a:xfrm>
          <a:prstGeom prst="rect">
            <a:avLst/>
          </a:prstGeom>
        </p:spPr>
      </p:pic>
      <p:sp>
        <p:nvSpPr>
          <p:cNvPr id="15" name="Text 9"/>
          <p:cNvSpPr txBox="1"/>
          <p:nvPr/>
        </p:nvSpPr>
        <p:spPr>
          <a:xfrm>
            <a:off x="1005840" y="2249424"/>
            <a:ext cx="3291840" cy="658368"/>
          </a:xfrm>
          <a:prstGeom prst="rect">
            <a:avLst/>
          </a:prstGeom>
          <a:noFill/>
          <a:ln/>
        </p:spPr>
        <p:txBody>
          <a:bodyPr wrap="square" lIns="0" tIns="0" rIns="0" bIns="0" rtlCol="0" anchor="ctr"/>
          <a:lstStyle/>
          <a:p>
            <a:pPr indent="0" marL="0">
              <a:buNone/>
            </a:pPr>
            <a:r>
              <a:rPr lang="en-US" sz="1200" b="1" dirty="0">
                <a:solidFill>
                  <a:srgbClr val="0F3D3E"/>
                </a:solidFill>
                <a:latin typeface="Calibri" pitchFamily="34" charset="0"/>
                <a:ea typeface="Calibri" pitchFamily="34" charset="-122"/>
                <a:cs typeface="Calibri" pitchFamily="34" charset="-120"/>
              </a:rPr>
              <a:t>PMK 168/2023 menetapkan prosedur gross-up</a:t>
            </a:r>
            <a:endParaRPr lang="en-US" sz="1200" dirty="0"/>
          </a:p>
        </p:txBody>
      </p:sp>
      <p:pic>
        <p:nvPicPr>
          <p:cNvPr id="16" name="Image 4" descr="preencoded.png">    </p:cNvPr>
          <p:cNvPicPr>
            <a:picLocks noChangeAspect="1"/>
          </p:cNvPicPr>
          <p:nvPr/>
        </p:nvPicPr>
        <p:blipFill>
          <a:blip r:embed="rId5"/>
          <a:stretch>
            <a:fillRect/>
          </a:stretch>
        </p:blipFill>
        <p:spPr>
          <a:xfrm>
            <a:off x="4480560" y="2450592"/>
            <a:ext cx="256032" cy="256032"/>
          </a:xfrm>
          <a:prstGeom prst="rect">
            <a:avLst/>
          </a:prstGeom>
        </p:spPr>
      </p:pic>
      <p:sp>
        <p:nvSpPr>
          <p:cNvPr id="17" name="Shape 10"/>
          <p:cNvSpPr/>
          <p:nvPr/>
        </p:nvSpPr>
        <p:spPr>
          <a:xfrm>
            <a:off x="4846320" y="2249424"/>
            <a:ext cx="3840480" cy="658368"/>
          </a:xfrm>
          <a:prstGeom prst="roundRect">
            <a:avLst>
              <a:gd name="adj" fmla="val 11111"/>
            </a:avLst>
          </a:prstGeom>
          <a:solidFill>
            <a:srgbClr val="FFFFFF"/>
          </a:solidFill>
          <a:ln w="12700">
            <a:solidFill>
              <a:srgbClr val="C9DDD6"/>
            </a:solidFill>
            <a:prstDash val="solid"/>
          </a:ln>
        </p:spPr>
      </p:sp>
      <p:pic>
        <p:nvPicPr>
          <p:cNvPr id="18" name="Image 5" descr="preencoded.png">    </p:cNvPr>
          <p:cNvPicPr>
            <a:picLocks noChangeAspect="1"/>
          </p:cNvPicPr>
          <p:nvPr/>
        </p:nvPicPr>
        <p:blipFill>
          <a:blip r:embed="rId6"/>
          <a:stretch>
            <a:fillRect/>
          </a:stretch>
        </p:blipFill>
        <p:spPr>
          <a:xfrm>
            <a:off x="4983480" y="2432304"/>
            <a:ext cx="292608" cy="292608"/>
          </a:xfrm>
          <a:prstGeom prst="rect">
            <a:avLst/>
          </a:prstGeom>
        </p:spPr>
      </p:pic>
      <p:sp>
        <p:nvSpPr>
          <p:cNvPr id="19" name="Text 11"/>
          <p:cNvSpPr txBox="1"/>
          <p:nvPr/>
        </p:nvSpPr>
        <p:spPr>
          <a:xfrm>
            <a:off x="5394960" y="2249424"/>
            <a:ext cx="3200400" cy="658368"/>
          </a:xfrm>
          <a:prstGeom prst="rect">
            <a:avLst/>
          </a:prstGeom>
          <a:noFill/>
          <a:ln/>
        </p:spPr>
        <p:txBody>
          <a:bodyPr wrap="square" lIns="0" tIns="0" rIns="0" bIns="0" rtlCol="0" anchor="ctr"/>
          <a:lstStyle/>
          <a:p>
            <a:pPr indent="0" marL="0">
              <a:buNone/>
            </a:pPr>
            <a:r>
              <a:rPr lang="en-US" sz="1150" dirty="0">
                <a:solidFill>
                  <a:srgbClr val="1E2B2B"/>
                </a:solidFill>
                <a:latin typeface="Calibri" pitchFamily="34" charset="0"/>
                <a:ea typeface="Calibri" pitchFamily="34" charset="-122"/>
                <a:cs typeface="Calibri" pitchFamily="34" charset="-120"/>
              </a:rPr>
              <a:t>Analisis bergeser: apakah prosedur resmi konsisten dan tunggal</a:t>
            </a:r>
            <a:endParaRPr lang="en-US" sz="1150" dirty="0"/>
          </a:p>
        </p:txBody>
      </p:sp>
      <p:sp>
        <p:nvSpPr>
          <p:cNvPr id="20" name="Shape 12"/>
          <p:cNvSpPr/>
          <p:nvPr/>
        </p:nvSpPr>
        <p:spPr>
          <a:xfrm>
            <a:off x="457200" y="3035808"/>
            <a:ext cx="3931920" cy="658368"/>
          </a:xfrm>
          <a:prstGeom prst="roundRect">
            <a:avLst>
              <a:gd name="adj" fmla="val 11111"/>
            </a:avLst>
          </a:prstGeom>
          <a:solidFill>
            <a:srgbClr val="EAF3F0"/>
          </a:solidFill>
          <a:ln w="12700">
            <a:solidFill>
              <a:srgbClr val="EAF3F0"/>
            </a:solidFill>
            <a:prstDash val="solid"/>
          </a:ln>
        </p:spPr>
      </p:sp>
      <p:pic>
        <p:nvPicPr>
          <p:cNvPr id="21" name="Image 6" descr="preencoded.png">    </p:cNvPr>
          <p:cNvPicPr>
            <a:picLocks noChangeAspect="1"/>
          </p:cNvPicPr>
          <p:nvPr/>
        </p:nvPicPr>
        <p:blipFill>
          <a:blip r:embed="rId7"/>
          <a:stretch>
            <a:fillRect/>
          </a:stretch>
        </p:blipFill>
        <p:spPr>
          <a:xfrm>
            <a:off x="594360" y="3218688"/>
            <a:ext cx="292608" cy="292608"/>
          </a:xfrm>
          <a:prstGeom prst="rect">
            <a:avLst/>
          </a:prstGeom>
        </p:spPr>
      </p:pic>
      <p:sp>
        <p:nvSpPr>
          <p:cNvPr id="22" name="Text 13"/>
          <p:cNvSpPr txBox="1"/>
          <p:nvPr/>
        </p:nvSpPr>
        <p:spPr>
          <a:xfrm>
            <a:off x="1005840" y="3035808"/>
            <a:ext cx="3291840" cy="658368"/>
          </a:xfrm>
          <a:prstGeom prst="rect">
            <a:avLst/>
          </a:prstGeom>
          <a:noFill/>
          <a:ln/>
        </p:spPr>
        <p:txBody>
          <a:bodyPr wrap="square" lIns="0" tIns="0" rIns="0" bIns="0" rtlCol="0" anchor="ctr"/>
          <a:lstStyle/>
          <a:p>
            <a:pPr indent="0" marL="0">
              <a:buNone/>
            </a:pPr>
            <a:r>
              <a:rPr lang="en-US" sz="1200" b="1" dirty="0">
                <a:solidFill>
                  <a:srgbClr val="0F3D3E"/>
                </a:solidFill>
                <a:latin typeface="Calibri" pitchFamily="34" charset="0"/>
                <a:ea typeface="Calibri" pitchFamily="34" charset="-122"/>
                <a:cs typeface="Calibri" pitchFamily="34" charset="-120"/>
              </a:rPr>
              <a:t>Pembulatan menghilangkan solusi ganda</a:t>
            </a:r>
            <a:endParaRPr lang="en-US" sz="1200" dirty="0"/>
          </a:p>
        </p:txBody>
      </p:sp>
      <p:pic>
        <p:nvPicPr>
          <p:cNvPr id="23" name="Image 7" descr="preencoded.png">    </p:cNvPr>
          <p:cNvPicPr>
            <a:picLocks noChangeAspect="1"/>
          </p:cNvPicPr>
          <p:nvPr/>
        </p:nvPicPr>
        <p:blipFill>
          <a:blip r:embed="rId8"/>
          <a:stretch>
            <a:fillRect/>
          </a:stretch>
        </p:blipFill>
        <p:spPr>
          <a:xfrm>
            <a:off x="4480560" y="3236976"/>
            <a:ext cx="256032" cy="256032"/>
          </a:xfrm>
          <a:prstGeom prst="rect">
            <a:avLst/>
          </a:prstGeom>
        </p:spPr>
      </p:pic>
      <p:sp>
        <p:nvSpPr>
          <p:cNvPr id="24" name="Shape 14"/>
          <p:cNvSpPr/>
          <p:nvPr/>
        </p:nvSpPr>
        <p:spPr>
          <a:xfrm>
            <a:off x="4846320" y="3035808"/>
            <a:ext cx="3840480" cy="658368"/>
          </a:xfrm>
          <a:prstGeom prst="roundRect">
            <a:avLst>
              <a:gd name="adj" fmla="val 11111"/>
            </a:avLst>
          </a:prstGeom>
          <a:solidFill>
            <a:srgbClr val="FFFFFF"/>
          </a:solidFill>
          <a:ln w="12700">
            <a:solidFill>
              <a:srgbClr val="C9DDD6"/>
            </a:solidFill>
            <a:prstDash val="solid"/>
          </a:ln>
        </p:spPr>
      </p:sp>
      <p:pic>
        <p:nvPicPr>
          <p:cNvPr id="25" name="Image 8" descr="preencoded.png">    </p:cNvPr>
          <p:cNvPicPr>
            <a:picLocks noChangeAspect="1"/>
          </p:cNvPicPr>
          <p:nvPr/>
        </p:nvPicPr>
        <p:blipFill>
          <a:blip r:embed="rId9"/>
          <a:stretch>
            <a:fillRect/>
          </a:stretch>
        </p:blipFill>
        <p:spPr>
          <a:xfrm>
            <a:off x="4983480" y="3218688"/>
            <a:ext cx="292608" cy="292608"/>
          </a:xfrm>
          <a:prstGeom prst="rect">
            <a:avLst/>
          </a:prstGeom>
        </p:spPr>
      </p:pic>
      <p:sp>
        <p:nvSpPr>
          <p:cNvPr id="26" name="Text 15"/>
          <p:cNvSpPr txBox="1"/>
          <p:nvPr/>
        </p:nvSpPr>
        <p:spPr>
          <a:xfrm>
            <a:off x="5394960" y="3035808"/>
            <a:ext cx="3200400" cy="658368"/>
          </a:xfrm>
          <a:prstGeom prst="rect">
            <a:avLst/>
          </a:prstGeom>
          <a:noFill/>
          <a:ln/>
        </p:spPr>
        <p:txBody>
          <a:bodyPr wrap="square" lIns="0" tIns="0" rIns="0" bIns="0" rtlCol="0" anchor="ctr"/>
          <a:lstStyle/>
          <a:p>
            <a:pPr indent="0" marL="0">
              <a:buNone/>
            </a:pPr>
            <a:r>
              <a:rPr lang="en-US" sz="1150" dirty="0">
                <a:solidFill>
                  <a:srgbClr val="1E2B2B"/>
                </a:solidFill>
                <a:latin typeface="Calibri" pitchFamily="34" charset="0"/>
                <a:ea typeface="Calibri" pitchFamily="34" charset="-122"/>
                <a:cs typeface="Calibri" pitchFamily="34" charset="-120"/>
              </a:rPr>
              <a:t>Tetap dilaporkan sebagai hasil formal yang sah</a:t>
            </a:r>
            <a:endParaRPr lang="en-US" sz="1150" dirty="0"/>
          </a:p>
        </p:txBody>
      </p:sp>
      <p:sp>
        <p:nvSpPr>
          <p:cNvPr id="27" name="Shape 16"/>
          <p:cNvSpPr/>
          <p:nvPr/>
        </p:nvSpPr>
        <p:spPr>
          <a:xfrm>
            <a:off x="457200" y="3822192"/>
            <a:ext cx="3931920" cy="658368"/>
          </a:xfrm>
          <a:prstGeom prst="roundRect">
            <a:avLst>
              <a:gd name="adj" fmla="val 11111"/>
            </a:avLst>
          </a:prstGeom>
          <a:solidFill>
            <a:srgbClr val="EAF3F0"/>
          </a:solidFill>
          <a:ln w="12700">
            <a:solidFill>
              <a:srgbClr val="EAF3F0"/>
            </a:solidFill>
            <a:prstDash val="solid"/>
          </a:ln>
        </p:spPr>
      </p:sp>
      <p:pic>
        <p:nvPicPr>
          <p:cNvPr id="28" name="Image 9" descr="preencoded.png">    </p:cNvPr>
          <p:cNvPicPr>
            <a:picLocks noChangeAspect="1"/>
          </p:cNvPicPr>
          <p:nvPr/>
        </p:nvPicPr>
        <p:blipFill>
          <a:blip r:embed="rId10"/>
          <a:stretch>
            <a:fillRect/>
          </a:stretch>
        </p:blipFill>
        <p:spPr>
          <a:xfrm>
            <a:off x="594360" y="4005072"/>
            <a:ext cx="292608" cy="292608"/>
          </a:xfrm>
          <a:prstGeom prst="rect">
            <a:avLst/>
          </a:prstGeom>
        </p:spPr>
      </p:pic>
      <p:sp>
        <p:nvSpPr>
          <p:cNvPr id="29" name="Text 17"/>
          <p:cNvSpPr txBox="1"/>
          <p:nvPr/>
        </p:nvSpPr>
        <p:spPr>
          <a:xfrm>
            <a:off x="1005840" y="3822192"/>
            <a:ext cx="3291840" cy="658368"/>
          </a:xfrm>
          <a:prstGeom prst="rect">
            <a:avLst/>
          </a:prstGeom>
          <a:noFill/>
          <a:ln/>
        </p:spPr>
        <p:txBody>
          <a:bodyPr wrap="square" lIns="0" tIns="0" rIns="0" bIns="0" rtlCol="0" anchor="ctr"/>
          <a:lstStyle/>
          <a:p>
            <a:pPr indent="0" marL="0">
              <a:buNone/>
            </a:pPr>
            <a:r>
              <a:rPr lang="en-US" sz="1200" b="1" dirty="0">
                <a:solidFill>
                  <a:srgbClr val="0F3D3E"/>
                </a:solidFill>
                <a:latin typeface="Calibri" pitchFamily="34" charset="0"/>
                <a:ea typeface="Calibri" pitchFamily="34" charset="-122"/>
                <a:cs typeface="Calibri" pitchFamily="34" charset="-120"/>
              </a:rPr>
              <a:t>Semua aplikasi ternyata sesuai</a:t>
            </a:r>
            <a:endParaRPr lang="en-US" sz="1200" dirty="0"/>
          </a:p>
        </p:txBody>
      </p:sp>
      <p:pic>
        <p:nvPicPr>
          <p:cNvPr id="30" name="Image 10" descr="preencoded.png">    </p:cNvPr>
          <p:cNvPicPr>
            <a:picLocks noChangeAspect="1"/>
          </p:cNvPicPr>
          <p:nvPr/>
        </p:nvPicPr>
        <p:blipFill>
          <a:blip r:embed="rId11"/>
          <a:stretch>
            <a:fillRect/>
          </a:stretch>
        </p:blipFill>
        <p:spPr>
          <a:xfrm>
            <a:off x="4480560" y="4023360"/>
            <a:ext cx="256032" cy="256032"/>
          </a:xfrm>
          <a:prstGeom prst="rect">
            <a:avLst/>
          </a:prstGeom>
        </p:spPr>
      </p:pic>
      <p:sp>
        <p:nvSpPr>
          <p:cNvPr id="31" name="Shape 18"/>
          <p:cNvSpPr/>
          <p:nvPr/>
        </p:nvSpPr>
        <p:spPr>
          <a:xfrm>
            <a:off x="4846320" y="3822192"/>
            <a:ext cx="3840480" cy="658368"/>
          </a:xfrm>
          <a:prstGeom prst="roundRect">
            <a:avLst>
              <a:gd name="adj" fmla="val 11111"/>
            </a:avLst>
          </a:prstGeom>
          <a:solidFill>
            <a:srgbClr val="FFFFFF"/>
          </a:solidFill>
          <a:ln w="12700">
            <a:solidFill>
              <a:srgbClr val="C9DDD6"/>
            </a:solidFill>
            <a:prstDash val="solid"/>
          </a:ln>
        </p:spPr>
      </p:sp>
      <p:pic>
        <p:nvPicPr>
          <p:cNvPr id="32" name="Image 11" descr="preencoded.png">    </p:cNvPr>
          <p:cNvPicPr>
            <a:picLocks noChangeAspect="1"/>
          </p:cNvPicPr>
          <p:nvPr/>
        </p:nvPicPr>
        <p:blipFill>
          <a:blip r:embed="rId12"/>
          <a:stretch>
            <a:fillRect/>
          </a:stretch>
        </p:blipFill>
        <p:spPr>
          <a:xfrm>
            <a:off x="4983480" y="4005072"/>
            <a:ext cx="292608" cy="292608"/>
          </a:xfrm>
          <a:prstGeom prst="rect">
            <a:avLst/>
          </a:prstGeom>
        </p:spPr>
      </p:pic>
      <p:sp>
        <p:nvSpPr>
          <p:cNvPr id="33" name="Text 19"/>
          <p:cNvSpPr txBox="1"/>
          <p:nvPr/>
        </p:nvSpPr>
        <p:spPr>
          <a:xfrm>
            <a:off x="5394960" y="3822192"/>
            <a:ext cx="3200400" cy="658368"/>
          </a:xfrm>
          <a:prstGeom prst="rect">
            <a:avLst/>
          </a:prstGeom>
          <a:noFill/>
          <a:ln/>
        </p:spPr>
        <p:txBody>
          <a:bodyPr wrap="square" lIns="0" tIns="0" rIns="0" bIns="0" rtlCol="0" anchor="ctr"/>
          <a:lstStyle/>
          <a:p>
            <a:pPr indent="0" marL="0">
              <a:buNone/>
            </a:pPr>
            <a:r>
              <a:rPr lang="en-US" sz="1150" dirty="0">
                <a:solidFill>
                  <a:srgbClr val="1E2B2B"/>
                </a:solidFill>
                <a:latin typeface="Calibri" pitchFamily="34" charset="0"/>
                <a:ea typeface="Calibri" pitchFamily="34" charset="-122"/>
                <a:cs typeface="Calibri" pitchFamily="34" charset="-120"/>
              </a:rPr>
              <a:t>Tetap bernilai; diperkuat biaya pemeliharaan &amp; ekspresivitas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t"/>
          <a:lstStyle/>
          <a:p>
            <a:pPr indent="0" marL="0">
              <a:buNone/>
            </a:pPr>
            <a:r>
              <a:rPr lang="en-US" sz="1100" b="1" spc="200" kern="0" dirty="0">
                <a:solidFill>
                  <a:srgbClr val="E8A33D"/>
                </a:solidFill>
                <a:latin typeface="Calibri" pitchFamily="34" charset="0"/>
                <a:ea typeface="Calibri" pitchFamily="34" charset="-122"/>
                <a:cs typeface="Calibri" pitchFamily="34" charset="-120"/>
              </a:rPr>
              <a:t>08 · PUBLIKASI</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800" b="1" dirty="0">
                <a:solidFill>
                  <a:srgbClr val="0F3D3E"/>
                </a:solidFill>
                <a:latin typeface="Cambria" pitchFamily="34" charset="0"/>
                <a:ea typeface="Cambria" pitchFamily="34" charset="-122"/>
                <a:cs typeface="Cambria" pitchFamily="34" charset="-120"/>
              </a:rPr>
              <a:t>Target Publikasi: Penilaian Jujur</a:t>
            </a:r>
            <a:endParaRPr lang="en-US" sz="2800" dirty="0"/>
          </a:p>
        </p:txBody>
      </p:sp>
      <p:sp>
        <p:nvSpPr>
          <p:cNvPr id="4" name="Shape 2"/>
          <p:cNvSpPr/>
          <p:nvPr/>
        </p:nvSpPr>
        <p:spPr>
          <a:xfrm>
            <a:off x="457200" y="1280160"/>
            <a:ext cx="8229600" cy="640080"/>
          </a:xfrm>
          <a:prstGeom prst="roundRect">
            <a:avLst>
              <a:gd name="adj" fmla="val 11429"/>
            </a:avLst>
          </a:prstGeom>
          <a:solidFill>
            <a:srgbClr val="EAF3F0"/>
          </a:solidFill>
          <a:ln w="12700">
            <a:solidFill>
              <a:srgbClr val="EAF3F0"/>
            </a:solidFill>
            <a:prstDash val="solid"/>
          </a:ln>
        </p:spPr>
      </p:sp>
      <p:sp>
        <p:nvSpPr>
          <p:cNvPr id="5" name="Text 3"/>
          <p:cNvSpPr txBox="1"/>
          <p:nvPr/>
        </p:nvSpPr>
        <p:spPr>
          <a:xfrm>
            <a:off x="640080" y="1280160"/>
            <a:ext cx="2926080" cy="640080"/>
          </a:xfrm>
          <a:prstGeom prst="rect">
            <a:avLst/>
          </a:prstGeom>
          <a:noFill/>
          <a:ln/>
        </p:spPr>
        <p:txBody>
          <a:bodyPr wrap="square" lIns="0" tIns="0" rIns="0" bIns="0" rtlCol="0" anchor="ctr"/>
          <a:lstStyle/>
          <a:p>
            <a:pPr indent="0" marL="0">
              <a:buNone/>
            </a:pPr>
            <a:r>
              <a:rPr lang="en-US" sz="1300" b="1" dirty="0">
                <a:solidFill>
                  <a:srgbClr val="0F3D3E"/>
                </a:solidFill>
                <a:latin typeface="Calibri" pitchFamily="34" charset="0"/>
                <a:ea typeface="Calibri" pitchFamily="34" charset="-122"/>
                <a:cs typeface="Calibri" pitchFamily="34" charset="-120"/>
              </a:rPr>
              <a:t>Tesis S2</a:t>
            </a:r>
            <a:endParaRPr lang="en-US" sz="1300" dirty="0"/>
          </a:p>
        </p:txBody>
      </p:sp>
      <p:sp>
        <p:nvSpPr>
          <p:cNvPr id="6" name="Shape 4"/>
          <p:cNvSpPr/>
          <p:nvPr/>
        </p:nvSpPr>
        <p:spPr>
          <a:xfrm>
            <a:off x="3657600" y="1408176"/>
            <a:ext cx="1645920" cy="384048"/>
          </a:xfrm>
          <a:prstGeom prst="roundRect">
            <a:avLst>
              <a:gd name="adj" fmla="val 19048"/>
            </a:avLst>
          </a:prstGeom>
          <a:solidFill>
            <a:srgbClr val="2E7D5B"/>
          </a:solidFill>
          <a:ln w="12700">
            <a:solidFill>
              <a:srgbClr val="2E7D5B"/>
            </a:solidFill>
            <a:prstDash val="solid"/>
          </a:ln>
        </p:spPr>
      </p:sp>
      <p:sp>
        <p:nvSpPr>
          <p:cNvPr id="7" name="Text 5"/>
          <p:cNvSpPr txBox="1"/>
          <p:nvPr/>
        </p:nvSpPr>
        <p:spPr>
          <a:xfrm>
            <a:off x="3657600" y="1408176"/>
            <a:ext cx="1645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Layak</a:t>
            </a:r>
            <a:endParaRPr lang="en-US" sz="1100" dirty="0"/>
          </a:p>
        </p:txBody>
      </p:sp>
      <p:sp>
        <p:nvSpPr>
          <p:cNvPr id="8" name="Text 6"/>
          <p:cNvSpPr txBox="1"/>
          <p:nvPr/>
        </p:nvSpPr>
        <p:spPr>
          <a:xfrm>
            <a:off x="5486400" y="1280160"/>
            <a:ext cx="3108960" cy="640080"/>
          </a:xfrm>
          <a:prstGeom prst="rect">
            <a:avLst/>
          </a:prstGeom>
          <a:noFill/>
          <a:ln/>
        </p:spPr>
        <p:txBody>
          <a:bodyPr wrap="square" lIns="0" tIns="0" rIns="0" bIns="0" rtlCol="0" anchor="ctr"/>
          <a:lstStyle/>
          <a:p>
            <a:pPr indent="0" marL="0">
              <a:buNone/>
            </a:pPr>
            <a:r>
              <a:rPr lang="en-US" sz="1150" dirty="0">
                <a:solidFill>
                  <a:srgbClr val="5B6B6B"/>
                </a:solidFill>
                <a:latin typeface="Calibri" pitchFamily="34" charset="0"/>
                <a:ea typeface="Calibri" pitchFamily="34" charset="-122"/>
                <a:cs typeface="Calibri" pitchFamily="34" charset="-120"/>
              </a:rPr>
              <a:t>Sistem berjalan dan analisis selesai</a:t>
            </a:r>
            <a:endParaRPr lang="en-US" sz="1150" dirty="0"/>
          </a:p>
        </p:txBody>
      </p:sp>
      <p:sp>
        <p:nvSpPr>
          <p:cNvPr id="9" name="Shape 7"/>
          <p:cNvSpPr/>
          <p:nvPr/>
        </p:nvSpPr>
        <p:spPr>
          <a:xfrm>
            <a:off x="457200" y="2057400"/>
            <a:ext cx="8229600" cy="640080"/>
          </a:xfrm>
          <a:prstGeom prst="roundRect">
            <a:avLst>
              <a:gd name="adj" fmla="val 11429"/>
            </a:avLst>
          </a:prstGeom>
          <a:solidFill>
            <a:srgbClr val="EAF3F0"/>
          </a:solidFill>
          <a:ln w="12700">
            <a:solidFill>
              <a:srgbClr val="EAF3F0"/>
            </a:solidFill>
            <a:prstDash val="solid"/>
          </a:ln>
        </p:spPr>
      </p:sp>
      <p:sp>
        <p:nvSpPr>
          <p:cNvPr id="10" name="Text 8"/>
          <p:cNvSpPr txBox="1"/>
          <p:nvPr/>
        </p:nvSpPr>
        <p:spPr>
          <a:xfrm>
            <a:off x="640080" y="2057400"/>
            <a:ext cx="2926080" cy="640080"/>
          </a:xfrm>
          <a:prstGeom prst="rect">
            <a:avLst/>
          </a:prstGeom>
          <a:noFill/>
          <a:ln/>
        </p:spPr>
        <p:txBody>
          <a:bodyPr wrap="square" lIns="0" tIns="0" rIns="0" bIns="0" rtlCol="0" anchor="ctr"/>
          <a:lstStyle/>
          <a:p>
            <a:pPr indent="0" marL="0">
              <a:buNone/>
            </a:pPr>
            <a:r>
              <a:rPr lang="en-US" sz="1300" b="1" dirty="0">
                <a:solidFill>
                  <a:srgbClr val="0F3D3E"/>
                </a:solidFill>
                <a:latin typeface="Calibri" pitchFamily="34" charset="0"/>
                <a:ea typeface="Calibri" pitchFamily="34" charset="-122"/>
                <a:cs typeface="Calibri" pitchFamily="34" charset="-120"/>
              </a:rPr>
              <a:t>Artikel utama → SINTA 1</a:t>
            </a:r>
            <a:endParaRPr lang="en-US" sz="1300" dirty="0"/>
          </a:p>
        </p:txBody>
      </p:sp>
      <p:sp>
        <p:nvSpPr>
          <p:cNvPr id="11" name="Shape 9"/>
          <p:cNvSpPr/>
          <p:nvPr/>
        </p:nvSpPr>
        <p:spPr>
          <a:xfrm>
            <a:off x="3657600" y="2185416"/>
            <a:ext cx="1645920" cy="384048"/>
          </a:xfrm>
          <a:prstGeom prst="roundRect">
            <a:avLst>
              <a:gd name="adj" fmla="val 19048"/>
            </a:avLst>
          </a:prstGeom>
          <a:solidFill>
            <a:srgbClr val="1D6A6B"/>
          </a:solidFill>
          <a:ln w="12700">
            <a:solidFill>
              <a:srgbClr val="1D6A6B"/>
            </a:solidFill>
            <a:prstDash val="solid"/>
          </a:ln>
        </p:spPr>
      </p:sp>
      <p:sp>
        <p:nvSpPr>
          <p:cNvPr id="12" name="Text 10"/>
          <p:cNvSpPr txBox="1"/>
          <p:nvPr/>
        </p:nvSpPr>
        <p:spPr>
          <a:xfrm>
            <a:off x="3657600" y="2185416"/>
            <a:ext cx="1645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Realistis</a:t>
            </a:r>
            <a:endParaRPr lang="en-US" sz="1100" dirty="0"/>
          </a:p>
        </p:txBody>
      </p:sp>
      <p:sp>
        <p:nvSpPr>
          <p:cNvPr id="13" name="Text 11"/>
          <p:cNvSpPr txBox="1"/>
          <p:nvPr/>
        </p:nvSpPr>
        <p:spPr>
          <a:xfrm>
            <a:off x="5486400" y="2057400"/>
            <a:ext cx="3108960" cy="640080"/>
          </a:xfrm>
          <a:prstGeom prst="rect">
            <a:avLst/>
          </a:prstGeom>
          <a:noFill/>
          <a:ln/>
        </p:spPr>
        <p:txBody>
          <a:bodyPr wrap="square" lIns="0" tIns="0" rIns="0" bIns="0" rtlCol="0" anchor="ctr"/>
          <a:lstStyle/>
          <a:p>
            <a:pPr indent="0" marL="0">
              <a:buNone/>
            </a:pPr>
            <a:r>
              <a:rPr lang="en-US" sz="1150" dirty="0">
                <a:solidFill>
                  <a:srgbClr val="5B6B6B"/>
                </a:solidFill>
                <a:latin typeface="Calibri" pitchFamily="34" charset="0"/>
                <a:ea typeface="Calibri" pitchFamily="34" charset="-122"/>
                <a:cs typeface="Calibri" pitchFamily="34" charset="-120"/>
              </a:rPr>
              <a:t>K2 dan K3 dikerjakan tuntas</a:t>
            </a:r>
            <a:endParaRPr lang="en-US" sz="1150" dirty="0"/>
          </a:p>
        </p:txBody>
      </p:sp>
      <p:sp>
        <p:nvSpPr>
          <p:cNvPr id="14" name="Shape 12"/>
          <p:cNvSpPr/>
          <p:nvPr/>
        </p:nvSpPr>
        <p:spPr>
          <a:xfrm>
            <a:off x="457200" y="2834640"/>
            <a:ext cx="8229600" cy="640080"/>
          </a:xfrm>
          <a:prstGeom prst="roundRect">
            <a:avLst>
              <a:gd name="adj" fmla="val 11429"/>
            </a:avLst>
          </a:prstGeom>
          <a:solidFill>
            <a:srgbClr val="EAF3F0"/>
          </a:solidFill>
          <a:ln w="12700">
            <a:solidFill>
              <a:srgbClr val="EAF3F0"/>
            </a:solidFill>
            <a:prstDash val="solid"/>
          </a:ln>
        </p:spPr>
      </p:sp>
      <p:sp>
        <p:nvSpPr>
          <p:cNvPr id="15" name="Text 13"/>
          <p:cNvSpPr txBox="1"/>
          <p:nvPr/>
        </p:nvSpPr>
        <p:spPr>
          <a:xfrm>
            <a:off x="640080" y="2834640"/>
            <a:ext cx="2926080" cy="640080"/>
          </a:xfrm>
          <a:prstGeom prst="rect">
            <a:avLst/>
          </a:prstGeom>
          <a:noFill/>
          <a:ln/>
        </p:spPr>
        <p:txBody>
          <a:bodyPr wrap="square" lIns="0" tIns="0" rIns="0" bIns="0" rtlCol="0" anchor="ctr"/>
          <a:lstStyle/>
          <a:p>
            <a:pPr indent="0" marL="0">
              <a:buNone/>
            </a:pPr>
            <a:r>
              <a:rPr lang="en-US" sz="1300" b="1" dirty="0">
                <a:solidFill>
                  <a:srgbClr val="0F3D3E"/>
                </a:solidFill>
                <a:latin typeface="Calibri" pitchFamily="34" charset="0"/>
                <a:ea typeface="Calibri" pitchFamily="34" charset="-122"/>
                <a:cs typeface="Calibri" pitchFamily="34" charset="-120"/>
              </a:rPr>
              <a:t>Artikel utama → Scopus Q2</a:t>
            </a:r>
            <a:endParaRPr lang="en-US" sz="1300" dirty="0"/>
          </a:p>
        </p:txBody>
      </p:sp>
      <p:sp>
        <p:nvSpPr>
          <p:cNvPr id="16" name="Shape 14"/>
          <p:cNvSpPr/>
          <p:nvPr/>
        </p:nvSpPr>
        <p:spPr>
          <a:xfrm>
            <a:off x="3657600" y="2962656"/>
            <a:ext cx="1645920" cy="384048"/>
          </a:xfrm>
          <a:prstGeom prst="roundRect">
            <a:avLst>
              <a:gd name="adj" fmla="val 19048"/>
            </a:avLst>
          </a:prstGeom>
          <a:solidFill>
            <a:srgbClr val="E8A33D"/>
          </a:solidFill>
          <a:ln w="12700">
            <a:solidFill>
              <a:srgbClr val="E8A33D"/>
            </a:solidFill>
            <a:prstDash val="solid"/>
          </a:ln>
        </p:spPr>
      </p:sp>
      <p:sp>
        <p:nvSpPr>
          <p:cNvPr id="17" name="Text 15"/>
          <p:cNvSpPr txBox="1"/>
          <p:nvPr/>
        </p:nvSpPr>
        <p:spPr>
          <a:xfrm>
            <a:off x="3657600" y="2962656"/>
            <a:ext cx="1645920" cy="384048"/>
          </a:xfrm>
          <a:prstGeom prst="rect">
            <a:avLst/>
          </a:prstGeom>
          <a:noFill/>
          <a:ln/>
        </p:spPr>
        <p:txBody>
          <a:bodyPr wrap="square" lIns="0" tIns="0" rIns="0" bIns="0" rtlCol="0" anchor="ctr"/>
          <a:lstStyle/>
          <a:p>
            <a:pPr algn="ctr" indent="0" marL="0">
              <a:buNone/>
            </a:pPr>
            <a:r>
              <a:rPr lang="en-US" sz="1100" b="1" dirty="0">
                <a:solidFill>
                  <a:srgbClr val="0F3D3E"/>
                </a:solidFill>
                <a:latin typeface="Calibri" pitchFamily="34" charset="0"/>
                <a:ea typeface="Calibri" pitchFamily="34" charset="-122"/>
                <a:cs typeface="Calibri" pitchFamily="34" charset="-120"/>
              </a:rPr>
              <a:t>Mungkin</a:t>
            </a:r>
            <a:endParaRPr lang="en-US" sz="1100" dirty="0"/>
          </a:p>
        </p:txBody>
      </p:sp>
      <p:sp>
        <p:nvSpPr>
          <p:cNvPr id="18" name="Text 16"/>
          <p:cNvSpPr txBox="1"/>
          <p:nvPr/>
        </p:nvSpPr>
        <p:spPr>
          <a:xfrm>
            <a:off x="5486400" y="2834640"/>
            <a:ext cx="3108960" cy="640080"/>
          </a:xfrm>
          <a:prstGeom prst="rect">
            <a:avLst/>
          </a:prstGeom>
          <a:noFill/>
          <a:ln/>
        </p:spPr>
        <p:txBody>
          <a:bodyPr wrap="square" lIns="0" tIns="0" rIns="0" bIns="0" rtlCol="0" anchor="ctr"/>
          <a:lstStyle/>
          <a:p>
            <a:pPr indent="0" marL="0">
              <a:buNone/>
            </a:pPr>
            <a:r>
              <a:rPr lang="en-US" sz="1150" dirty="0">
                <a:solidFill>
                  <a:srgbClr val="5B6B6B"/>
                </a:solidFill>
                <a:latin typeface="Calibri" pitchFamily="34" charset="0"/>
                <a:ea typeface="Calibri" pitchFamily="34" charset="-122"/>
                <a:cs typeface="Calibri" pitchFamily="34" charset="-120"/>
              </a:rPr>
              <a:t>Hipotesis H1/H2 terbukti dengan jelas</a:t>
            </a:r>
            <a:endParaRPr lang="en-US" sz="1150" dirty="0"/>
          </a:p>
        </p:txBody>
      </p:sp>
      <p:sp>
        <p:nvSpPr>
          <p:cNvPr id="19" name="Shape 17"/>
          <p:cNvSpPr/>
          <p:nvPr/>
        </p:nvSpPr>
        <p:spPr>
          <a:xfrm>
            <a:off x="457200" y="3611880"/>
            <a:ext cx="8229600" cy="640080"/>
          </a:xfrm>
          <a:prstGeom prst="roundRect">
            <a:avLst>
              <a:gd name="adj" fmla="val 11429"/>
            </a:avLst>
          </a:prstGeom>
          <a:solidFill>
            <a:srgbClr val="EAF3F0"/>
          </a:solidFill>
          <a:ln w="12700">
            <a:solidFill>
              <a:srgbClr val="EAF3F0"/>
            </a:solidFill>
            <a:prstDash val="solid"/>
          </a:ln>
        </p:spPr>
      </p:sp>
      <p:sp>
        <p:nvSpPr>
          <p:cNvPr id="20" name="Text 18"/>
          <p:cNvSpPr txBox="1"/>
          <p:nvPr/>
        </p:nvSpPr>
        <p:spPr>
          <a:xfrm>
            <a:off x="640080" y="3611880"/>
            <a:ext cx="2926080" cy="640080"/>
          </a:xfrm>
          <a:prstGeom prst="rect">
            <a:avLst/>
          </a:prstGeom>
          <a:noFill/>
          <a:ln/>
        </p:spPr>
        <p:txBody>
          <a:bodyPr wrap="square" lIns="0" tIns="0" rIns="0" bIns="0" rtlCol="0" anchor="ctr"/>
          <a:lstStyle/>
          <a:p>
            <a:pPr indent="0" marL="0">
              <a:buNone/>
            </a:pPr>
            <a:r>
              <a:rPr lang="en-US" sz="1300" b="1" dirty="0">
                <a:solidFill>
                  <a:srgbClr val="0F3D3E"/>
                </a:solidFill>
                <a:latin typeface="Calibri" pitchFamily="34" charset="0"/>
                <a:ea typeface="Calibri" pitchFamily="34" charset="-122"/>
                <a:cs typeface="Calibri" pitchFamily="34" charset="-120"/>
              </a:rPr>
              <a:t>Artikel kedua (kesesuaian) → SINTA 2</a:t>
            </a:r>
            <a:endParaRPr lang="en-US" sz="1300" dirty="0"/>
          </a:p>
        </p:txBody>
      </p:sp>
      <p:sp>
        <p:nvSpPr>
          <p:cNvPr id="21" name="Shape 19"/>
          <p:cNvSpPr/>
          <p:nvPr/>
        </p:nvSpPr>
        <p:spPr>
          <a:xfrm>
            <a:off x="3657600" y="3739896"/>
            <a:ext cx="1645920" cy="384048"/>
          </a:xfrm>
          <a:prstGeom prst="roundRect">
            <a:avLst>
              <a:gd name="adj" fmla="val 19048"/>
            </a:avLst>
          </a:prstGeom>
          <a:solidFill>
            <a:srgbClr val="1D6A6B"/>
          </a:solidFill>
          <a:ln w="12700">
            <a:solidFill>
              <a:srgbClr val="1D6A6B"/>
            </a:solidFill>
            <a:prstDash val="solid"/>
          </a:ln>
        </p:spPr>
      </p:sp>
      <p:sp>
        <p:nvSpPr>
          <p:cNvPr id="22" name="Text 20"/>
          <p:cNvSpPr txBox="1"/>
          <p:nvPr/>
        </p:nvSpPr>
        <p:spPr>
          <a:xfrm>
            <a:off x="3657600" y="3739896"/>
            <a:ext cx="1645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Realistis</a:t>
            </a:r>
            <a:endParaRPr lang="en-US" sz="1100" dirty="0"/>
          </a:p>
        </p:txBody>
      </p:sp>
      <p:sp>
        <p:nvSpPr>
          <p:cNvPr id="23" name="Text 21"/>
          <p:cNvSpPr txBox="1"/>
          <p:nvPr/>
        </p:nvSpPr>
        <p:spPr>
          <a:xfrm>
            <a:off x="5486400" y="3611880"/>
            <a:ext cx="3108960" cy="640080"/>
          </a:xfrm>
          <a:prstGeom prst="rect">
            <a:avLst/>
          </a:prstGeom>
          <a:noFill/>
          <a:ln/>
        </p:spPr>
        <p:txBody>
          <a:bodyPr wrap="square" lIns="0" tIns="0" rIns="0" bIns="0" rtlCol="0" anchor="ctr"/>
          <a:lstStyle/>
          <a:p>
            <a:pPr indent="0" marL="0">
              <a:buNone/>
            </a:pPr>
            <a:r>
              <a:rPr lang="en-US" sz="1150" dirty="0">
                <a:solidFill>
                  <a:srgbClr val="5B6B6B"/>
                </a:solidFill>
                <a:latin typeface="Calibri" pitchFamily="34" charset="0"/>
                <a:ea typeface="Calibri" pitchFamily="34" charset="-122"/>
                <a:cs typeface="Calibri" pitchFamily="34" charset="-120"/>
              </a:rPr>
              <a:t>Data kesesuaian cukup kaya</a:t>
            </a:r>
            <a:endParaRPr lang="en-US" sz="1150" dirty="0"/>
          </a:p>
        </p:txBody>
      </p:sp>
      <p:sp>
        <p:nvSpPr>
          <p:cNvPr id="24" name="Shape 22"/>
          <p:cNvSpPr/>
          <p:nvPr/>
        </p:nvSpPr>
        <p:spPr>
          <a:xfrm>
            <a:off x="457200" y="4389120"/>
            <a:ext cx="365760" cy="365760"/>
          </a:xfrm>
          <a:prstGeom prst="ellipse">
            <a:avLst/>
          </a:prstGeom>
          <a:solidFill>
            <a:srgbClr val="E8A33D"/>
          </a:solidFill>
          <a:ln w="12700">
            <a:solidFill>
              <a:srgbClr val="E8A33D"/>
            </a:solidFill>
            <a:prstDash val="solid"/>
          </a:ln>
        </p:spPr>
      </p:sp>
      <p:pic>
        <p:nvPicPr>
          <p:cNvPr id="25" name="Image 0" descr="preencoded.png">    </p:cNvPr>
          <p:cNvPicPr>
            <a:picLocks noChangeAspect="1"/>
          </p:cNvPicPr>
          <p:nvPr/>
        </p:nvPicPr>
        <p:blipFill>
          <a:blip r:embed="rId1"/>
          <a:stretch>
            <a:fillRect/>
          </a:stretch>
        </p:blipFill>
        <p:spPr>
          <a:xfrm>
            <a:off x="548640" y="4480560"/>
            <a:ext cx="182880" cy="182880"/>
          </a:xfrm>
          <a:prstGeom prst="rect">
            <a:avLst/>
          </a:prstGeom>
        </p:spPr>
      </p:pic>
      <p:sp>
        <p:nvSpPr>
          <p:cNvPr id="26" name="Text 23"/>
          <p:cNvSpPr txBox="1"/>
          <p:nvPr/>
        </p:nvSpPr>
        <p:spPr>
          <a:xfrm>
            <a:off x="960120" y="4315968"/>
            <a:ext cx="7726680" cy="502920"/>
          </a:xfrm>
          <a:prstGeom prst="rect">
            <a:avLst/>
          </a:prstGeom>
          <a:noFill/>
          <a:ln/>
        </p:spPr>
        <p:txBody>
          <a:bodyPr wrap="square" lIns="0" tIns="0" rIns="0" bIns="0" rtlCol="0" anchor="ctr"/>
          <a:lstStyle/>
          <a:p>
            <a:pPr indent="0" marL="0">
              <a:buNone/>
            </a:pPr>
            <a:r>
              <a:rPr lang="en-US" sz="1100" i="1" dirty="0">
                <a:solidFill>
                  <a:srgbClr val="1E2B2B"/>
                </a:solidFill>
                <a:latin typeface="Calibri" pitchFamily="34" charset="0"/>
                <a:ea typeface="Calibri" pitchFamily="34" charset="-122"/>
                <a:cs typeface="Calibri" pitchFamily="34" charset="-120"/>
              </a:rPr>
              <a:t>Judul jurnal: A Declarative Knowledge Base for Income Tax Article 21 Payroll Computation: Fixed-Point Treatment of Gross-Up under Indonesia's TER Scheme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3D3E"/>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320040"/>
          </a:xfrm>
          <a:prstGeom prst="rect">
            <a:avLst/>
          </a:prstGeom>
          <a:noFill/>
          <a:ln/>
        </p:spPr>
        <p:txBody>
          <a:bodyPr wrap="square" lIns="0" tIns="0" rIns="0" bIns="0" rtlCol="0" anchor="t"/>
          <a:lstStyle/>
          <a:p>
            <a:pPr indent="0" marL="0">
              <a:buNone/>
            </a:pPr>
            <a:r>
              <a:rPr lang="en-US" sz="1200" b="1" spc="300" kern="0" dirty="0">
                <a:solidFill>
                  <a:srgbClr val="E8A33D"/>
                </a:solidFill>
                <a:latin typeface="Calibri" pitchFamily="34" charset="0"/>
                <a:ea typeface="Calibri" pitchFamily="34" charset="-122"/>
                <a:cs typeface="Calibri" pitchFamily="34" charset="-120"/>
              </a:rPr>
              <a:t>RINGKASAN</a:t>
            </a:r>
            <a:endParaRPr lang="en-US" sz="1200" dirty="0"/>
          </a:p>
        </p:txBody>
      </p:sp>
      <p:sp>
        <p:nvSpPr>
          <p:cNvPr id="3" name="Text 1"/>
          <p:cNvSpPr txBox="1"/>
          <p:nvPr/>
        </p:nvSpPr>
        <p:spPr>
          <a:xfrm>
            <a:off x="548640" y="777240"/>
            <a:ext cx="804672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Tiga Hal yang Perlu Diingat</a:t>
            </a:r>
            <a:endParaRPr lang="en-US" sz="2800" dirty="0"/>
          </a:p>
        </p:txBody>
      </p:sp>
      <p:sp>
        <p:nvSpPr>
          <p:cNvPr id="4" name="Shape 2"/>
          <p:cNvSpPr/>
          <p:nvPr/>
        </p:nvSpPr>
        <p:spPr>
          <a:xfrm>
            <a:off x="548640" y="1600200"/>
            <a:ext cx="566928" cy="566928"/>
          </a:xfrm>
          <a:prstGeom prst="ellipse">
            <a:avLst/>
          </a:prstGeom>
          <a:solidFill>
            <a:srgbClr val="E8A33D"/>
          </a:solidFill>
          <a:ln w="12700">
            <a:solidFill>
              <a:srgbClr val="E8A33D"/>
            </a:solidFill>
            <a:prstDash val="solid"/>
          </a:ln>
        </p:spPr>
      </p:sp>
      <p:pic>
        <p:nvPicPr>
          <p:cNvPr id="5" name="Image 0" descr="preencoded.png">    </p:cNvPr>
          <p:cNvPicPr>
            <a:picLocks noChangeAspect="1"/>
          </p:cNvPicPr>
          <p:nvPr/>
        </p:nvPicPr>
        <p:blipFill>
          <a:blip r:embed="rId1"/>
          <a:stretch>
            <a:fillRect/>
          </a:stretch>
        </p:blipFill>
        <p:spPr>
          <a:xfrm>
            <a:off x="690372" y="1741932"/>
            <a:ext cx="283464" cy="283464"/>
          </a:xfrm>
          <a:prstGeom prst="rect">
            <a:avLst/>
          </a:prstGeom>
        </p:spPr>
      </p:pic>
      <p:sp>
        <p:nvSpPr>
          <p:cNvPr id="6" name="Text 3"/>
          <p:cNvSpPr txBox="1"/>
          <p:nvPr/>
        </p:nvSpPr>
        <p:spPr>
          <a:xfrm>
            <a:off x="1280160" y="1600200"/>
            <a:ext cx="1280160" cy="566928"/>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Masalah</a:t>
            </a:r>
            <a:endParaRPr lang="en-US" sz="1600" dirty="0"/>
          </a:p>
        </p:txBody>
      </p:sp>
      <p:sp>
        <p:nvSpPr>
          <p:cNvPr id="7" name="Text 4"/>
          <p:cNvSpPr txBox="1"/>
          <p:nvPr/>
        </p:nvSpPr>
        <p:spPr>
          <a:xfrm>
            <a:off x="2560320" y="1600200"/>
            <a:ext cx="603504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Aturan PPh 21 di kode membuat setiap perubahan dan kebijakan baru butuh ubah kode.</a:t>
            </a:r>
            <a:endParaRPr lang="en-US" sz="1400" dirty="0"/>
          </a:p>
        </p:txBody>
      </p:sp>
      <p:sp>
        <p:nvSpPr>
          <p:cNvPr id="8" name="Shape 5"/>
          <p:cNvSpPr/>
          <p:nvPr/>
        </p:nvSpPr>
        <p:spPr>
          <a:xfrm>
            <a:off x="548640" y="2468880"/>
            <a:ext cx="566928" cy="566928"/>
          </a:xfrm>
          <a:prstGeom prst="ellipse">
            <a:avLst/>
          </a:prstGeom>
          <a:solidFill>
            <a:srgbClr val="E8A33D"/>
          </a:solidFill>
          <a:ln w="12700">
            <a:solidFill>
              <a:srgbClr val="E8A33D"/>
            </a:solidFill>
            <a:prstDash val="solid"/>
          </a:ln>
        </p:spPr>
      </p:sp>
      <p:pic>
        <p:nvPicPr>
          <p:cNvPr id="9" name="Image 1" descr="preencoded.png">    </p:cNvPr>
          <p:cNvPicPr>
            <a:picLocks noChangeAspect="1"/>
          </p:cNvPicPr>
          <p:nvPr/>
        </p:nvPicPr>
        <p:blipFill>
          <a:blip r:embed="rId2"/>
          <a:stretch>
            <a:fillRect/>
          </a:stretch>
        </p:blipFill>
        <p:spPr>
          <a:xfrm>
            <a:off x="690372" y="2610612"/>
            <a:ext cx="283464" cy="283464"/>
          </a:xfrm>
          <a:prstGeom prst="rect">
            <a:avLst/>
          </a:prstGeom>
        </p:spPr>
      </p:pic>
      <p:sp>
        <p:nvSpPr>
          <p:cNvPr id="10" name="Text 6"/>
          <p:cNvSpPr txBox="1"/>
          <p:nvPr/>
        </p:nvSpPr>
        <p:spPr>
          <a:xfrm>
            <a:off x="1280160" y="2468880"/>
            <a:ext cx="1280160" cy="566928"/>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Solusi</a:t>
            </a:r>
            <a:endParaRPr lang="en-US" sz="1600" dirty="0"/>
          </a:p>
        </p:txBody>
      </p:sp>
      <p:sp>
        <p:nvSpPr>
          <p:cNvPr id="11" name="Text 7"/>
          <p:cNvSpPr txBox="1"/>
          <p:nvPr/>
        </p:nvSpPr>
        <p:spPr>
          <a:xfrm>
            <a:off x="2560320" y="2468880"/>
            <a:ext cx="603504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Knowledge base dua lapis: regulasi + kebijakan perusahaan; mesin perhitungan tetap.</a:t>
            </a:r>
            <a:endParaRPr lang="en-US" sz="1400" dirty="0"/>
          </a:p>
        </p:txBody>
      </p:sp>
      <p:sp>
        <p:nvSpPr>
          <p:cNvPr id="12" name="Shape 8"/>
          <p:cNvSpPr/>
          <p:nvPr/>
        </p:nvSpPr>
        <p:spPr>
          <a:xfrm>
            <a:off x="548640" y="3337560"/>
            <a:ext cx="566928" cy="566928"/>
          </a:xfrm>
          <a:prstGeom prst="ellipse">
            <a:avLst/>
          </a:prstGeom>
          <a:solidFill>
            <a:srgbClr val="E8A33D"/>
          </a:solidFill>
          <a:ln w="12700">
            <a:solidFill>
              <a:srgbClr val="E8A33D"/>
            </a:solidFill>
            <a:prstDash val="solid"/>
          </a:ln>
        </p:spPr>
      </p:sp>
      <p:pic>
        <p:nvPicPr>
          <p:cNvPr id="13" name="Image 2" descr="preencoded.png">    </p:cNvPr>
          <p:cNvPicPr>
            <a:picLocks noChangeAspect="1"/>
          </p:cNvPicPr>
          <p:nvPr/>
        </p:nvPicPr>
        <p:blipFill>
          <a:blip r:embed="rId3"/>
          <a:stretch>
            <a:fillRect/>
          </a:stretch>
        </p:blipFill>
        <p:spPr>
          <a:xfrm>
            <a:off x="690372" y="3479292"/>
            <a:ext cx="283464" cy="283464"/>
          </a:xfrm>
          <a:prstGeom prst="rect">
            <a:avLst/>
          </a:prstGeom>
        </p:spPr>
      </p:pic>
      <p:sp>
        <p:nvSpPr>
          <p:cNvPr id="14" name="Text 9"/>
          <p:cNvSpPr txBox="1"/>
          <p:nvPr/>
        </p:nvSpPr>
        <p:spPr>
          <a:xfrm>
            <a:off x="1280160" y="3337560"/>
            <a:ext cx="1280160" cy="566928"/>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Kebaruan</a:t>
            </a:r>
            <a:endParaRPr lang="en-US" sz="1600" dirty="0"/>
          </a:p>
        </p:txBody>
      </p:sp>
      <p:sp>
        <p:nvSpPr>
          <p:cNvPr id="15" name="Text 10"/>
          <p:cNvSpPr txBox="1"/>
          <p:nvPr/>
        </p:nvSpPr>
        <p:spPr>
          <a:xfrm>
            <a:off x="2560320" y="3337560"/>
            <a:ext cx="603504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Gross-up di bawah TER bisa punya dua solusi sah, dibuktikan formal dan diuji pada aplikasi nyata.</a:t>
            </a:r>
            <a:endParaRPr lang="en-US" sz="1400" dirty="0"/>
          </a:p>
        </p:txBody>
      </p:sp>
      <p:sp>
        <p:nvSpPr>
          <p:cNvPr id="16" name="Text 11"/>
          <p:cNvSpPr txBox="1"/>
          <p:nvPr/>
        </p:nvSpPr>
        <p:spPr>
          <a:xfrm>
            <a:off x="548640" y="4297680"/>
            <a:ext cx="8046720" cy="411480"/>
          </a:xfrm>
          <a:prstGeom prst="rect">
            <a:avLst/>
          </a:prstGeom>
          <a:noFill/>
          <a:ln/>
        </p:spPr>
        <p:txBody>
          <a:bodyPr wrap="square" lIns="0" tIns="0" rIns="0" bIns="0" rtlCol="0" anchor="t"/>
          <a:lstStyle/>
          <a:p>
            <a:pPr indent="0" marL="0">
              <a:buNone/>
            </a:pPr>
            <a:r>
              <a:rPr lang="en-US" sz="1800" b="1" dirty="0">
                <a:solidFill>
                  <a:srgbClr val="BFE0D6"/>
                </a:solidFill>
                <a:latin typeface="Cambria" pitchFamily="34" charset="0"/>
                <a:ea typeface="Cambria" pitchFamily="34" charset="-122"/>
                <a:cs typeface="Cambria" pitchFamily="34" charset="-120"/>
              </a:rPr>
              <a:t>Terima kasih  ·  Sesi diskusi</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Tesis: Sistem Perhitungan PPh 21 Berbasis Knowledge Base</dc:title>
  <dc:subject>PptxGenJS Presentation</dc:subject>
  <dc:creator>PptxGenJS</dc:creator>
  <cp:lastModifiedBy>PptxGenJS</cp:lastModifiedBy>
  <cp:revision>1</cp:revision>
  <dcterms:created xsi:type="dcterms:W3CDTF">2026-09-29T08:11:48Z</dcterms:created>
  <dcterms:modified xsi:type="dcterms:W3CDTF">2026-09-29T08:11:48Z</dcterms:modified>
</cp:coreProperties>
</file>